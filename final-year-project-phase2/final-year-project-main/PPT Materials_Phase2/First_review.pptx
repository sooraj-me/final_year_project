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0" r:id="rId6"/>
    <p:sldId id="302" r:id="rId7"/>
    <p:sldId id="285" r:id="rId8"/>
    <p:sldId id="303" r:id="rId9"/>
    <p:sldId id="304" r:id="rId10"/>
    <p:sldId id="286" r:id="rId11"/>
    <p:sldId id="307" r:id="rId12"/>
    <p:sldId id="308" r:id="rId13"/>
    <p:sldId id="294" r:id="rId14"/>
    <p:sldId id="306" r:id="rId15"/>
    <p:sldId id="282" r:id="rId16"/>
  </p:sldIdLst>
  <p:sldSz cx="14720570" cy="8280400"/>
  <p:notesSz cx="6858000" cy="9144000"/>
  <p:defaultTextStyle>
    <a:defPPr lvl="0">
      <a:defRPr lang="en-US"/>
    </a:defPPr>
    <a:lvl1pPr lvl="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lvl="1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lvl="2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lvl="3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lvl="4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C66"/>
    <a:srgbClr val="FF7C80"/>
    <a:srgbClr val="FFCC99"/>
    <a:srgbClr val="FF9966"/>
    <a:srgbClr val="FF9933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737" autoAdjust="0"/>
  </p:normalViewPr>
  <p:slideViewPr>
    <p:cSldViewPr snapToGrid="0" showGuides="1">
      <p:cViewPr varScale="1">
        <p:scale>
          <a:sx n="55" d="100"/>
          <a:sy n="55" d="100"/>
        </p:scale>
        <p:origin x="73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46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70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E5E484A-C351-46AB-BFE7-E15D7EF7F947}" type="datetimeFigureOut">
              <a:rPr lang="en-US"/>
            </a:fld>
            <a:endParaRPr lang="en-US"/>
          </a:p>
        </p:txBody>
      </p:sp>
      <p:sp>
        <p:nvSpPr>
          <p:cNvPr id="10487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0487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0487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71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84F635C-79E0-4AB5-B588-305DCA57CC7D}" type="slidenum">
              <a:rPr lang="en-US" altLang="en-US"/>
            </a:fld>
            <a:endParaRPr lang="en-US" altLang="en-US">
              <a:ea typeface="Latha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Rectangle 7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Box 13"/>
          <p:cNvSpPr txBox="1">
            <a:spLocks noChangeArrowheads="1"/>
          </p:cNvSpPr>
          <p:nvPr/>
        </p:nvSpPr>
        <p:spPr bwMode="auto">
          <a:xfrm>
            <a:off x="1692275" y="306388"/>
            <a:ext cx="11333163" cy="11398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US" altLang="en-US" sz="2800" b="1" dirty="0">
                <a:cs typeface="Merriweather" pitchFamily="2" charset="0"/>
              </a:rPr>
              <a:t>SRI RAMAKRISHNA INSTITUTE OF TECHNOLOGY</a:t>
            </a:r>
            <a:endParaRPr lang="en-US" altLang="en-US" sz="2800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en-US" sz="2000" dirty="0">
                <a:cs typeface="Merriweather" pitchFamily="2" charset="0"/>
              </a:rPr>
              <a:t>       (An Autonomous Institution)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en-US" sz="2000" dirty="0">
                <a:cs typeface="Merriweather" pitchFamily="2" charset="0"/>
              </a:rPr>
              <a:t>          </a:t>
            </a:r>
            <a:r>
              <a:rPr lang="en-US" altLang="en-US" sz="2000" dirty="0" err="1">
                <a:cs typeface="Merriweather" pitchFamily="2" charset="0"/>
              </a:rPr>
              <a:t>Pachapalyam</a:t>
            </a:r>
            <a:r>
              <a:rPr lang="en-US" altLang="en-US" sz="2000" dirty="0">
                <a:cs typeface="Merriweather" pitchFamily="2" charset="0"/>
              </a:rPr>
              <a:t>, </a:t>
            </a:r>
            <a:r>
              <a:rPr lang="en-US" altLang="en-US" sz="2000" dirty="0" err="1">
                <a:cs typeface="Merriweather" pitchFamily="2" charset="0"/>
              </a:rPr>
              <a:t>Perur</a:t>
            </a:r>
            <a:r>
              <a:rPr lang="en-US" altLang="en-US" sz="2000" dirty="0">
                <a:cs typeface="Merriweather" pitchFamily="2" charset="0"/>
              </a:rPr>
              <a:t> </a:t>
            </a:r>
            <a:r>
              <a:rPr lang="en-US" altLang="en-US" sz="2000" dirty="0" err="1">
                <a:cs typeface="Merriweather" pitchFamily="2" charset="0"/>
              </a:rPr>
              <a:t>Chettipalayam</a:t>
            </a:r>
            <a:r>
              <a:rPr lang="en-US" altLang="en-US" sz="2000" dirty="0">
                <a:cs typeface="Merriweather" pitchFamily="2" charset="0"/>
              </a:rPr>
              <a:t>, Coimbatore –  641010</a:t>
            </a:r>
            <a:endParaRPr lang="en-US" altLang="en-US" sz="2000" dirty="0"/>
          </a:p>
        </p:txBody>
      </p:sp>
      <p:pic>
        <p:nvPicPr>
          <p:cNvPr id="5" name="image2.png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217488"/>
            <a:ext cx="1214437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1.png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25" y="301625"/>
            <a:ext cx="1174750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2209800" y="1671638"/>
            <a:ext cx="9607550" cy="5111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2800" b="1"/>
              <a:t>DEPARTMENT OF COMPUTER SCIENCE AND ENGINEERING</a:t>
            </a:r>
            <a:endParaRPr lang="en-US" altLang="en-US" sz="2800" b="1"/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6681788" y="4891088"/>
            <a:ext cx="1722437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2400"/>
              <a:t>Review 1</a:t>
            </a:r>
            <a:endParaRPr lang="en-US" altLang="en-US" sz="2400"/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1085850" y="5278438"/>
            <a:ext cx="5688013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US" altLang="en-US" sz="2400"/>
              <a:t>Presented by,</a:t>
            </a:r>
            <a:endParaRPr lang="en-US" altLang="en-US" sz="2400"/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9391650" y="5275263"/>
            <a:ext cx="4243388" cy="625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en-US" altLang="en-US" sz="2400"/>
              <a:t>Guided by,</a:t>
            </a:r>
            <a:endParaRPr lang="en-US" altLang="en-US" sz="2400"/>
          </a:p>
        </p:txBody>
      </p:sp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1324880" y="2753873"/>
            <a:ext cx="12144733" cy="2040549"/>
          </a:xfrm>
        </p:spPr>
        <p:txBody>
          <a:bodyPr/>
          <a:lstStyle>
            <a:lvl1pPr algn="ctr">
              <a:lnSpc>
                <a:spcPct val="85000"/>
              </a:lnSpc>
              <a:defRPr sz="4400" spc="-43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1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13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319C7-1E44-42CB-96A2-7DA6CCC9520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174143"/>
          </a:xfrm>
        </p:spPr>
        <p:txBody>
          <a:bodyPr/>
          <a:lstStyle>
            <a:lvl1pPr marL="0">
              <a:defRPr sz="4000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571500" y="1840230"/>
            <a:ext cx="13658850" cy="576421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800"/>
            </a:lvl2pPr>
            <a:lvl3pPr>
              <a:lnSpc>
                <a:spcPct val="150000"/>
              </a:lnSpc>
              <a:defRPr sz="2800"/>
            </a:lvl3pPr>
            <a:lvl4pPr>
              <a:lnSpc>
                <a:spcPct val="150000"/>
              </a:lnSpc>
              <a:defRPr sz="2800"/>
            </a:lvl4pPr>
            <a:lvl5pPr>
              <a:lnSpc>
                <a:spcPct val="150000"/>
              </a:lnSpc>
              <a:defRPr sz="2800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5475" y="7796213"/>
            <a:ext cx="2984500" cy="43973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02125" y="7796213"/>
            <a:ext cx="5822950" cy="43973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AA5908-AB13-4651-96C8-886DFB14A44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7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" name="Straight Connector 8"/>
          <p:cNvCxnSpPr/>
          <p:nvPr/>
        </p:nvCxnSpPr>
        <p:spPr>
          <a:xfrm>
            <a:off x="1458913" y="5243513"/>
            <a:ext cx="119237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1324880" y="916365"/>
            <a:ext cx="12144733" cy="4305808"/>
          </a:xfrm>
        </p:spPr>
        <p:txBody>
          <a:bodyPr/>
          <a:lstStyle>
            <a:lvl1pPr>
              <a:lnSpc>
                <a:spcPct val="85000"/>
              </a:lnSpc>
              <a:defRPr sz="685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77" name="Text Placeholder 2"/>
          <p:cNvSpPr>
            <a:spLocks noGrp="1"/>
          </p:cNvSpPr>
          <p:nvPr>
            <p:ph type="body" idx="1"/>
          </p:nvPr>
        </p:nvSpPr>
        <p:spPr>
          <a:xfrm>
            <a:off x="1324880" y="5376740"/>
            <a:ext cx="12144733" cy="1380067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055" cap="all" spc="171" baseline="0">
                <a:solidFill>
                  <a:schemeClr val="tx2"/>
                </a:solidFill>
                <a:latin typeface="+mj-lt"/>
              </a:defRPr>
            </a:lvl1pPr>
            <a:lvl2pPr marL="391795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2pPr>
            <a:lvl3pPr marL="782955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1747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6591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5770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3488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7406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1318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DFA7B-901D-4AE2-A265-024E846A3B5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7"/>
          <p:cNvSpPr>
            <a:spLocks noGrp="1"/>
          </p:cNvSpPr>
          <p:nvPr>
            <p:ph type="title"/>
          </p:nvPr>
        </p:nvSpPr>
        <p:spPr>
          <a:xfrm>
            <a:off x="1324880" y="346048"/>
            <a:ext cx="12144733" cy="1751654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82" name="Content Placeholder 2"/>
          <p:cNvSpPr>
            <a:spLocks noGrp="1"/>
          </p:cNvSpPr>
          <p:nvPr>
            <p:ph sz="half" idx="1"/>
          </p:nvPr>
        </p:nvSpPr>
        <p:spPr>
          <a:xfrm>
            <a:off x="1324880" y="2228554"/>
            <a:ext cx="5961960" cy="4857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1048683" name="Content Placeholder 3"/>
          <p:cNvSpPr>
            <a:spLocks noGrp="1"/>
          </p:cNvSpPr>
          <p:nvPr>
            <p:ph sz="half" idx="2"/>
          </p:nvPr>
        </p:nvSpPr>
        <p:spPr>
          <a:xfrm>
            <a:off x="7507655" y="2228555"/>
            <a:ext cx="5961960" cy="4857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74CABE-FB71-481A-AFC2-4FEBC2D4388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9"/>
          <p:cNvSpPr>
            <a:spLocks noGrp="1"/>
          </p:cNvSpPr>
          <p:nvPr>
            <p:ph type="title"/>
          </p:nvPr>
        </p:nvSpPr>
        <p:spPr>
          <a:xfrm>
            <a:off x="1324880" y="346048"/>
            <a:ext cx="12144733" cy="1751654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88" name="Text Placeholder 2"/>
          <p:cNvSpPr>
            <a:spLocks noGrp="1"/>
          </p:cNvSpPr>
          <p:nvPr>
            <p:ph type="body" idx="1"/>
          </p:nvPr>
        </p:nvSpPr>
        <p:spPr>
          <a:xfrm>
            <a:off x="1324882" y="2228937"/>
            <a:ext cx="5961960" cy="88899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055" b="0" cap="all" baseline="0">
                <a:solidFill>
                  <a:schemeClr val="tx2"/>
                </a:solidFill>
              </a:defRPr>
            </a:lvl1pPr>
            <a:lvl2pPr marL="391795" indent="0">
              <a:buNone/>
              <a:defRPr sz="1715" b="1"/>
            </a:lvl2pPr>
            <a:lvl3pPr marL="782955" indent="0">
              <a:buNone/>
              <a:defRPr sz="1540" b="1"/>
            </a:lvl3pPr>
            <a:lvl4pPr marL="1174750" indent="0">
              <a:buNone/>
              <a:defRPr sz="1370" b="1"/>
            </a:lvl4pPr>
            <a:lvl5pPr marL="1565910" indent="0">
              <a:buNone/>
              <a:defRPr sz="1370" b="1"/>
            </a:lvl5pPr>
            <a:lvl6pPr marL="1957705" indent="0">
              <a:buNone/>
              <a:defRPr sz="1370" b="1"/>
            </a:lvl6pPr>
            <a:lvl7pPr marL="2348865" indent="0">
              <a:buNone/>
              <a:defRPr sz="1370" b="1"/>
            </a:lvl7pPr>
            <a:lvl8pPr marL="2740660" indent="0">
              <a:buNone/>
              <a:defRPr sz="1370" b="1"/>
            </a:lvl8pPr>
            <a:lvl9pPr marL="3131820" indent="0">
              <a:buNone/>
              <a:defRPr sz="1370" b="1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1048689" name="Content Placeholder 3"/>
          <p:cNvSpPr>
            <a:spLocks noGrp="1"/>
          </p:cNvSpPr>
          <p:nvPr>
            <p:ph sz="half" idx="2"/>
          </p:nvPr>
        </p:nvSpPr>
        <p:spPr>
          <a:xfrm>
            <a:off x="1324882" y="3117930"/>
            <a:ext cx="5961960" cy="4078864"/>
          </a:xfrm>
        </p:spPr>
        <p:txBody>
          <a:bodyPr/>
          <a:lstStyle>
            <a:lvl1pPr>
              <a:defRPr sz="2055"/>
            </a:lvl1pPr>
            <a:lvl2pPr>
              <a:defRPr sz="2055"/>
            </a:lvl2pPr>
            <a:lvl3pPr>
              <a:defRPr sz="2055"/>
            </a:lvl3pPr>
            <a:lvl4pPr>
              <a:defRPr sz="2055"/>
            </a:lvl4pPr>
            <a:lvl5pPr>
              <a:defRPr sz="2055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104869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7655" y="2228937"/>
            <a:ext cx="5961960" cy="88899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055" b="0" cap="all" baseline="0">
                <a:solidFill>
                  <a:schemeClr val="tx2"/>
                </a:solidFill>
              </a:defRPr>
            </a:lvl1pPr>
            <a:lvl2pPr marL="391795" indent="0">
              <a:buNone/>
              <a:defRPr sz="1715" b="1"/>
            </a:lvl2pPr>
            <a:lvl3pPr marL="782955" indent="0">
              <a:buNone/>
              <a:defRPr sz="1540" b="1"/>
            </a:lvl3pPr>
            <a:lvl4pPr marL="1174750" indent="0">
              <a:buNone/>
              <a:defRPr sz="1370" b="1"/>
            </a:lvl4pPr>
            <a:lvl5pPr marL="1565910" indent="0">
              <a:buNone/>
              <a:defRPr sz="1370" b="1"/>
            </a:lvl5pPr>
            <a:lvl6pPr marL="1957705" indent="0">
              <a:buNone/>
              <a:defRPr sz="1370" b="1"/>
            </a:lvl6pPr>
            <a:lvl7pPr marL="2348865" indent="0">
              <a:buNone/>
              <a:defRPr sz="1370" b="1"/>
            </a:lvl7pPr>
            <a:lvl8pPr marL="2740660" indent="0">
              <a:buNone/>
              <a:defRPr sz="1370" b="1"/>
            </a:lvl8pPr>
            <a:lvl9pPr marL="3131820" indent="0">
              <a:buNone/>
              <a:defRPr sz="1370" b="1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1048691" name="Content Placeholder 5"/>
          <p:cNvSpPr>
            <a:spLocks noGrp="1"/>
          </p:cNvSpPr>
          <p:nvPr>
            <p:ph sz="quarter" idx="4"/>
          </p:nvPr>
        </p:nvSpPr>
        <p:spPr>
          <a:xfrm>
            <a:off x="7507655" y="3117930"/>
            <a:ext cx="5961960" cy="4078864"/>
          </a:xfrm>
        </p:spPr>
        <p:txBody>
          <a:bodyPr>
            <a:normAutofit/>
          </a:bodyPr>
          <a:lstStyle>
            <a:lvl1pPr>
              <a:defRPr sz="2055"/>
            </a:lvl1pPr>
            <a:lvl2pPr>
              <a:defRPr sz="2055"/>
            </a:lvl2pPr>
            <a:lvl3pPr>
              <a:defRPr sz="2055"/>
            </a:lvl3pPr>
            <a:lvl4pPr>
              <a:defRPr sz="2055"/>
            </a:lvl4pPr>
            <a:lvl5pPr>
              <a:defRPr sz="2055"/>
            </a:lvl5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FAD65B-5615-4FFB-BCFC-B0686AAE6D2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948690" y="334618"/>
            <a:ext cx="13498830" cy="1410166"/>
          </a:xfrm>
        </p:spPr>
        <p:txBody>
          <a:bodyPr/>
          <a:lstStyle>
            <a:lvl1pPr>
              <a:defRPr sz="4110"/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D57C0-99D9-4441-A01C-6FA71EEA264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87B1D5-EAAB-4580-9B25-4062060462F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/>
        </p:nvSpPr>
        <p:spPr>
          <a:xfrm>
            <a:off x="0" y="0"/>
            <a:ext cx="4891088" cy="828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8"/>
          <p:cNvSpPr/>
          <p:nvPr/>
        </p:nvSpPr>
        <p:spPr>
          <a:xfrm>
            <a:off x="4878388" y="0"/>
            <a:ext cx="76200" cy="828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02" name="Title 1"/>
          <p:cNvSpPr>
            <a:spLocks noGrp="1"/>
          </p:cNvSpPr>
          <p:nvPr>
            <p:ph type="title"/>
          </p:nvPr>
        </p:nvSpPr>
        <p:spPr>
          <a:xfrm>
            <a:off x="552035" y="717635"/>
            <a:ext cx="3864234" cy="2760133"/>
          </a:xfrm>
        </p:spPr>
        <p:txBody>
          <a:bodyPr/>
          <a:lstStyle>
            <a:lvl1pPr>
              <a:defRPr sz="3085" b="0">
                <a:solidFill>
                  <a:srgbClr val="FFFFFF"/>
                </a:solidFill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703" name="Content Placeholder 2"/>
          <p:cNvSpPr>
            <a:spLocks noGrp="1"/>
          </p:cNvSpPr>
          <p:nvPr>
            <p:ph idx="1"/>
          </p:nvPr>
        </p:nvSpPr>
        <p:spPr>
          <a:xfrm>
            <a:off x="5796352" y="883244"/>
            <a:ext cx="7838874" cy="6348307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104870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2035" y="3532972"/>
            <a:ext cx="3864234" cy="407997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285">
                <a:solidFill>
                  <a:srgbClr val="FFFFFF"/>
                </a:solidFill>
              </a:defRPr>
            </a:lvl1pPr>
            <a:lvl2pPr marL="391795" indent="0">
              <a:buNone/>
              <a:defRPr sz="1030"/>
            </a:lvl2pPr>
            <a:lvl3pPr marL="782955" indent="0">
              <a:buNone/>
              <a:defRPr sz="855"/>
            </a:lvl3pPr>
            <a:lvl4pPr marL="1174750" indent="0">
              <a:buNone/>
              <a:defRPr sz="770"/>
            </a:lvl4pPr>
            <a:lvl5pPr marL="1565910" indent="0">
              <a:buNone/>
              <a:defRPr sz="770"/>
            </a:lvl5pPr>
            <a:lvl6pPr marL="1957705" indent="0">
              <a:buNone/>
              <a:defRPr sz="770"/>
            </a:lvl6pPr>
            <a:lvl7pPr marL="2348865" indent="0">
              <a:buNone/>
              <a:defRPr sz="770"/>
            </a:lvl7pPr>
            <a:lvl8pPr marL="2740660" indent="0">
              <a:buNone/>
              <a:defRPr sz="770"/>
            </a:lvl8pPr>
            <a:lvl9pPr marL="3131820" indent="0">
              <a:buNone/>
              <a:defRPr sz="77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>
          <a:xfrm>
            <a:off x="561975" y="7799388"/>
            <a:ext cx="3162300" cy="4413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95963" y="7799388"/>
            <a:ext cx="5613400" cy="4413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D6116F-D484-47D6-B55B-05CD52E9C01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/>
        </p:nvSpPr>
        <p:spPr>
          <a:xfrm>
            <a:off x="0" y="5980113"/>
            <a:ext cx="14717713" cy="2300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8"/>
          <p:cNvSpPr/>
          <p:nvPr/>
        </p:nvSpPr>
        <p:spPr>
          <a:xfrm>
            <a:off x="0" y="5934075"/>
            <a:ext cx="14717713" cy="77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1324880" y="6127496"/>
            <a:ext cx="12210976" cy="993648"/>
          </a:xfrm>
        </p:spPr>
        <p:txBody>
          <a:bodyPr tIns="0" bIns="0">
            <a:noAutofit/>
          </a:bodyPr>
          <a:lstStyle>
            <a:lvl1pPr>
              <a:defRPr sz="3085" b="0">
                <a:solidFill>
                  <a:srgbClr val="FFFFFF"/>
                </a:solidFill>
              </a:defRPr>
            </a:lvl1pPr>
          </a:lstStyle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6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" y="1"/>
            <a:ext cx="14720870" cy="5934499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2740">
                <a:solidFill>
                  <a:schemeClr val="bg1"/>
                </a:solidFill>
              </a:defRPr>
            </a:lvl1pPr>
            <a:lvl2pPr marL="391795" indent="0">
              <a:buNone/>
              <a:defRPr sz="2400"/>
            </a:lvl2pPr>
            <a:lvl3pPr marL="782955" indent="0">
              <a:buNone/>
              <a:defRPr sz="2055"/>
            </a:lvl3pPr>
            <a:lvl4pPr marL="1174750" indent="0">
              <a:buNone/>
              <a:defRPr sz="1715"/>
            </a:lvl4pPr>
            <a:lvl5pPr marL="1565910" indent="0">
              <a:buNone/>
              <a:defRPr sz="1715"/>
            </a:lvl5pPr>
            <a:lvl6pPr marL="1957705" indent="0">
              <a:buNone/>
              <a:defRPr sz="1715"/>
            </a:lvl6pPr>
            <a:lvl7pPr marL="2348865" indent="0">
              <a:buNone/>
              <a:defRPr sz="1715"/>
            </a:lvl7pPr>
            <a:lvl8pPr marL="2740660" indent="0">
              <a:buNone/>
              <a:defRPr sz="1715"/>
            </a:lvl8pPr>
            <a:lvl9pPr marL="3131820" indent="0">
              <a:buNone/>
              <a:defRPr sz="1715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4880" y="7132184"/>
            <a:ext cx="12210976" cy="717635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515"/>
              </a:spcAft>
              <a:buNone/>
              <a:defRPr sz="1285">
                <a:solidFill>
                  <a:srgbClr val="FFFFFF"/>
                </a:solidFill>
              </a:defRPr>
            </a:lvl1pPr>
            <a:lvl2pPr marL="391795" indent="0">
              <a:buNone/>
              <a:defRPr sz="1030"/>
            </a:lvl2pPr>
            <a:lvl3pPr marL="782955" indent="0">
              <a:buNone/>
              <a:defRPr sz="855"/>
            </a:lvl3pPr>
            <a:lvl4pPr marL="1174750" indent="0">
              <a:buNone/>
              <a:defRPr sz="770"/>
            </a:lvl4pPr>
            <a:lvl5pPr marL="1565910" indent="0">
              <a:buNone/>
              <a:defRPr sz="770"/>
            </a:lvl5pPr>
            <a:lvl6pPr marL="1957705" indent="0">
              <a:buNone/>
              <a:defRPr sz="770"/>
            </a:lvl6pPr>
            <a:lvl7pPr marL="2348865" indent="0">
              <a:buNone/>
              <a:defRPr sz="770"/>
            </a:lvl7pPr>
            <a:lvl8pPr marL="2740660" indent="0">
              <a:buNone/>
              <a:defRPr sz="770"/>
            </a:lvl8pPr>
            <a:lvl9pPr marL="3131820" indent="0">
              <a:buNone/>
              <a:defRPr sz="770"/>
            </a:lvl9pPr>
          </a:lstStyle>
          <a:p>
            <a:pPr lvl="0"/>
            <a:r>
              <a:rPr lang="en-US" noProof="1"/>
              <a:t>Click to edit Master text styles</a:t>
            </a:r>
            <a:endParaRPr lang="en-US" noProof="1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567A48-2896-4E63-882F-71F6C01DA13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B4D8E1-EC91-4847-8D4E-270B147E64B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7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56" name="Vertical Title 1"/>
          <p:cNvSpPr>
            <a:spLocks noGrp="1"/>
          </p:cNvSpPr>
          <p:nvPr>
            <p:ph type="title" orient="vert"/>
          </p:nvPr>
        </p:nvSpPr>
        <p:spPr>
          <a:xfrm>
            <a:off x="10534635" y="500808"/>
            <a:ext cx="3174192" cy="695155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US" noProof="1"/>
          </a:p>
        </p:txBody>
      </p:sp>
      <p:sp>
        <p:nvSpPr>
          <p:cNvPr id="104865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2061" y="500806"/>
            <a:ext cx="9338563" cy="6951554"/>
          </a:xfrm>
        </p:spPr>
        <p:txBody>
          <a:bodyPr vert="eaVert" lIns="45720" tIns="0" rIns="45720" bIns="0"/>
          <a:lstStyle/>
          <a:p>
            <a:pPr lvl="0"/>
            <a:r>
              <a:rPr lang="en-US" noProof="1"/>
              <a:t>Click to edit Master text styles</a:t>
            </a:r>
            <a:endParaRPr lang="en-US" noProof="1"/>
          </a:p>
          <a:p>
            <a:pPr lvl="1"/>
            <a:r>
              <a:rPr lang="en-US" noProof="1"/>
              <a:t>Second level</a:t>
            </a:r>
            <a:endParaRPr lang="en-US" noProof="1"/>
          </a:p>
          <a:p>
            <a:pPr lvl="2"/>
            <a:r>
              <a:rPr lang="en-US" noProof="1"/>
              <a:t>Third level</a:t>
            </a:r>
            <a:endParaRPr lang="en-US" noProof="1"/>
          </a:p>
          <a:p>
            <a:pPr lvl="3"/>
            <a:r>
              <a:rPr lang="en-US" noProof="1"/>
              <a:t>Fourth level</a:t>
            </a:r>
            <a:endParaRPr lang="en-US" noProof="1"/>
          </a:p>
          <a:p>
            <a:pPr lvl="4"/>
            <a:r>
              <a:rPr lang="en-US" noProof="1"/>
              <a:t>Fifth level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9D5597-3EC6-42B8-B043-9035FE2C929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/>
          <p:cNvSpPr/>
          <p:nvPr/>
        </p:nvSpPr>
        <p:spPr>
          <a:xfrm>
            <a:off x="0" y="7688263"/>
            <a:ext cx="14720888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55" dirty="0"/>
          </a:p>
        </p:txBody>
      </p:sp>
      <p:sp>
        <p:nvSpPr>
          <p:cNvPr id="1048577" name="Rectangle 8"/>
          <p:cNvSpPr/>
          <p:nvPr/>
        </p:nvSpPr>
        <p:spPr>
          <a:xfrm>
            <a:off x="0" y="7648575"/>
            <a:ext cx="14720888" cy="79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8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82613" y="346075"/>
            <a:ext cx="13498512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9" name="Text Placeholder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582613" y="1816100"/>
            <a:ext cx="13498512" cy="557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48580" name="Date Placeholder 3"/>
          <p:cNvSpPr>
            <a:spLocks noGrp="1"/>
          </p:cNvSpPr>
          <p:nvPr>
            <p:ph type="dt" sz="half" idx="2"/>
          </p:nvPr>
        </p:nvSpPr>
        <p:spPr>
          <a:xfrm>
            <a:off x="1325563" y="7799388"/>
            <a:ext cx="298450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07/05/2025</a:t>
            </a:r>
            <a:endParaRPr lang="en-US" dirty="0"/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350" y="7799388"/>
            <a:ext cx="582295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104858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953875" y="7799388"/>
            <a:ext cx="1584325" cy="4413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B4E13C52-CF49-4C68-B257-8F1EDED75F76}" type="slidenum">
              <a:rPr lang="en-US" altLang="en-US"/>
            </a:fld>
            <a:endParaRPr lang="en-US" altLang="en-US"/>
          </a:p>
        </p:txBody>
      </p:sp>
      <p:cxnSp>
        <p:nvCxnSpPr>
          <p:cNvPr id="3145728" name="Straight Connector 9"/>
          <p:cNvCxnSpPr/>
          <p:nvPr/>
        </p:nvCxnSpPr>
        <p:spPr>
          <a:xfrm>
            <a:off x="582613" y="1644650"/>
            <a:ext cx="134985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 kern="1200" spc="-43">
          <a:solidFill>
            <a:srgbClr val="404040"/>
          </a:solidFill>
          <a:latin typeface="+mj-lt"/>
          <a:ea typeface="+mj-ea"/>
          <a:cs typeface="+mj-cs"/>
        </a:defRPr>
      </a:lvl1pPr>
      <a:lvl2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78105" indent="-78105" algn="l" defTabSz="782955" rtl="0" eaLnBrk="0" fontAlgn="base" hangingPunct="0">
        <a:lnSpc>
          <a:spcPct val="150000"/>
        </a:lnSpc>
        <a:spcBef>
          <a:spcPts val="1025"/>
        </a:spcBef>
        <a:spcAft>
          <a:spcPts val="175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rgbClr val="404040"/>
          </a:solidFill>
          <a:latin typeface="+mn-lt"/>
          <a:ea typeface="+mn-ea"/>
          <a:cs typeface="+mn-cs"/>
        </a:defRPr>
      </a:lvl1pPr>
      <a:lvl2pPr marL="328930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2pPr>
      <a:lvl3pPr marL="484505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3pPr>
      <a:lvl4pPr marL="641350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4pPr>
      <a:lvl5pPr marL="798830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5pPr>
      <a:lvl6pPr marL="94170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11315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28460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455420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9179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2pPr>
      <a:lvl3pPr marL="78295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3pPr>
      <a:lvl4pPr marL="117475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4pPr>
      <a:lvl5pPr marL="156591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5pPr>
      <a:lvl6pPr marL="195770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6pPr>
      <a:lvl7pPr marL="234886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7pPr>
      <a:lvl8pPr marL="274066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8pPr>
      <a:lvl9pPr marL="313182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Date Placeholder 1"/>
          <p:cNvSpPr>
            <a:spLocks noGrp="1" noChangeArrowheads="1"/>
          </p:cNvSpPr>
          <p:nvPr>
            <p:ph type="dt" sz="half" idx="10"/>
          </p:nvPr>
        </p:nvSpPr>
        <p:spPr bwMode="auto"/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/>
              <a:t>30/10/2025</a:t>
            </a:r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PHASE II FIRST REVIEW                          </a:t>
            </a:r>
            <a:endParaRPr lang="en-US" dirty="0"/>
          </a:p>
        </p:txBody>
      </p:sp>
      <p:sp>
        <p:nvSpPr>
          <p:cNvPr id="1024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176E964-1996-4E91-8A8B-2E87A98B6DE2}" type="slidenum">
              <a:rPr lang="en-US" altLang="en-US"/>
            </a:fld>
            <a:endParaRPr lang="en-US" altLang="en-US"/>
          </a:p>
        </p:txBody>
      </p:sp>
      <p:pic>
        <p:nvPicPr>
          <p:cNvPr id="10245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6038" y="490538"/>
            <a:ext cx="15144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8"/>
          <p:cNvSpPr txBox="1">
            <a:spLocks noChangeArrowheads="1"/>
          </p:cNvSpPr>
          <p:nvPr/>
        </p:nvSpPr>
        <p:spPr bwMode="auto">
          <a:xfrm>
            <a:off x="2455863" y="552450"/>
            <a:ext cx="103028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3200" b="1" dirty="0"/>
              <a:t>SRI RAMAKRISHNA INSTITUTE OF TECHNOLOGY</a:t>
            </a:r>
            <a:endParaRPr lang="en-IN" altLang="en-US" sz="3200" b="1" dirty="0"/>
          </a:p>
        </p:txBody>
      </p:sp>
      <p:sp>
        <p:nvSpPr>
          <p:cNvPr id="10247" name="TextBox 10"/>
          <p:cNvSpPr txBox="1">
            <a:spLocks noChangeArrowheads="1"/>
          </p:cNvSpPr>
          <p:nvPr/>
        </p:nvSpPr>
        <p:spPr bwMode="auto">
          <a:xfrm>
            <a:off x="5699125" y="1138238"/>
            <a:ext cx="6783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(An Autonomous Institution) </a:t>
            </a:r>
            <a:endParaRPr lang="en-IN" altLang="en-US" dirty="0"/>
          </a:p>
        </p:txBody>
      </p:sp>
      <p:sp>
        <p:nvSpPr>
          <p:cNvPr id="10248" name="TextBox 11"/>
          <p:cNvSpPr txBox="1">
            <a:spLocks noChangeArrowheads="1"/>
          </p:cNvSpPr>
          <p:nvPr/>
        </p:nvSpPr>
        <p:spPr bwMode="auto">
          <a:xfrm>
            <a:off x="4221163" y="1585913"/>
            <a:ext cx="8920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dirty="0" err="1"/>
              <a:t>Pachapalayam</a:t>
            </a:r>
            <a:r>
              <a:rPr lang="en-US" altLang="en-US"/>
              <a:t>, Perur Chettipalayam, Coimbatore- 641 010</a:t>
            </a:r>
            <a:endParaRPr lang="en-IN" altLang="en-US"/>
          </a:p>
        </p:txBody>
      </p:sp>
      <p:sp>
        <p:nvSpPr>
          <p:cNvPr id="10249" name="TextBox 12"/>
          <p:cNvSpPr txBox="1">
            <a:spLocks noChangeArrowheads="1"/>
          </p:cNvSpPr>
          <p:nvPr/>
        </p:nvSpPr>
        <p:spPr bwMode="auto">
          <a:xfrm>
            <a:off x="2222500" y="2090738"/>
            <a:ext cx="10918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2800" b="1" dirty="0"/>
              <a:t>DEPARTMENT OF COMPUTER SCIENCE AND ENGINEERING</a:t>
            </a:r>
            <a:endParaRPr lang="en-IN" altLang="en-US" sz="2800" b="1" dirty="0"/>
          </a:p>
        </p:txBody>
      </p:sp>
      <p:sp>
        <p:nvSpPr>
          <p:cNvPr id="10250" name="TextBox 14"/>
          <p:cNvSpPr txBox="1">
            <a:spLocks noChangeArrowheads="1"/>
          </p:cNvSpPr>
          <p:nvPr/>
        </p:nvSpPr>
        <p:spPr bwMode="auto">
          <a:xfrm>
            <a:off x="656863" y="5211790"/>
            <a:ext cx="5042262" cy="230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Presented by:</a:t>
            </a:r>
            <a:endParaRPr lang="en-US" altLang="en-US" dirty="0"/>
          </a:p>
          <a:p>
            <a:r>
              <a:rPr lang="en-US" altLang="en-US" dirty="0"/>
              <a:t>               </a:t>
            </a:r>
            <a:endParaRPr lang="en-US" altLang="en-US" dirty="0"/>
          </a:p>
          <a:p>
            <a:r>
              <a:rPr lang="en-US" altLang="en-US" dirty="0"/>
              <a:t>               </a:t>
            </a:r>
            <a:r>
              <a:rPr lang="en-US" altLang="en-GB" dirty="0">
                <a:sym typeface="+mn-ea"/>
              </a:rPr>
              <a:t>SANJAY S                        -    71382202130</a:t>
            </a:r>
            <a:endParaRPr lang="en-IN" altLang="en-US" dirty="0"/>
          </a:p>
          <a:p>
            <a:r>
              <a:rPr lang="en-US" altLang="en-US" dirty="0"/>
              <a:t>               </a:t>
            </a:r>
            <a:r>
              <a:rPr lang="en-US" altLang="en-US" dirty="0">
                <a:sym typeface="+mn-ea"/>
              </a:rPr>
              <a:t>SARUKESH  A                </a:t>
            </a:r>
            <a:r>
              <a:rPr lang="en-US" altLang="en-GB" dirty="0">
                <a:sym typeface="+mn-ea"/>
              </a:rPr>
              <a:t> </a:t>
            </a:r>
            <a:r>
              <a:rPr lang="en-GB" altLang="en-US" dirty="0">
                <a:sym typeface="+mn-ea"/>
              </a:rPr>
              <a:t>-   71382202134</a:t>
            </a:r>
            <a:endParaRPr lang="en-US" altLang="en-US" dirty="0"/>
          </a:p>
          <a:p>
            <a:r>
              <a:rPr lang="en-US" altLang="en-GB" dirty="0"/>
              <a:t>               SOORAJ R NAIR             -   </a:t>
            </a:r>
            <a:r>
              <a:rPr lang="en-GB" altLang="en-GB" dirty="0"/>
              <a:t>71382202152</a:t>
            </a:r>
            <a:endParaRPr lang="en-US" altLang="en-US" dirty="0"/>
          </a:p>
          <a:p>
            <a:r>
              <a:rPr lang="en-US" altLang="en-US" dirty="0"/>
              <a:t>	       VIGNESHWARAN  S</a:t>
            </a:r>
            <a:r>
              <a:rPr lang="en-US" altLang="en-GB" dirty="0"/>
              <a:t>      </a:t>
            </a:r>
            <a:r>
              <a:rPr lang="en-GB" altLang="en-US" dirty="0"/>
              <a:t>-   71382202173</a:t>
            </a:r>
            <a:endParaRPr lang="en-US" altLang="en-US" dirty="0"/>
          </a:p>
          <a:p>
            <a:r>
              <a:rPr lang="en-US" altLang="en-US" dirty="0"/>
              <a:t>	     </a:t>
            </a:r>
            <a:endParaRPr lang="en-US" altLang="en-GB" dirty="0"/>
          </a:p>
          <a:p>
            <a:r>
              <a:rPr lang="en-US" altLang="en-GB" dirty="0"/>
              <a:t>             </a:t>
            </a:r>
            <a:endParaRPr lang="en-I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707563" y="5289550"/>
            <a:ext cx="3956050" cy="175323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Guided by:</a:t>
            </a: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MS A JAYASMRUTHI </a:t>
            </a:r>
            <a:endParaRPr lang="en-GB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ea typeface="Times New Roman" panose="02020603050405020304" pitchFamily="18" charset="0"/>
              </a:rPr>
              <a:t>        Assistant</a:t>
            </a:r>
            <a:r>
              <a:rPr lang="en-US" spc="5" dirty="0">
                <a:latin typeface="+mn-lt"/>
                <a:ea typeface="Times New Roman" panose="02020603050405020304" pitchFamily="18" charset="0"/>
              </a:rPr>
              <a:t> </a:t>
            </a:r>
            <a:r>
              <a:rPr lang="en-US" spc="-5" dirty="0">
                <a:latin typeface="+mn-lt"/>
                <a:ea typeface="Times New Roman" panose="02020603050405020304" pitchFamily="18" charset="0"/>
              </a:rPr>
              <a:t>Professor</a:t>
            </a:r>
            <a:endParaRPr lang="en-US" spc="-5" dirty="0">
              <a:latin typeface="+mn-lt"/>
              <a:ea typeface="Times New Roman" panose="02020603050405020304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pc="-5" dirty="0">
                <a:latin typeface="+mn-lt"/>
              </a:rPr>
              <a:t>        Department of CSE</a:t>
            </a:r>
            <a:endParaRPr lang="en-IN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+mn-lt"/>
            </a:endParaRPr>
          </a:p>
        </p:txBody>
      </p:sp>
      <p:sp>
        <p:nvSpPr>
          <p:cNvPr id="10252" name="TextBox 17"/>
          <p:cNvSpPr txBox="1">
            <a:spLocks noChangeArrowheads="1"/>
          </p:cNvSpPr>
          <p:nvPr/>
        </p:nvSpPr>
        <p:spPr bwMode="auto">
          <a:xfrm>
            <a:off x="2984500" y="2761615"/>
            <a:ext cx="8412480" cy="87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algn="ctr"/>
            <a:r>
              <a:rPr lang="en-US" altLang="en-US" sz="2400" dirty="0"/>
              <a:t>20CS902 - FYP  Phase II </a:t>
            </a:r>
            <a:endParaRPr lang="en-US" altLang="en-US" sz="2400" dirty="0"/>
          </a:p>
          <a:p>
            <a:pPr algn="ctr"/>
            <a:r>
              <a:rPr lang="en-US" altLang="en-US" sz="2400" dirty="0"/>
              <a:t>FIRST REVIEW </a:t>
            </a:r>
            <a:br>
              <a:rPr lang="en-US" altLang="en-US" sz="2400" dirty="0"/>
            </a:br>
            <a:r>
              <a:rPr lang="en-US" altLang="en-US" sz="2400" dirty="0"/>
              <a:t>BATCH NO : 39</a:t>
            </a:r>
            <a:endParaRPr lang="en-US" altLang="en-US" sz="2400" dirty="0"/>
          </a:p>
          <a:p>
            <a:pPr algn="ctr"/>
            <a:endParaRPr lang="en-US" altLang="en-US" sz="2400" dirty="0"/>
          </a:p>
          <a:p>
            <a:pPr algn="ctr"/>
            <a:endParaRPr lang="en-US" altLang="en-US" sz="2400" dirty="0"/>
          </a:p>
        </p:txBody>
      </p:sp>
      <p:sp>
        <p:nvSpPr>
          <p:cNvPr id="10253" name="TextBox 15"/>
          <p:cNvSpPr txBox="1">
            <a:spLocks noChangeArrowheads="1"/>
          </p:cNvSpPr>
          <p:nvPr/>
        </p:nvSpPr>
        <p:spPr bwMode="auto">
          <a:xfrm>
            <a:off x="1003935" y="3885565"/>
            <a:ext cx="12659360" cy="162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algn="ctr"/>
            <a:r>
              <a:rPr lang="en-US" altLang="en-IN" sz="2800" b="1" dirty="0"/>
              <a:t>  </a:t>
            </a:r>
            <a:r>
              <a:rPr lang="en-US" sz="2800" b="1" spc="50" dirty="0">
                <a:latin typeface="Times New Roman" panose="02020603050405020304"/>
              </a:rPr>
              <a:t>ADDRESSING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THE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INCOME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GAP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spc="50" dirty="0">
                <a:latin typeface="Times New Roman" panose="02020603050405020304"/>
              </a:rPr>
              <a:t>CAUSED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BY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spc="55" dirty="0">
                <a:latin typeface="Times New Roman" panose="02020603050405020304"/>
              </a:rPr>
              <a:t>MIDDLEMEN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spc="15" dirty="0">
                <a:latin typeface="Times New Roman" panose="02020603050405020304"/>
              </a:rPr>
              <a:t>IN </a:t>
            </a:r>
            <a:r>
              <a:rPr lang="en-US" sz="2800" b="1" dirty="0">
                <a:latin typeface="Times New Roman" panose="02020603050405020304"/>
              </a:rPr>
              <a:t>AGRICULTURAL MARKETING</a:t>
            </a:r>
            <a:r>
              <a:rPr lang="en-US" sz="2800" b="1" spc="5" dirty="0">
                <a:latin typeface="Times New Roman" panose="02020603050405020304"/>
              </a:rPr>
              <a:t> </a:t>
            </a:r>
            <a:r>
              <a:rPr lang="en-US" sz="2800" b="1" spc="55" dirty="0">
                <a:latin typeface="Times New Roman" panose="02020603050405020304"/>
              </a:rPr>
              <a:t>THROUGH</a:t>
            </a:r>
            <a:r>
              <a:rPr lang="en-US" sz="2800" b="1" spc="5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DIRECT</a:t>
            </a:r>
            <a:r>
              <a:rPr lang="en-US" sz="2800" b="1" spc="5" dirty="0">
                <a:latin typeface="Times New Roman" panose="02020603050405020304"/>
              </a:rPr>
              <a:t> </a:t>
            </a:r>
            <a:r>
              <a:rPr lang="en-US" sz="2800" b="1" spc="-10" dirty="0">
                <a:latin typeface="Times New Roman" panose="02020603050405020304"/>
              </a:rPr>
              <a:t>FARMER-</a:t>
            </a:r>
            <a:r>
              <a:rPr lang="en-US" sz="2800" b="1" dirty="0">
                <a:latin typeface="Times New Roman" panose="02020603050405020304"/>
              </a:rPr>
              <a:t>TO-</a:t>
            </a:r>
            <a:r>
              <a:rPr lang="en-US" sz="2800" b="1" spc="60" dirty="0">
                <a:latin typeface="Times New Roman" panose="02020603050405020304"/>
              </a:rPr>
              <a:t>CONSUMER </a:t>
            </a:r>
            <a:r>
              <a:rPr lang="en-US" sz="2800" b="1" spc="65" dirty="0">
                <a:latin typeface="Times New Roman" panose="02020603050405020304"/>
              </a:rPr>
              <a:t>SOLUTIONS</a:t>
            </a:r>
            <a:endParaRPr lang="en-US" sz="2800" dirty="0">
              <a:latin typeface="Times New Roman" panose="02020603050405020304"/>
            </a:endParaRPr>
          </a:p>
          <a:p>
            <a:pPr algn="ctr"/>
            <a:endParaRPr lang="en-US" altLang="en-IN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03" y="555867"/>
            <a:ext cx="927432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019" y="353695"/>
            <a:ext cx="13658850" cy="1174143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CONTENT OUTLINE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96" y="1527884"/>
            <a:ext cx="13658850" cy="5911411"/>
          </a:xfrm>
        </p:spPr>
        <p:txBody>
          <a:bodyPr>
            <a:noAutofit/>
          </a:bodyPr>
          <a:lstStyle/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Abstract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Work Completed For Phase I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System Architecture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Use Case Diagram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Data Flow Diagram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Algorithms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</a:rPr>
              <a:t>40% Implementation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References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173355" lvl="1" indent="0" eaLnBrk="1" hangingPunct="1">
              <a:buClr>
                <a:srgbClr val="000000"/>
              </a:buClr>
              <a:buNone/>
            </a:pP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30/10/2025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291146" y="7796212"/>
            <a:ext cx="5822950" cy="439737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PHASE II FIRST REVIEW</a:t>
            </a:r>
            <a:r>
              <a:rPr lang="en-US" dirty="0">
                <a:sym typeface="+mn-ea"/>
              </a:rPr>
              <a:t> </a:t>
            </a:r>
            <a:r>
              <a:rPr lang="en-US" dirty="0"/>
              <a:t>  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953875" y="7838758"/>
            <a:ext cx="1584325" cy="441325"/>
          </a:xfrm>
        </p:spPr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720725"/>
            <a:ext cx="2491105" cy="836295"/>
          </a:xfrm>
        </p:spPr>
        <p:txBody>
          <a:bodyPr/>
          <a:lstStyle/>
          <a:p>
            <a:r>
              <a:rPr lang="en-US" altLang="en-IN" sz="2800" b="1" dirty="0">
                <a:solidFill>
                  <a:schemeClr val="tx1"/>
                </a:solidFill>
              </a:rPr>
              <a:t>ABSTRACT</a:t>
            </a:r>
            <a:endParaRPr lang="en-US" altLang="en-IN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851247"/>
            <a:ext cx="13658850" cy="576421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400" spc="-20" dirty="0">
                <a:solidFill>
                  <a:schemeClr val="tx1"/>
                </a:solidFill>
              </a:rPr>
              <a:t> </a:t>
            </a:r>
            <a:r>
              <a:rPr lang="en-GB" sz="2400" dirty="0"/>
              <a:t>This project proposes a direct Farmer-to-Consumer digital platform to eliminate intermediaries and ensure fair pricing.</a:t>
            </a:r>
            <a:endParaRPr lang="en-GB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The system is developed using React.js (frontend), Node.js with Express (backend), and MongoDB (database).</a:t>
            </a:r>
            <a:endParaRPr lang="en-GB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Farmers can register, upload products, and sell directly, while consumers can view products and place orders through the platform.</a:t>
            </a:r>
            <a:endParaRPr lang="en-GB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/>
              <a:t>The expected outcome is improved farmer income, transparent transactions, and better access to fresh produce for consumers.</a:t>
            </a:r>
            <a:endParaRPr lang="en-GB" sz="2400" dirty="0"/>
          </a:p>
          <a:p>
            <a:pPr>
              <a:buFont typeface="Wingdings" panose="05000000000000000000" pitchFamily="2" charset="2"/>
              <a:buChar char="Ø"/>
            </a:pPr>
            <a:endParaRPr lang="en-US" altLang="en-US" sz="2400" spc="-2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30/10/2025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PHASE II FIRST REVIEW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38" y="675957"/>
            <a:ext cx="10701020" cy="1174115"/>
          </a:xfrm>
        </p:spPr>
        <p:txBody>
          <a:bodyPr/>
          <a:lstStyle/>
          <a:p>
            <a:r>
              <a:rPr lang="en-US" altLang="en-US" sz="2800" b="1" dirty="0">
                <a:solidFill>
                  <a:schemeClr val="tx1"/>
                </a:solidFill>
              </a:rPr>
              <a:t>WORK COMPLETED FOR PHASE I</a:t>
            </a:r>
            <a:r>
              <a:rPr lang="en-US" altLang="en-US" sz="2800" b="1" dirty="0">
                <a:solidFill>
                  <a:schemeClr val="tx1"/>
                </a:solidFill>
                <a:sym typeface="+mn-ea"/>
              </a:rPr>
              <a:t>                                                                                                                          </a:t>
            </a:r>
            <a:br>
              <a:rPr lang="en-US" altLang="en-US" sz="2800" b="1" dirty="0">
                <a:solidFill>
                  <a:schemeClr val="tx1"/>
                </a:solidFill>
              </a:rPr>
            </a:b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en-US" sz="2600" dirty="0">
                <a:solidFill>
                  <a:schemeClr val="tx1"/>
                </a:solidFill>
              </a:rPr>
              <a:t> </a:t>
            </a:r>
            <a:r>
              <a:rPr lang="en-GB" sz="2600" dirty="0"/>
              <a:t>Initialized the React application and designed basic UI components for farmer and consumer interaction</a:t>
            </a:r>
            <a:endParaRPr lang="en-GB" sz="2600" dirty="0"/>
          </a:p>
          <a:p>
            <a:pPr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sz="2600" dirty="0"/>
              <a:t>Set up the backend server and configured Express framework to handle RESTful API requests.</a:t>
            </a:r>
            <a:endParaRPr lang="en-GB" sz="2600" dirty="0"/>
          </a:p>
          <a:p>
            <a:pPr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sz="2600" dirty="0"/>
              <a:t>Designed MongoDB collections and schema for farmers, consumers, products, and orders.</a:t>
            </a:r>
            <a:endParaRPr lang="en-GB" sz="2600" dirty="0"/>
          </a:p>
          <a:p>
            <a:pPr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sz="2600" dirty="0"/>
              <a:t>Planned REST API endpoints and prepared Axios-based communication between frontend and backend.</a:t>
            </a:r>
            <a:endParaRPr lang="en-GB" sz="2600" dirty="0"/>
          </a:p>
          <a:p>
            <a:pPr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sz="2600" dirty="0"/>
              <a:t>Performed initial testing of UI forms and backend routes to verify correct data flow and error handling during development.</a:t>
            </a:r>
            <a:endParaRPr lang="en-GB" sz="2600" dirty="0"/>
          </a:p>
          <a:p>
            <a:pPr marL="0" indent="0">
              <a:buClr>
                <a:schemeClr val="accent1">
                  <a:lumMod val="75000"/>
                </a:schemeClr>
              </a:buClr>
              <a:buNone/>
            </a:pP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39                          </a:t>
            </a:r>
            <a:r>
              <a:rPr lang="en-US" dirty="0"/>
              <a:t>PHASE II FIRST REVIEW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tx1"/>
                </a:solidFill>
              </a:rPr>
              <a:t>SYSTEM ARCHITECTURE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IN" sz="2400" b="1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30/10/2025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PHASE II FIRST REVIEW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  <p:pic>
        <p:nvPicPr>
          <p:cNvPr id="9" name="Picture 8"/>
          <p:cNvPicPr/>
          <p:nvPr/>
        </p:nvPicPr>
        <p:blipFill>
          <a:blip r:embed="rId1"/>
          <a:stretch>
            <a:fillRect/>
          </a:stretch>
        </p:blipFill>
        <p:spPr>
          <a:xfrm>
            <a:off x="3811712" y="1756881"/>
            <a:ext cx="7058345" cy="5239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USE-CASE DIADRAM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07/05/2025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PHASE II FIRST REVIEW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</a:fld>
            <a:endParaRPr lang="en-US" altLang="en-US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44723" y="1839913"/>
            <a:ext cx="7912404" cy="57642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FLOW DIAGRAM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07/05/2025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PHASE II FIRST REVIEW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</a:fld>
            <a:endParaRPr lang="en-US" altLang="en-US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77766" y="1839913"/>
            <a:ext cx="8646318" cy="57642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2800" b="1" dirty="0">
                <a:solidFill>
                  <a:schemeClr val="tx1"/>
                </a:solidFill>
              </a:rPr>
              <a:t>ALOGRITHMS</a:t>
            </a:r>
            <a:endParaRPr lang="en-US" altLang="en-IN" sz="28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en-IN" sz="2400" dirty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IN" dirty="0"/>
              <a:t>30</a:t>
            </a:r>
            <a:r>
              <a:rPr lang="en-IN" dirty="0"/>
              <a:t>/</a:t>
            </a:r>
            <a:r>
              <a:rPr lang="en-US" dirty="0"/>
              <a:t>10/2025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PHASE II FIRST REVIEW</a:t>
            </a:r>
            <a:r>
              <a:rPr lang="en-US" dirty="0">
                <a:sym typeface="+mn-ea"/>
              </a:rPr>
              <a:t>    </a:t>
            </a:r>
            <a:r>
              <a:rPr lang="en-US" dirty="0"/>
              <a:t>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492125" y="1920875"/>
            <a:ext cx="13892530" cy="5294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sz="2600" dirty="0"/>
              <a:t>Efficient Order Processing – Validates orders, updates inventory, and generates confirmations.</a:t>
            </a:r>
            <a:endParaRPr lang="en-GB" sz="2600" dirty="0"/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altLang="en-US" sz="2600" dirty="0"/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sz="2600" dirty="0"/>
              <a:t>Smart Routing for Deliveries – Calculates optimal routes for farmers to distributors using shortest path logic</a:t>
            </a:r>
            <a:endParaRPr lang="en-GB" sz="2600" dirty="0"/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altLang="en-US" sz="2600" dirty="0"/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sz="2600" dirty="0"/>
              <a:t>Real-Time Inventory Tracking – Monitors stock levels and triggers alerts for low inventory.</a:t>
            </a:r>
            <a:endParaRPr lang="en-GB" sz="2600" dirty="0"/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altLang="en-US" sz="2600" dirty="0"/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sz="2600" dirty="0"/>
              <a:t>Automated Notification System – Sends timely updates on orders, deliveries, and inventory to users.</a:t>
            </a:r>
            <a:endParaRPr lang="en-GB" sz="2600" dirty="0"/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GB" altLang="en-US" sz="2600" dirty="0"/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GB" sz="2600" dirty="0"/>
              <a:t>Secure Payment Verification – Confirms payments and updates order status with encryption for security.</a:t>
            </a:r>
            <a:endParaRPr lang="en-US" alt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07/05/2025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PHASE II FIRST REVIEW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B1D5-EAAB-4580-9B25-4062060462FE}" type="slidenum">
              <a:rPr lang="en-US" altLang="en-US" smtClean="0"/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073" y="338322"/>
            <a:ext cx="6502734" cy="24048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2660"/>
            <a:ext cx="7182998" cy="511201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617" y="39687"/>
            <a:ext cx="7449271" cy="68104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07/05/2025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PHASE II FIRST REVIEW                                       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B1D5-EAAB-4580-9B25-4062060462FE}" type="slidenum">
              <a:rPr lang="en-US" altLang="en-US" smtClean="0"/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436" y="1507989"/>
            <a:ext cx="11964015" cy="52644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40% IMPLEMENTATION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2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</a:rPr>
              <a:t> Middlemen in traditional agricultural marketing reduce farmer profits by taking a large share of the consumer price.</a:t>
            </a:r>
            <a:endParaRPr lang="en-US" altLang="en-US" sz="2300" dirty="0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</a:rPr>
              <a:t> Direct-to-consumer (D2C) web platforms help bridge this income gap by enabling farmers to sell directly to buyers.</a:t>
            </a:r>
            <a:endParaRPr lang="en-US" altLang="en-US" sz="2300" dirty="0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</a:rPr>
              <a:t> The approach allows farmers to earn higher profits and build stronger, long-term relationships with consumers.</a:t>
            </a:r>
            <a:endParaRPr lang="en-US" altLang="en-US" sz="2300" dirty="0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</a:rPr>
              <a:t> Simple digital tools like websites, mobile apps, and online payments give small farmers access to wider markets.</a:t>
            </a:r>
            <a:endParaRPr lang="en-US" altLang="en-US" sz="2300" dirty="0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</a:rPr>
              <a:t> The project proved that a well-designed D2C system can increase farmer income by 10–30%.</a:t>
            </a:r>
            <a:endParaRPr lang="en-US" altLang="en-US" sz="2300" dirty="0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</a:rPr>
              <a:t> Consumers also benefit by getting fresher produce at lower prices.</a:t>
            </a:r>
            <a:endParaRPr lang="en-US" altLang="en-US" sz="2300" dirty="0">
              <a:solidFill>
                <a:schemeClr val="tx1"/>
              </a:solidFill>
            </a:endParaRPr>
          </a:p>
          <a:p>
            <a:pPr lvl="2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</a:rPr>
              <a:t> Overall, the system promotes transparency, fairness, and sustainability in agricultural marketing.</a:t>
            </a:r>
            <a:endParaRPr lang="en-US" altLang="en-US" sz="230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30/10/2025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</a:t>
            </a:r>
            <a:r>
              <a:rPr lang="en-IN" dirty="0"/>
              <a:t>39                           </a:t>
            </a:r>
            <a:r>
              <a:rPr lang="en-US" dirty="0"/>
              <a:t> PHASE II FIRST REVIEW</a:t>
            </a:r>
            <a:r>
              <a:rPr lang="en-US" dirty="0">
                <a:sym typeface="+mn-ea"/>
              </a:rPr>
              <a:t>    </a:t>
            </a:r>
            <a:r>
              <a:rPr lang="en-US" dirty="0"/>
              <a:t>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390678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REFERENCES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D. S. V. Gowd, N. V. R. Reddy and K. Aravind, “Farmer To Consumer,” Conference Paper, Parul University, Mar. 2025.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P. Kushwaha, S. Mansoori, M. Patil, and R.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Baheti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“Transforming Agriculture: Enhancing Farmer-to-Consumer Connectivity Through Smart E-Commerce Platforms” Int. J. Sci. Res. Eng. Manag., vol. 9, no. 4, pp. 1–2, Apr. 2025.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A. S., A. S. V., M. M., and A. Jeyamurugan, “Web Based Application for Direct Market Access for Farmers,” Int. J. Creates. Thoughts, vol. 13, no. 4, pp. 192–197, Apr. 2025.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N. Anusha, P. S. Keerthi, M. R. Reddy, A. Ramesh, and M. R.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Ignatious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, “Farm to Home: An E-commerce Application for Farmers and Consumers,” in Advances in Computational Intelligence and its Applications, May 2024. DOI: 10.1201/9781003488682-5.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Uplaonkar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and S. Biradar, “Middleman Growth in Agricultural Field and Its Impact on Farmers,” Int. J.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Creat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. Res. Thoughts, vol. 8, no. 3, pp. 3314–3317, Mar. 2020.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30/10/2025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PHASE II FIRST REVIEW</a:t>
            </a:r>
            <a:r>
              <a:rPr lang="en-US" dirty="0">
                <a:sym typeface="+mn-ea"/>
              </a:rPr>
              <a:t>     </a:t>
            </a:r>
            <a:r>
              <a:rPr lang="en-US" dirty="0"/>
              <a:t>                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6469" y="7839076"/>
            <a:ext cx="5284338" cy="441324"/>
          </a:xfrm>
        </p:spPr>
        <p:txBody>
          <a:bodyPr/>
          <a:lstStyle/>
          <a:p>
            <a:pPr>
              <a:defRPr/>
            </a:pPr>
            <a:r>
              <a:rPr lang="en-US" altLang="en-IN" dirty="0"/>
              <a:t>30</a:t>
            </a:r>
            <a:r>
              <a:rPr lang="en-IN" dirty="0"/>
              <a:t>/</a:t>
            </a:r>
            <a:r>
              <a:rPr lang="en-US" dirty="0"/>
              <a:t>10/2025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51349" y="7799388"/>
            <a:ext cx="7030901" cy="44132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              PHASE II FIRST REVIEW</a:t>
            </a:r>
            <a:r>
              <a:rPr lang="en-US" dirty="0">
                <a:sym typeface="+mn-ea"/>
              </a:rPr>
              <a:t>    </a:t>
            </a:r>
            <a:r>
              <a:rPr lang="en-US" dirty="0"/>
              <a:t>     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>
                <a:solidFill>
                  <a:schemeClr val="bg1">
                    <a:lumMod val="75000"/>
                  </a:schemeClr>
                </a:solidFill>
              </a:rPr>
            </a:fld>
            <a:endParaRPr lang="en-US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79984" y="753203"/>
            <a:ext cx="73609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8000" b="1" dirty="0">
                <a:solidFill>
                  <a:schemeClr val="tx1"/>
                </a:solidFill>
              </a:rPr>
              <a:t> </a:t>
            </a:r>
            <a:endParaRPr lang="en-US" altLang="en-US" sz="8000" b="1" dirty="0">
              <a:solidFill>
                <a:schemeClr val="tx1"/>
              </a:solidFill>
            </a:endParaRPr>
          </a:p>
          <a:p>
            <a:pPr marL="641350" lvl="4" indent="0" eaLnBrk="1" hangingPunct="1">
              <a:buFont typeface="Calibri" panose="020F0502020204030204" pitchFamily="34" charset="0"/>
              <a:buNone/>
            </a:pPr>
            <a:r>
              <a:rPr lang="en-US" altLang="en-US" sz="8000" b="1" dirty="0">
                <a:solidFill>
                  <a:schemeClr val="tx1"/>
                </a:solidFill>
              </a:rPr>
              <a:t>                </a:t>
            </a:r>
            <a:r>
              <a:rPr lang="en-US" altLang="en-US" sz="8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  <a:endParaRPr lang="en-US" altLang="en-US" sz="8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C45AC1"/>
      </a:accent1>
      <a:accent2>
        <a:srgbClr val="803677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2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5463</Words>
  <Application>WPS Presentation</Application>
  <PresentationFormat>Custom</PresentationFormat>
  <Paragraphs>182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Calibri</vt:lpstr>
      <vt:lpstr>Merriweather</vt:lpstr>
      <vt:lpstr>Segoe Print</vt:lpstr>
      <vt:lpstr>Latha</vt:lpstr>
      <vt:lpstr>Times New Roman</vt:lpstr>
      <vt:lpstr>Microsoft YaHei</vt:lpstr>
      <vt:lpstr>Arial Unicode MS</vt:lpstr>
      <vt:lpstr>Retrospect</vt:lpstr>
      <vt:lpstr>PowerPoint 演示文稿</vt:lpstr>
      <vt:lpstr>CONTENT OUTLINE</vt:lpstr>
      <vt:lpstr>ABSTRACT</vt:lpstr>
      <vt:lpstr>WORK COMPLETED FOR PHASE I                                                                                                                           </vt:lpstr>
      <vt:lpstr>SYSTEM ARCHITECTURE</vt:lpstr>
      <vt:lpstr>USE-CASE DIADRAM</vt:lpstr>
      <vt:lpstr>DATA FLOW DIAGRAM</vt:lpstr>
      <vt:lpstr>ALOGRITHMS</vt:lpstr>
      <vt:lpstr>PowerPoint 演示文稿</vt:lpstr>
      <vt:lpstr>PowerPoint 演示文稿</vt:lpstr>
      <vt:lpstr>40% IMPLEMENTATION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meena</dc:creator>
  <cp:lastModifiedBy>Sooraj R Nair</cp:lastModifiedBy>
  <cp:revision>228</cp:revision>
  <dcterms:created xsi:type="dcterms:W3CDTF">2025-10-28T08:34:00Z</dcterms:created>
  <dcterms:modified xsi:type="dcterms:W3CDTF">2026-02-12T04:50:53Z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650C241D5DFE45519600041A01C98E92_13</vt:lpwstr>
  </property>
  <property fmtid="{D5CDD505-2E9C-101B-9397-08002B2CF9AE}" pid="3" name="KSOProductBuildVer">
    <vt:lpwstr>1033-12.2.0.23196</vt:lpwstr>
  </property>
</Properties>
</file>