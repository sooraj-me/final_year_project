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302" r:id="rId5"/>
    <p:sldId id="309" r:id="rId6"/>
    <p:sldId id="303" r:id="rId7"/>
    <p:sldId id="304" r:id="rId8"/>
    <p:sldId id="285" r:id="rId9"/>
    <p:sldId id="307" r:id="rId10"/>
    <p:sldId id="308" r:id="rId11"/>
    <p:sldId id="286" r:id="rId12"/>
    <p:sldId id="310" r:id="rId13"/>
    <p:sldId id="306" r:id="rId14"/>
    <p:sldId id="282" r:id="rId15"/>
  </p:sldIdLst>
  <p:sldSz cx="14720888" cy="82804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C66"/>
    <a:srgbClr val="FF7C80"/>
    <a:srgbClr val="FFCC99"/>
    <a:srgbClr val="FF9966"/>
    <a:srgbClr val="FF9933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737" autoAdjust="0"/>
  </p:normalViewPr>
  <p:slideViewPr>
    <p:cSldViewPr snapToGrid="0" showGuides="1">
      <p:cViewPr varScale="1">
        <p:scale>
          <a:sx n="67" d="100"/>
          <a:sy n="67" d="100"/>
        </p:scale>
        <p:origin x="85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46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 sarukesh" userId="96da03da5d3842ed" providerId="LiveId" clId="{7432D116-694D-4165-9163-6BD653D0D33D}"/>
    <pc:docChg chg="custSel modSld">
      <pc:chgData name="sk sarukesh" userId="96da03da5d3842ed" providerId="LiveId" clId="{7432D116-694D-4165-9163-6BD653D0D33D}" dt="2026-04-05T15:54:00.178" v="24" actId="20577"/>
      <pc:docMkLst>
        <pc:docMk/>
      </pc:docMkLst>
      <pc:sldChg chg="modSp mod">
        <pc:chgData name="sk sarukesh" userId="96da03da5d3842ed" providerId="LiveId" clId="{7432D116-694D-4165-9163-6BD653D0D33D}" dt="2026-04-05T15:54:00.178" v="24" actId="20577"/>
        <pc:sldMkLst>
          <pc:docMk/>
          <pc:sldMk cId="0" sldId="282"/>
        </pc:sldMkLst>
        <pc:spChg chg="mod">
          <ac:chgData name="sk sarukesh" userId="96da03da5d3842ed" providerId="LiveId" clId="{7432D116-694D-4165-9163-6BD653D0D33D}" dt="2026-04-05T15:54:00.178" v="24" actId="20577"/>
          <ac:spMkLst>
            <pc:docMk/>
            <pc:sldMk cId="0" sldId="282"/>
            <ac:spMk id="4" creationId="{00000000-0000-0000-0000-000000000000}"/>
          </ac:spMkLst>
        </pc:spChg>
      </pc:sldChg>
      <pc:sldChg chg="modSp mod">
        <pc:chgData name="sk sarukesh" userId="96da03da5d3842ed" providerId="LiveId" clId="{7432D116-694D-4165-9163-6BD653D0D33D}" dt="2026-04-05T15:53:24.680" v="12" actId="20577"/>
        <pc:sldMkLst>
          <pc:docMk/>
          <pc:sldMk cId="0" sldId="285"/>
        </pc:sldMkLst>
        <pc:spChg chg="mod">
          <ac:chgData name="sk sarukesh" userId="96da03da5d3842ed" providerId="LiveId" clId="{7432D116-694D-4165-9163-6BD653D0D33D}" dt="2026-04-05T15:53:24.680" v="12" actId="20577"/>
          <ac:spMkLst>
            <pc:docMk/>
            <pc:sldMk cId="0" sldId="285"/>
            <ac:spMk id="5" creationId="{00000000-0000-0000-0000-000000000000}"/>
          </ac:spMkLst>
        </pc:spChg>
      </pc:sldChg>
      <pc:sldChg chg="modSp mod">
        <pc:chgData name="sk sarukesh" userId="96da03da5d3842ed" providerId="LiveId" clId="{7432D116-694D-4165-9163-6BD653D0D33D}" dt="2026-04-05T15:52:50.200" v="0" actId="20577"/>
        <pc:sldMkLst>
          <pc:docMk/>
          <pc:sldMk cId="0" sldId="302"/>
        </pc:sldMkLst>
        <pc:spChg chg="mod">
          <ac:chgData name="sk sarukesh" userId="96da03da5d3842ed" providerId="LiveId" clId="{7432D116-694D-4165-9163-6BD653D0D33D}" dt="2026-04-05T15:52:50.200" v="0" actId="20577"/>
          <ac:spMkLst>
            <pc:docMk/>
            <pc:sldMk cId="0" sldId="302"/>
            <ac:spMk id="4" creationId="{00000000-0000-0000-0000-000000000000}"/>
          </ac:spMkLst>
        </pc:spChg>
      </pc:sldChg>
      <pc:sldChg chg="modSp mod">
        <pc:chgData name="sk sarukesh" userId="96da03da5d3842ed" providerId="LiveId" clId="{7432D116-694D-4165-9163-6BD653D0D33D}" dt="2026-04-05T15:53:04.046" v="4" actId="20577"/>
        <pc:sldMkLst>
          <pc:docMk/>
          <pc:sldMk cId="739235071" sldId="303"/>
        </pc:sldMkLst>
        <pc:spChg chg="mod">
          <ac:chgData name="sk sarukesh" userId="96da03da5d3842ed" providerId="LiveId" clId="{7432D116-694D-4165-9163-6BD653D0D33D}" dt="2026-04-05T15:53:04.046" v="4" actId="20577"/>
          <ac:spMkLst>
            <pc:docMk/>
            <pc:sldMk cId="739235071" sldId="303"/>
            <ac:spMk id="4" creationId="{00000000-0000-0000-0000-000000000000}"/>
          </ac:spMkLst>
        </pc:spChg>
      </pc:sldChg>
      <pc:sldChg chg="modSp mod">
        <pc:chgData name="sk sarukesh" userId="96da03da5d3842ed" providerId="LiveId" clId="{7432D116-694D-4165-9163-6BD653D0D33D}" dt="2026-04-05T15:53:17.975" v="10" actId="20577"/>
        <pc:sldMkLst>
          <pc:docMk/>
          <pc:sldMk cId="712389836" sldId="304"/>
        </pc:sldMkLst>
        <pc:spChg chg="mod">
          <ac:chgData name="sk sarukesh" userId="96da03da5d3842ed" providerId="LiveId" clId="{7432D116-694D-4165-9163-6BD653D0D33D}" dt="2026-04-05T15:53:17.975" v="10" actId="20577"/>
          <ac:spMkLst>
            <pc:docMk/>
            <pc:sldMk cId="712389836" sldId="304"/>
            <ac:spMk id="4" creationId="{00000000-0000-0000-0000-000000000000}"/>
          </ac:spMkLst>
        </pc:spChg>
      </pc:sldChg>
      <pc:sldChg chg="modSp mod">
        <pc:chgData name="sk sarukesh" userId="96da03da5d3842ed" providerId="LiveId" clId="{7432D116-694D-4165-9163-6BD653D0D33D}" dt="2026-04-05T15:53:49.147" v="20" actId="20577"/>
        <pc:sldMkLst>
          <pc:docMk/>
          <pc:sldMk cId="2563314888" sldId="306"/>
        </pc:sldMkLst>
        <pc:spChg chg="mod">
          <ac:chgData name="sk sarukesh" userId="96da03da5d3842ed" providerId="LiveId" clId="{7432D116-694D-4165-9163-6BD653D0D33D}" dt="2026-04-05T15:53:49.147" v="20" actId="20577"/>
          <ac:spMkLst>
            <pc:docMk/>
            <pc:sldMk cId="2563314888" sldId="306"/>
            <ac:spMk id="4" creationId="{00000000-0000-0000-0000-000000000000}"/>
          </ac:spMkLst>
        </pc:spChg>
      </pc:sldChg>
      <pc:sldChg chg="modSp mod">
        <pc:chgData name="sk sarukesh" userId="96da03da5d3842ed" providerId="LiveId" clId="{7432D116-694D-4165-9163-6BD653D0D33D}" dt="2026-04-05T15:53:32.625" v="14" actId="20577"/>
        <pc:sldMkLst>
          <pc:docMk/>
          <pc:sldMk cId="2007253620" sldId="307"/>
        </pc:sldMkLst>
        <pc:spChg chg="mod">
          <ac:chgData name="sk sarukesh" userId="96da03da5d3842ed" providerId="LiveId" clId="{7432D116-694D-4165-9163-6BD653D0D33D}" dt="2026-04-05T15:53:32.625" v="14" actId="20577"/>
          <ac:spMkLst>
            <pc:docMk/>
            <pc:sldMk cId="2007253620" sldId="307"/>
            <ac:spMk id="2" creationId="{6C2BA429-A36B-E598-0EEE-33F3D832EBA0}"/>
          </ac:spMkLst>
        </pc:spChg>
      </pc:sldChg>
      <pc:sldChg chg="modSp mod">
        <pc:chgData name="sk sarukesh" userId="96da03da5d3842ed" providerId="LiveId" clId="{7432D116-694D-4165-9163-6BD653D0D33D}" dt="2026-04-05T15:52:57.256" v="2" actId="20577"/>
        <pc:sldMkLst>
          <pc:docMk/>
          <pc:sldMk cId="1545102825" sldId="309"/>
        </pc:sldMkLst>
        <pc:spChg chg="mod">
          <ac:chgData name="sk sarukesh" userId="96da03da5d3842ed" providerId="LiveId" clId="{7432D116-694D-4165-9163-6BD653D0D33D}" dt="2026-04-05T15:52:57.256" v="2" actId="20577"/>
          <ac:spMkLst>
            <pc:docMk/>
            <pc:sldMk cId="1545102825" sldId="309"/>
            <ac:spMk id="4" creationId="{2C08A2BC-E8C9-7AAE-F82E-6C69DC6803BB}"/>
          </ac:spMkLst>
        </pc:spChg>
      </pc:sldChg>
      <pc:sldChg chg="modSp mod">
        <pc:chgData name="sk sarukesh" userId="96da03da5d3842ed" providerId="LiveId" clId="{7432D116-694D-4165-9163-6BD653D0D33D}" dt="2026-04-05T15:53:41.691" v="18" actId="20577"/>
        <pc:sldMkLst>
          <pc:docMk/>
          <pc:sldMk cId="2627754928" sldId="310"/>
        </pc:sldMkLst>
        <pc:spChg chg="mod">
          <ac:chgData name="sk sarukesh" userId="96da03da5d3842ed" providerId="LiveId" clId="{7432D116-694D-4165-9163-6BD653D0D33D}" dt="2026-04-05T15:53:41.691" v="18" actId="20577"/>
          <ac:spMkLst>
            <pc:docMk/>
            <pc:sldMk cId="2627754928" sldId="310"/>
            <ac:spMk id="4" creationId="{412BA993-5CDD-9A5F-56F4-4A215EF518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0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E5E484A-C351-46AB-BFE7-E15D7EF7F947}" type="datetimeFigureOut">
              <a:rPr lang="en-US"/>
              <a:t>4/5/2026</a:t>
            </a:fld>
            <a:endParaRPr lang="en-US"/>
          </a:p>
        </p:txBody>
      </p:sp>
      <p:sp>
        <p:nvSpPr>
          <p:cNvPr id="10487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0487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1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84F635C-79E0-4AB5-B588-305DCA57CC7D}" type="slidenum">
              <a:rPr lang="en-US" altLang="en-US"/>
              <a:t>‹#›</a:t>
            </a:fld>
            <a:endParaRPr lang="en-US" altLang="en-US">
              <a:ea typeface="Lath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70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Box 13"/>
          <p:cNvSpPr txBox="1">
            <a:spLocks noChangeArrowheads="1"/>
          </p:cNvSpPr>
          <p:nvPr/>
        </p:nvSpPr>
        <p:spPr bwMode="auto">
          <a:xfrm>
            <a:off x="1692275" y="306388"/>
            <a:ext cx="11333163" cy="11398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800" b="1" dirty="0">
                <a:cs typeface="Merriweather" pitchFamily="2" charset="0"/>
              </a:rPr>
              <a:t>SRI RAMAKRISHNA INSTITUTE OF TECHNOLOGY</a:t>
            </a:r>
            <a:endParaRPr lang="en-US" altLang="en-US" sz="28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(An Autonomous Institution)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   </a:t>
            </a:r>
            <a:r>
              <a:rPr lang="en-US" altLang="en-US" sz="2000" dirty="0" err="1">
                <a:cs typeface="Merriweather" pitchFamily="2" charset="0"/>
              </a:rPr>
              <a:t>Pachapalyam</a:t>
            </a:r>
            <a:r>
              <a:rPr lang="en-US" altLang="en-US" sz="2000" dirty="0">
                <a:cs typeface="Merriweather" pitchFamily="2" charset="0"/>
              </a:rPr>
              <a:t>, </a:t>
            </a:r>
            <a:r>
              <a:rPr lang="en-US" altLang="en-US" sz="2000" dirty="0" err="1">
                <a:cs typeface="Merriweather" pitchFamily="2" charset="0"/>
              </a:rPr>
              <a:t>Perur</a:t>
            </a:r>
            <a:r>
              <a:rPr lang="en-US" altLang="en-US" sz="2000" dirty="0">
                <a:cs typeface="Merriweather" pitchFamily="2" charset="0"/>
              </a:rPr>
              <a:t> </a:t>
            </a:r>
            <a:r>
              <a:rPr lang="en-US" altLang="en-US" sz="2000" dirty="0" err="1">
                <a:cs typeface="Merriweather" pitchFamily="2" charset="0"/>
              </a:rPr>
              <a:t>Chettipalayam</a:t>
            </a:r>
            <a:r>
              <a:rPr lang="en-US" altLang="en-US" sz="2000" dirty="0">
                <a:cs typeface="Merriweather" pitchFamily="2" charset="0"/>
              </a:rPr>
              <a:t>, Coimbatore –  641010</a:t>
            </a:r>
            <a:endParaRPr lang="en-US" altLang="en-US" sz="2000" dirty="0"/>
          </a:p>
        </p:txBody>
      </p:sp>
      <p:pic>
        <p:nvPicPr>
          <p:cNvPr id="5" name="image2.png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217488"/>
            <a:ext cx="1214437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1.png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25" y="301625"/>
            <a:ext cx="1174750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2209800" y="1671638"/>
            <a:ext cx="9607550" cy="5111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800" b="1"/>
              <a:t>DEPARTMENT OF COMPUTER SCIENCE AND ENGINEERING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6681788" y="4891088"/>
            <a:ext cx="1722437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400"/>
              <a:t>Review 1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1085850" y="5278438"/>
            <a:ext cx="5688013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400"/>
              <a:t>Presented by,</a:t>
            </a:r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9391650" y="5275263"/>
            <a:ext cx="4243388" cy="625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en-US" altLang="en-US" sz="2400"/>
              <a:t>Guided by,</a:t>
            </a:r>
          </a:p>
        </p:txBody>
      </p:sp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1324880" y="2753873"/>
            <a:ext cx="12144733" cy="2040549"/>
          </a:xfrm>
        </p:spPr>
        <p:txBody>
          <a:bodyPr/>
          <a:lstStyle>
            <a:lvl1pPr algn="ctr">
              <a:lnSpc>
                <a:spcPct val="85000"/>
              </a:lnSpc>
              <a:defRPr sz="4400" spc="-43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1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13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319C7-1E44-42CB-96A2-7DA6CCC9520C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174143"/>
          </a:xfrm>
        </p:spPr>
        <p:txBody>
          <a:bodyPr/>
          <a:lstStyle>
            <a:lvl1pPr marL="0">
              <a:defRPr sz="40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571500" y="1840230"/>
            <a:ext cx="13658850" cy="576421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800"/>
            </a:lvl2pPr>
            <a:lvl3pPr>
              <a:lnSpc>
                <a:spcPct val="150000"/>
              </a:lnSpc>
              <a:defRPr sz="2800"/>
            </a:lvl3pPr>
            <a:lvl4pPr>
              <a:lnSpc>
                <a:spcPct val="150000"/>
              </a:lnSpc>
              <a:defRPr sz="2800"/>
            </a:lvl4pPr>
            <a:lvl5pPr>
              <a:lnSpc>
                <a:spcPct val="150000"/>
              </a:lnSpc>
              <a:defRPr sz="280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5475" y="7796213"/>
            <a:ext cx="298450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02125" y="7796213"/>
            <a:ext cx="582295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AA5908-AB13-4651-96C8-886DFB14A447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" name="Straight Connector 8"/>
          <p:cNvCxnSpPr/>
          <p:nvPr/>
        </p:nvCxnSpPr>
        <p:spPr>
          <a:xfrm>
            <a:off x="1458913" y="5243513"/>
            <a:ext cx="119237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1324880" y="916365"/>
            <a:ext cx="12144733" cy="4305808"/>
          </a:xfrm>
        </p:spPr>
        <p:txBody>
          <a:bodyPr/>
          <a:lstStyle>
            <a:lvl1pPr>
              <a:lnSpc>
                <a:spcPct val="85000"/>
              </a:lnSpc>
              <a:defRPr sz="685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677" name="Text Placeholder 2"/>
          <p:cNvSpPr>
            <a:spLocks noGrp="1"/>
          </p:cNvSpPr>
          <p:nvPr>
            <p:ph type="body" idx="1"/>
          </p:nvPr>
        </p:nvSpPr>
        <p:spPr>
          <a:xfrm>
            <a:off x="1324880" y="5376740"/>
            <a:ext cx="12144733" cy="1380067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55" cap="all" spc="171" baseline="0">
                <a:solidFill>
                  <a:schemeClr val="tx2"/>
                </a:solidFill>
                <a:latin typeface="+mj-lt"/>
              </a:defRPr>
            </a:lvl1pPr>
            <a:lvl2pPr marL="391795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2pPr>
            <a:lvl3pPr marL="782955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1747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6591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5770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488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7406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1318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DFA7B-901D-4AE2-A265-024E846A3B5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7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82" name="Content Placeholder 2"/>
          <p:cNvSpPr>
            <a:spLocks noGrp="1"/>
          </p:cNvSpPr>
          <p:nvPr>
            <p:ph sz="half" idx="1"/>
          </p:nvPr>
        </p:nvSpPr>
        <p:spPr>
          <a:xfrm>
            <a:off x="1324880" y="2228554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48683" name="Content Placeholder 3"/>
          <p:cNvSpPr>
            <a:spLocks noGrp="1"/>
          </p:cNvSpPr>
          <p:nvPr>
            <p:ph sz="half" idx="2"/>
          </p:nvPr>
        </p:nvSpPr>
        <p:spPr>
          <a:xfrm>
            <a:off x="7507655" y="2228555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4CABE-FB71-481A-AFC2-4FEBC2D4388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9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88" name="Text Placeholder 2"/>
          <p:cNvSpPr>
            <a:spLocks noGrp="1"/>
          </p:cNvSpPr>
          <p:nvPr>
            <p:ph type="body" idx="1"/>
          </p:nvPr>
        </p:nvSpPr>
        <p:spPr>
          <a:xfrm>
            <a:off x="1324882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048689" name="Content Placeholder 3"/>
          <p:cNvSpPr>
            <a:spLocks noGrp="1"/>
          </p:cNvSpPr>
          <p:nvPr>
            <p:ph sz="half" idx="2"/>
          </p:nvPr>
        </p:nvSpPr>
        <p:spPr>
          <a:xfrm>
            <a:off x="1324882" y="3117930"/>
            <a:ext cx="5961960" cy="4078864"/>
          </a:xfrm>
        </p:spPr>
        <p:txBody>
          <a:bodyPr/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4869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7655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048691" name="Content Placeholder 5"/>
          <p:cNvSpPr>
            <a:spLocks noGrp="1"/>
          </p:cNvSpPr>
          <p:nvPr>
            <p:ph sz="quarter" idx="4"/>
          </p:nvPr>
        </p:nvSpPr>
        <p:spPr>
          <a:xfrm>
            <a:off x="7507655" y="3117930"/>
            <a:ext cx="5961960" cy="4078864"/>
          </a:xfrm>
        </p:spPr>
        <p:txBody>
          <a:bodyPr>
            <a:normAutofit/>
          </a:bodyPr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FAD65B-5615-4FFB-BCFC-B0686AAE6D2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948690" y="334618"/>
            <a:ext cx="13498830" cy="1410166"/>
          </a:xfrm>
        </p:spPr>
        <p:txBody>
          <a:bodyPr/>
          <a:lstStyle>
            <a:lvl1pPr>
              <a:defRPr sz="411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D57C0-99D9-4441-A01C-6FA71EEA264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87B1D5-EAAB-4580-9B25-4062060462F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0" y="0"/>
            <a:ext cx="4891088" cy="828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/>
          <p:cNvSpPr/>
          <p:nvPr/>
        </p:nvSpPr>
        <p:spPr>
          <a:xfrm>
            <a:off x="4878388" y="0"/>
            <a:ext cx="76200" cy="828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02" name="Title 1"/>
          <p:cNvSpPr>
            <a:spLocks noGrp="1"/>
          </p:cNvSpPr>
          <p:nvPr>
            <p:ph type="title"/>
          </p:nvPr>
        </p:nvSpPr>
        <p:spPr>
          <a:xfrm>
            <a:off x="552035" y="717635"/>
            <a:ext cx="3864234" cy="2760133"/>
          </a:xfrm>
        </p:spPr>
        <p:txBody>
          <a:bodyPr/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703" name="Content Placeholder 2"/>
          <p:cNvSpPr>
            <a:spLocks noGrp="1"/>
          </p:cNvSpPr>
          <p:nvPr>
            <p:ph idx="1"/>
          </p:nvPr>
        </p:nvSpPr>
        <p:spPr>
          <a:xfrm>
            <a:off x="5796352" y="883244"/>
            <a:ext cx="7838874" cy="6348307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4870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035" y="3532972"/>
            <a:ext cx="3864234" cy="407997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561975" y="7799388"/>
            <a:ext cx="3162300" cy="4413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95963" y="7799388"/>
            <a:ext cx="5613400" cy="4413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D6116F-D484-47D6-B55B-05CD52E9C01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0" y="5980113"/>
            <a:ext cx="14717713" cy="2300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/>
          <p:cNvSpPr/>
          <p:nvPr/>
        </p:nvSpPr>
        <p:spPr>
          <a:xfrm>
            <a:off x="0" y="5934075"/>
            <a:ext cx="14717713" cy="77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1324880" y="6127496"/>
            <a:ext cx="12210976" cy="993648"/>
          </a:xfrm>
        </p:spPr>
        <p:txBody>
          <a:bodyPr tIns="0" bIns="0">
            <a:noAutofit/>
          </a:bodyPr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66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" y="1"/>
            <a:ext cx="14720870" cy="5934499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740">
                <a:solidFill>
                  <a:schemeClr val="bg1"/>
                </a:solidFill>
              </a:defRPr>
            </a:lvl1pPr>
            <a:lvl2pPr marL="391795" indent="0">
              <a:buNone/>
              <a:defRPr sz="2400"/>
            </a:lvl2pPr>
            <a:lvl3pPr marL="782955" indent="0">
              <a:buNone/>
              <a:defRPr sz="2055"/>
            </a:lvl3pPr>
            <a:lvl4pPr marL="1174750" indent="0">
              <a:buNone/>
              <a:defRPr sz="1715"/>
            </a:lvl4pPr>
            <a:lvl5pPr marL="1565910" indent="0">
              <a:buNone/>
              <a:defRPr sz="1715"/>
            </a:lvl5pPr>
            <a:lvl6pPr marL="1957705" indent="0">
              <a:buNone/>
              <a:defRPr sz="1715"/>
            </a:lvl6pPr>
            <a:lvl7pPr marL="2348865" indent="0">
              <a:buNone/>
              <a:defRPr sz="1715"/>
            </a:lvl7pPr>
            <a:lvl8pPr marL="2740660" indent="0">
              <a:buNone/>
              <a:defRPr sz="1715"/>
            </a:lvl8pPr>
            <a:lvl9pPr marL="3131820" indent="0">
              <a:buNone/>
              <a:defRPr sz="1715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4880" y="7132184"/>
            <a:ext cx="12210976" cy="717635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515"/>
              </a:spcAft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567A48-2896-4E63-882F-71F6C01DA13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B4D8E1-EC91-4847-8D4E-270B147E64B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56" name="Vertical Title 1"/>
          <p:cNvSpPr>
            <a:spLocks noGrp="1"/>
          </p:cNvSpPr>
          <p:nvPr>
            <p:ph type="title" orient="vert"/>
          </p:nvPr>
        </p:nvSpPr>
        <p:spPr>
          <a:xfrm>
            <a:off x="10534635" y="500808"/>
            <a:ext cx="3174192" cy="695155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2061" y="500806"/>
            <a:ext cx="9338563" cy="6951554"/>
          </a:xfrm>
        </p:spPr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9D5597-3EC6-42B8-B043-9035FE2C929C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/>
          <p:nvPr/>
        </p:nvSpPr>
        <p:spPr>
          <a:xfrm>
            <a:off x="0" y="7688263"/>
            <a:ext cx="14720888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55" dirty="0"/>
          </a:p>
        </p:txBody>
      </p:sp>
      <p:sp>
        <p:nvSpPr>
          <p:cNvPr id="1048577" name="Rectangle 8"/>
          <p:cNvSpPr/>
          <p:nvPr/>
        </p:nvSpPr>
        <p:spPr>
          <a:xfrm>
            <a:off x="0" y="7648575"/>
            <a:ext cx="14720888" cy="79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8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82613" y="346075"/>
            <a:ext cx="13498512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9" name="Text Placeholder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582613" y="1816100"/>
            <a:ext cx="13498512" cy="557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>
            <a:off x="1325563" y="7799388"/>
            <a:ext cx="298450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350" y="7799388"/>
            <a:ext cx="582295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BATCH ID : 24                                                     EXAM REPRESENTATION</a:t>
            </a:r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953875" y="7799388"/>
            <a:ext cx="1584325" cy="4413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B4E13C52-CF49-4C68-B257-8F1EDED75F76}" type="slidenum">
              <a:rPr lang="en-US" altLang="en-US"/>
              <a:t>‹#›</a:t>
            </a:fld>
            <a:endParaRPr lang="en-US" altLang="en-US"/>
          </a:p>
        </p:txBody>
      </p:sp>
      <p:cxnSp>
        <p:nvCxnSpPr>
          <p:cNvPr id="3145728" name="Straight Connector 9"/>
          <p:cNvCxnSpPr/>
          <p:nvPr/>
        </p:nvCxnSpPr>
        <p:spPr>
          <a:xfrm>
            <a:off x="582613" y="1644650"/>
            <a:ext cx="134985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 kern="1200" spc="-43">
          <a:solidFill>
            <a:srgbClr val="404040"/>
          </a:solidFill>
          <a:latin typeface="+mj-lt"/>
          <a:ea typeface="+mj-ea"/>
          <a:cs typeface="+mj-cs"/>
        </a:defRPr>
      </a:lvl1pPr>
      <a:lvl2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78105" indent="-78105" algn="l" defTabSz="782955" rtl="0" eaLnBrk="0" fontAlgn="base" hangingPunct="0">
        <a:lnSpc>
          <a:spcPct val="150000"/>
        </a:lnSpc>
        <a:spcBef>
          <a:spcPts val="1025"/>
        </a:spcBef>
        <a:spcAft>
          <a:spcPts val="175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rgbClr val="404040"/>
          </a:solidFill>
          <a:latin typeface="+mn-lt"/>
          <a:ea typeface="+mn-ea"/>
          <a:cs typeface="+mn-cs"/>
        </a:defRPr>
      </a:lvl1pPr>
      <a:lvl2pPr marL="32893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484505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3pPr>
      <a:lvl4pPr marL="64135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4pPr>
      <a:lvl5pPr marL="79883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5pPr>
      <a:lvl6pPr marL="9417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11315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2846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455420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9179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8295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3pPr>
      <a:lvl4pPr marL="117475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56591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195770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34886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74066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13182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Date Placeholder 1"/>
          <p:cNvSpPr>
            <a:spLocks noGrp="1" noChangeArrowheads="1"/>
          </p:cNvSpPr>
          <p:nvPr>
            <p:ph type="dt" sz="half" idx="10"/>
          </p:nvPr>
        </p:nvSpPr>
        <p:spPr bwMode="auto"/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/>
              <a:t>06/04/2026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PHASE II THIRD REVIEW                          </a:t>
            </a:r>
          </a:p>
        </p:txBody>
      </p:sp>
      <p:sp>
        <p:nvSpPr>
          <p:cNvPr id="1024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176E964-1996-4E91-8A8B-2E87A98B6DE2}" type="slidenum">
              <a:rPr lang="en-US" altLang="en-US"/>
              <a:t>1</a:t>
            </a:fld>
            <a:endParaRPr lang="en-US" altLang="en-US"/>
          </a:p>
        </p:txBody>
      </p:sp>
      <p:pic>
        <p:nvPicPr>
          <p:cNvPr id="1024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038" y="490538"/>
            <a:ext cx="15144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8"/>
          <p:cNvSpPr txBox="1">
            <a:spLocks noChangeArrowheads="1"/>
          </p:cNvSpPr>
          <p:nvPr/>
        </p:nvSpPr>
        <p:spPr bwMode="auto">
          <a:xfrm>
            <a:off x="2455863" y="552450"/>
            <a:ext cx="103028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3200" b="1" dirty="0"/>
              <a:t>SRI RAMAKRISHNA INSTITUTE OF TECHNOLOGY</a:t>
            </a:r>
            <a:endParaRPr lang="en-IN" altLang="en-US" sz="3200" b="1" dirty="0"/>
          </a:p>
        </p:txBody>
      </p:sp>
      <p:sp>
        <p:nvSpPr>
          <p:cNvPr id="10247" name="TextBox 10"/>
          <p:cNvSpPr txBox="1">
            <a:spLocks noChangeArrowheads="1"/>
          </p:cNvSpPr>
          <p:nvPr/>
        </p:nvSpPr>
        <p:spPr bwMode="auto">
          <a:xfrm>
            <a:off x="5699125" y="1138238"/>
            <a:ext cx="6783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(An Autonomous Institution) </a:t>
            </a:r>
            <a:endParaRPr lang="en-IN" altLang="en-US" dirty="0"/>
          </a:p>
        </p:txBody>
      </p:sp>
      <p:sp>
        <p:nvSpPr>
          <p:cNvPr id="10248" name="TextBox 11"/>
          <p:cNvSpPr txBox="1">
            <a:spLocks noChangeArrowheads="1"/>
          </p:cNvSpPr>
          <p:nvPr/>
        </p:nvSpPr>
        <p:spPr bwMode="auto">
          <a:xfrm>
            <a:off x="4221163" y="1585913"/>
            <a:ext cx="8920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 err="1"/>
              <a:t>Pachapalayam</a:t>
            </a:r>
            <a:r>
              <a:rPr lang="en-US" altLang="en-US"/>
              <a:t>, Perur Chettipalayam, Coimbatore- 641 010</a:t>
            </a:r>
            <a:endParaRPr lang="en-IN" altLang="en-US"/>
          </a:p>
        </p:txBody>
      </p:sp>
      <p:sp>
        <p:nvSpPr>
          <p:cNvPr id="10249" name="TextBox 12"/>
          <p:cNvSpPr txBox="1">
            <a:spLocks noChangeArrowheads="1"/>
          </p:cNvSpPr>
          <p:nvPr/>
        </p:nvSpPr>
        <p:spPr bwMode="auto">
          <a:xfrm>
            <a:off x="2222500" y="2090738"/>
            <a:ext cx="10918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2800" b="1" dirty="0"/>
              <a:t>DEPARTMENT OF COMPUTER SCIENCE AND ENGINEERING</a:t>
            </a:r>
            <a:endParaRPr lang="en-IN" altLang="en-US" sz="2800" b="1" dirty="0"/>
          </a:p>
        </p:txBody>
      </p:sp>
      <p:sp>
        <p:nvSpPr>
          <p:cNvPr id="10250" name="TextBox 14"/>
          <p:cNvSpPr txBox="1">
            <a:spLocks noChangeArrowheads="1"/>
          </p:cNvSpPr>
          <p:nvPr/>
        </p:nvSpPr>
        <p:spPr bwMode="auto">
          <a:xfrm>
            <a:off x="656863" y="5211790"/>
            <a:ext cx="5042262" cy="230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Presented by:</a:t>
            </a:r>
          </a:p>
          <a:p>
            <a:r>
              <a:rPr lang="en-US" altLang="en-US" dirty="0"/>
              <a:t>               </a:t>
            </a:r>
          </a:p>
          <a:p>
            <a:r>
              <a:rPr lang="en-US" altLang="en-US" dirty="0"/>
              <a:t>               </a:t>
            </a:r>
            <a:r>
              <a:rPr lang="en-US" altLang="en-GB" dirty="0">
                <a:sym typeface="+mn-ea"/>
              </a:rPr>
              <a:t>SANJAY S                        -    71382202130</a:t>
            </a:r>
            <a:endParaRPr lang="en-IN" altLang="en-US" dirty="0"/>
          </a:p>
          <a:p>
            <a:r>
              <a:rPr lang="en-US" altLang="en-US" dirty="0"/>
              <a:t>               </a:t>
            </a:r>
            <a:r>
              <a:rPr lang="en-US" altLang="en-US" dirty="0">
                <a:sym typeface="+mn-ea"/>
              </a:rPr>
              <a:t>SARUKESH  A                </a:t>
            </a:r>
            <a:r>
              <a:rPr lang="en-US" altLang="en-GB" dirty="0">
                <a:sym typeface="+mn-ea"/>
              </a:rPr>
              <a:t> </a:t>
            </a:r>
            <a:r>
              <a:rPr lang="en-GB" altLang="en-US" dirty="0">
                <a:sym typeface="+mn-ea"/>
              </a:rPr>
              <a:t>-   71382202134</a:t>
            </a:r>
            <a:endParaRPr lang="en-US" altLang="en-US" dirty="0"/>
          </a:p>
          <a:p>
            <a:r>
              <a:rPr lang="en-US" altLang="en-GB" dirty="0"/>
              <a:t>               SOORAJ R NAIR             -   </a:t>
            </a:r>
            <a:r>
              <a:rPr lang="en-GB" altLang="en-GB" dirty="0"/>
              <a:t>71382202152</a:t>
            </a:r>
            <a:endParaRPr lang="en-US" altLang="en-US" dirty="0"/>
          </a:p>
          <a:p>
            <a:r>
              <a:rPr lang="en-US" altLang="en-US" dirty="0"/>
              <a:t>	       VIGNESHWARAN  S</a:t>
            </a:r>
            <a:r>
              <a:rPr lang="en-US" altLang="en-GB" dirty="0"/>
              <a:t>      </a:t>
            </a:r>
            <a:r>
              <a:rPr lang="en-GB" altLang="en-US" dirty="0"/>
              <a:t>-   71382202173</a:t>
            </a:r>
            <a:endParaRPr lang="en-US" altLang="en-US" dirty="0"/>
          </a:p>
          <a:p>
            <a:r>
              <a:rPr lang="en-US" altLang="en-US" dirty="0"/>
              <a:t>	     </a:t>
            </a:r>
            <a:endParaRPr lang="en-US" altLang="en-GB" dirty="0"/>
          </a:p>
          <a:p>
            <a:r>
              <a:rPr lang="en-US" altLang="en-GB" dirty="0"/>
              <a:t>             </a:t>
            </a:r>
            <a:endParaRPr lang="en-I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707563" y="5289550"/>
            <a:ext cx="3956050" cy="175323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Guided by: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MS A JAYASMRUTHI </a:t>
            </a:r>
            <a:endParaRPr lang="en-GB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ea typeface="Times New Roman" panose="02020603050405020304" pitchFamily="18" charset="0"/>
              </a:rPr>
              <a:t>        Assistant</a:t>
            </a:r>
            <a:r>
              <a:rPr lang="en-US" spc="5" dirty="0">
                <a:latin typeface="+mn-lt"/>
                <a:ea typeface="Times New Roman" panose="02020603050405020304" pitchFamily="18" charset="0"/>
              </a:rPr>
              <a:t> </a:t>
            </a:r>
            <a:r>
              <a:rPr lang="en-US" spc="-5" dirty="0">
                <a:latin typeface="+mn-lt"/>
                <a:ea typeface="Times New Roman" panose="02020603050405020304" pitchFamily="18" charset="0"/>
              </a:rPr>
              <a:t>Professor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pc="-5" dirty="0">
                <a:latin typeface="+mn-lt"/>
              </a:rPr>
              <a:t>        Department of CSE</a:t>
            </a:r>
            <a:endParaRPr lang="en-IN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+mn-lt"/>
            </a:endParaRPr>
          </a:p>
        </p:txBody>
      </p:sp>
      <p:sp>
        <p:nvSpPr>
          <p:cNvPr id="10252" name="TextBox 17"/>
          <p:cNvSpPr txBox="1">
            <a:spLocks noChangeArrowheads="1"/>
          </p:cNvSpPr>
          <p:nvPr/>
        </p:nvSpPr>
        <p:spPr bwMode="auto">
          <a:xfrm>
            <a:off x="2984500" y="2761615"/>
            <a:ext cx="8412480" cy="87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algn="ctr"/>
            <a:r>
              <a:rPr lang="en-US" altLang="en-US" sz="2400" dirty="0"/>
              <a:t>20CS902 - FYP  Phase II </a:t>
            </a:r>
          </a:p>
          <a:p>
            <a:pPr algn="ctr"/>
            <a:r>
              <a:rPr lang="en-US" altLang="en-US" sz="2400" dirty="0"/>
              <a:t>THIRD REVIEW </a:t>
            </a:r>
            <a:br>
              <a:rPr lang="en-US" altLang="en-US" sz="2400" dirty="0"/>
            </a:br>
            <a:r>
              <a:rPr lang="en-US" altLang="en-US" sz="2400" dirty="0"/>
              <a:t>BATCH NO : 39</a:t>
            </a:r>
          </a:p>
          <a:p>
            <a:pPr algn="ctr"/>
            <a:endParaRPr lang="en-US" altLang="en-US" sz="2400" dirty="0"/>
          </a:p>
          <a:p>
            <a:pPr algn="ctr"/>
            <a:endParaRPr lang="en-US" altLang="en-US" sz="2400" dirty="0"/>
          </a:p>
        </p:txBody>
      </p:sp>
      <p:sp>
        <p:nvSpPr>
          <p:cNvPr id="10253" name="TextBox 15"/>
          <p:cNvSpPr txBox="1">
            <a:spLocks noChangeArrowheads="1"/>
          </p:cNvSpPr>
          <p:nvPr/>
        </p:nvSpPr>
        <p:spPr bwMode="auto">
          <a:xfrm>
            <a:off x="1003935" y="3885565"/>
            <a:ext cx="12659360" cy="162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algn="ctr"/>
            <a:r>
              <a:rPr lang="en-US" altLang="en-IN" sz="2800" b="1" dirty="0"/>
              <a:t>  </a:t>
            </a:r>
            <a:r>
              <a:rPr lang="en-US" sz="2800" b="1" spc="50" dirty="0">
                <a:latin typeface="Times New Roman" panose="02020603050405020304"/>
              </a:rPr>
              <a:t>ADDRESSING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THE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INCOME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GAP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50" dirty="0">
                <a:latin typeface="Times New Roman" panose="02020603050405020304"/>
              </a:rPr>
              <a:t>CAUSED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BY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55" dirty="0">
                <a:latin typeface="Times New Roman" panose="02020603050405020304"/>
              </a:rPr>
              <a:t>MIDDLEMEN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15" dirty="0">
                <a:latin typeface="Times New Roman" panose="02020603050405020304"/>
              </a:rPr>
              <a:t>IN </a:t>
            </a:r>
            <a:r>
              <a:rPr lang="en-US" sz="2800" b="1" dirty="0">
                <a:latin typeface="Times New Roman" panose="02020603050405020304"/>
              </a:rPr>
              <a:t>AGRICULTURAL MARKETING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spc="55" dirty="0">
                <a:latin typeface="Times New Roman" panose="02020603050405020304"/>
              </a:rPr>
              <a:t>THROUGH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DIRECT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spc="-10" dirty="0">
                <a:latin typeface="Times New Roman" panose="02020603050405020304"/>
              </a:rPr>
              <a:t>FARMER-</a:t>
            </a:r>
            <a:r>
              <a:rPr lang="en-US" sz="2800" b="1" dirty="0">
                <a:latin typeface="Times New Roman" panose="02020603050405020304"/>
              </a:rPr>
              <a:t>TO-</a:t>
            </a:r>
            <a:r>
              <a:rPr lang="en-US" sz="2800" b="1" spc="60" dirty="0">
                <a:latin typeface="Times New Roman" panose="02020603050405020304"/>
              </a:rPr>
              <a:t>CONSUMER </a:t>
            </a:r>
            <a:r>
              <a:rPr lang="en-US" sz="2800" b="1" spc="65" dirty="0">
                <a:latin typeface="Times New Roman" panose="02020603050405020304"/>
              </a:rPr>
              <a:t>SOLUTIONS</a:t>
            </a:r>
            <a:endParaRPr lang="en-US" sz="2800" dirty="0">
              <a:latin typeface="Times New Roman" panose="02020603050405020304"/>
            </a:endParaRPr>
          </a:p>
          <a:p>
            <a:pPr algn="ctr"/>
            <a:endParaRPr lang="en-US" altLang="en-IN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03" y="555867"/>
            <a:ext cx="927432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019" y="353695"/>
            <a:ext cx="13658850" cy="1174143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CONTENT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96" y="1527884"/>
            <a:ext cx="13658850" cy="5911411"/>
          </a:xfrm>
        </p:spPr>
        <p:txBody>
          <a:bodyPr>
            <a:noAutofit/>
          </a:bodyPr>
          <a:lstStyle/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Progress Overview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Challenges And Solutions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Updated Methodology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System Architecture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Implementation Updates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Results And Analysis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Conclusion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References</a:t>
            </a:r>
          </a:p>
          <a:p>
            <a:pPr marL="173355" lvl="1" indent="0" eaLnBrk="1" hangingPunct="1">
              <a:buClr>
                <a:srgbClr val="000000"/>
              </a:buClr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173355" lvl="1" indent="0" eaLnBrk="1" hangingPunct="1">
              <a:buClr>
                <a:srgbClr val="000000"/>
              </a:buClr>
              <a:buNone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06/04/2026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91146" y="7796212"/>
            <a:ext cx="5822950" cy="439737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PHASE II THIRD REVIEW</a:t>
            </a:r>
            <a:r>
              <a:rPr lang="en-US" dirty="0">
                <a:sym typeface="+mn-ea"/>
              </a:rPr>
              <a:t> </a:t>
            </a:r>
            <a:r>
              <a:rPr lang="en-US" dirty="0"/>
              <a:t>                             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953875" y="7838758"/>
            <a:ext cx="1584325" cy="441325"/>
          </a:xfrm>
        </p:spPr>
        <p:txBody>
          <a:bodyPr/>
          <a:lstStyle/>
          <a:p>
            <a:fld id="{0874CABE-FB71-481A-AFC2-4FEBC2D43889}" type="slidenum">
              <a:rPr lang="en-US" altLang="en-US" smtClean="0"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720725"/>
            <a:ext cx="5179305" cy="836295"/>
          </a:xfrm>
        </p:spPr>
        <p:txBody>
          <a:bodyPr/>
          <a:lstStyle/>
          <a:p>
            <a:r>
              <a:rPr lang="en-US" altLang="en-IN" sz="2800" b="1" dirty="0">
                <a:solidFill>
                  <a:schemeClr val="tx1"/>
                </a:solidFill>
              </a:rPr>
              <a:t>PROGRESS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851247"/>
            <a:ext cx="13706360" cy="576421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400" spc="-20" dirty="0">
                <a:solidFill>
                  <a:schemeClr val="tx1"/>
                </a:solidFill>
              </a:rPr>
              <a:t> </a:t>
            </a:r>
            <a:r>
              <a:rPr lang="en-US" sz="2400" dirty="0"/>
              <a:t>Full-stack MERN application deployed with farmer and consumer portals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Product upload, listing, and real-time inventory management completed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End-to-end order placement, confirmation, and status tracking implemented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JWT-based authentication and role-based access control integrated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MongoDB schema optimized with indexing for fast query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Payment verification and automated notification system completed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2400" spc="-2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5474" y="7796213"/>
            <a:ext cx="3906963" cy="439737"/>
          </a:xfrm>
        </p:spPr>
        <p:txBody>
          <a:bodyPr/>
          <a:lstStyle/>
          <a:p>
            <a:pPr>
              <a:defRPr/>
            </a:pPr>
            <a:r>
              <a:rPr lang="en-US" dirty="0"/>
              <a:t>06/04/2026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02124" y="7796213"/>
            <a:ext cx="7622733" cy="439737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PHASE II THIRD REVIEW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953875" y="7799388"/>
            <a:ext cx="2074015" cy="441325"/>
          </a:xfrm>
        </p:spPr>
        <p:txBody>
          <a:bodyPr/>
          <a:lstStyle/>
          <a:p>
            <a:fld id="{0874CABE-FB71-481A-AFC2-4FEBC2D43889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38" y="675957"/>
            <a:ext cx="10701020" cy="1174115"/>
          </a:xfrm>
        </p:spPr>
        <p:txBody>
          <a:bodyPr/>
          <a:lstStyle/>
          <a:p>
            <a:r>
              <a:rPr lang="en-US" altLang="en-US" sz="2800" b="1" dirty="0">
                <a:solidFill>
                  <a:schemeClr val="tx1"/>
                </a:solidFill>
                <a:sym typeface="+mn-ea"/>
              </a:rPr>
              <a:t>CHALLENGES AND SOLUTIONS                                                                                                                          </a:t>
            </a:r>
            <a:br>
              <a:rPr lang="en-US" altLang="en-US" sz="2800" b="1" dirty="0">
                <a:solidFill>
                  <a:schemeClr val="tx1"/>
                </a:solidFill>
              </a:rPr>
            </a:b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2600" dirty="0">
                <a:solidFill>
                  <a:schemeClr val="tx1"/>
                </a:solidFill>
              </a:rPr>
              <a:t> </a:t>
            </a:r>
            <a:r>
              <a:rPr lang="en-US" sz="2400" b="1" dirty="0"/>
              <a:t>Challenge 1: User Authentication &amp; Session Management</a:t>
            </a:r>
          </a:p>
          <a:p>
            <a:r>
              <a:rPr lang="en-US" sz="2400" dirty="0"/>
              <a:t>Managing secure login sessions across farmer and consumer roles with token expiry handling was complex.</a:t>
            </a:r>
          </a:p>
          <a:p>
            <a:r>
              <a:rPr lang="en-US" sz="2400" b="1" dirty="0"/>
              <a:t>Solution:</a:t>
            </a:r>
            <a:br>
              <a:rPr lang="en-US" sz="2400" dirty="0"/>
            </a:br>
            <a:r>
              <a:rPr lang="en-US" sz="2400" dirty="0"/>
              <a:t>Implemented JWT-based authentication with refresh token logic and role-based route guards on both frontend and backend.</a:t>
            </a:r>
          </a:p>
          <a:p>
            <a:endParaRPr lang="en-US" sz="2400" dirty="0"/>
          </a:p>
          <a:p>
            <a:pPr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06/04/2026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39                          </a:t>
            </a:r>
            <a:r>
              <a:rPr lang="en-US" dirty="0"/>
              <a:t>PHASE II THIRD REVIEW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F226-0A9B-D1BE-DDD6-62B339E5B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180943"/>
          </a:xfrm>
        </p:spPr>
        <p:txBody>
          <a:bodyPr/>
          <a:lstStyle/>
          <a:p>
            <a:r>
              <a:rPr lang="en-US" sz="2800" b="1" dirty="0"/>
              <a:t>CHALLENGES AND SOLUTIONS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087B0-9DF0-0DCF-17AA-254D4195A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630496"/>
            <a:ext cx="13658850" cy="597394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Challenge 2: Real-Time Order Status Updates</a:t>
            </a:r>
          </a:p>
          <a:p>
            <a:r>
              <a:rPr lang="en-US" dirty="0"/>
              <a:t>Keeping order status in sync between farmer and consumer dashboards without page refresh was difficult.</a:t>
            </a:r>
          </a:p>
          <a:p>
            <a:r>
              <a:rPr lang="en-US" b="1" dirty="0"/>
              <a:t>Solution:</a:t>
            </a:r>
            <a:br>
              <a:rPr lang="en-US" dirty="0"/>
            </a:br>
            <a:r>
              <a:rPr lang="en-US" dirty="0"/>
              <a:t>Implemented polling-based status updates and optimized MongoDB queries with indexing to reflect order changes instantly.</a:t>
            </a:r>
          </a:p>
          <a:p>
            <a:r>
              <a:rPr lang="en-US" b="1" dirty="0"/>
              <a:t>Challenge 3: Scalable Product Search &amp; Filtering</a:t>
            </a:r>
          </a:p>
          <a:p>
            <a:r>
              <a:rPr lang="en-US" dirty="0"/>
              <a:t>Allowing consumers to filter products by category, price, and location efficiently across large datasets was challenging.</a:t>
            </a:r>
          </a:p>
          <a:p>
            <a:r>
              <a:rPr lang="en-US" b="1" dirty="0"/>
              <a:t>Solution:</a:t>
            </a:r>
            <a:br>
              <a:rPr lang="en-US" dirty="0"/>
            </a:br>
            <a:r>
              <a:rPr lang="en-US" dirty="0"/>
              <a:t>Built server-side filtering with MongoDB aggregation pipelines and added pagination to handle large product catalogs efficiently.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8A2BC-E8C9-7AAE-F82E-6C69DC680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06/04/2026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2B2E6-E739-399F-EFEA-F3D62926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PHASE II THIRD REVIEW        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B7EE5-B036-C4AA-B6F4-8E356BC8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5102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UPDATED METHODOLOGY</a:t>
            </a:r>
            <a:br>
              <a:rPr lang="en-IN" sz="2800" b="1" dirty="0"/>
            </a:br>
            <a:br>
              <a:rPr lang="en-IN" sz="2800" b="1" dirty="0"/>
            </a:br>
            <a:r>
              <a:rPr lang="en-IN" sz="2800" b="1" dirty="0"/>
              <a:t>USE-CASE DIADRAM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06/04/2026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PHASE II THIRD REVIEW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  <a:t>6</a:t>
            </a:fld>
            <a:endParaRPr lang="en-US" altLang="en-US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4723" y="1839913"/>
            <a:ext cx="7912404" cy="57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3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FLOW DIAGRAM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06/04/2026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PHASE II THIRD REVIEW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  <a:t>7</a:t>
            </a:fld>
            <a:endParaRPr lang="en-US" altLang="en-US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7766" y="1839913"/>
            <a:ext cx="8646318" cy="57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89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tx1"/>
                </a:solidFill>
              </a:rPr>
              <a:t>SYSTEM ARCHITECTURE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IN" sz="2400" b="1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06/04/2026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PHASE II THIRD REVIEW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  <a:t>8</a:t>
            </a:fld>
            <a:endParaRPr lang="en-US" altLang="en-US"/>
          </a:p>
        </p:txBody>
      </p:sp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3811712" y="1756881"/>
            <a:ext cx="7058345" cy="5239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2BA429-A36B-E598-0EEE-33F3D832E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06/04/2026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D94B7-DADC-C7A4-90A5-ECDC886E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PHASE II THIRD REVIEW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ECD34-5C28-D5DD-29E3-B8078354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B1D5-EAAB-4580-9B25-4062060462FE}" type="slidenum">
              <a:rPr lang="en-US" altLang="en-US" smtClean="0"/>
              <a:t>9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ACF95-922B-656E-E0FC-EE273B040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73" y="338322"/>
            <a:ext cx="6502734" cy="24048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88C50C-914C-521B-CD73-C76F53D89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2660"/>
            <a:ext cx="7182998" cy="51120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079290-843C-102A-EBE7-1BD5AC9E1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617" y="39687"/>
            <a:ext cx="7449271" cy="681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53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248F0-1CEB-5516-BC68-F1A23C1C8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05/04/2026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8F341A-655B-C162-7163-5C73C8507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PHASE II THIRD REVIEW                                   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24EB4-5DD8-6444-7C0D-594C24DA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B1D5-EAAB-4580-9B25-4062060462FE}" type="slidenum">
              <a:rPr lang="en-US" altLang="en-US" smtClean="0"/>
              <a:t>10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67EAC4-C9D2-559F-B0D0-68C98351D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436" y="1507989"/>
            <a:ext cx="11964015" cy="526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72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2800" b="1" dirty="0">
                <a:solidFill>
                  <a:schemeClr val="tx1"/>
                </a:solidFill>
              </a:rPr>
              <a:t>RESULTS AND ANALYSIS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IN" sz="24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12</a:t>
            </a:r>
            <a:r>
              <a:rPr lang="en-IN" dirty="0"/>
              <a:t>/</a:t>
            </a:r>
            <a:r>
              <a:rPr lang="en-US" dirty="0"/>
              <a:t>02/2026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PHASE II THIRD REVIEW</a:t>
            </a:r>
            <a:r>
              <a:rPr lang="en-US" dirty="0">
                <a:sym typeface="+mn-ea"/>
              </a:rPr>
              <a:t>    </a:t>
            </a:r>
            <a:r>
              <a:rPr lang="en-US" dirty="0"/>
              <a:t>                   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  <a:t>11</a:t>
            </a:fld>
            <a:endParaRPr lang="en-US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492125" y="1920875"/>
            <a:ext cx="13892530" cy="5294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/>
              <a:t>The complete Farm Direct Connect platform is functional end-to-end with all core modules working.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8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/>
              <a:t>Farmers can register, list products, manage inventory, and track orders from a dedicated dashboard.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8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/>
              <a:t>Consumers can browse products, place orders, make payments, and receive real-time status updates.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8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/>
              <a:t>The system eliminates middlemen — farmers earn 30–50% more income by selling directly to consumers.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/>
              <a:t>Tested with 100+ simulated users; average API response time under 300ms.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4D42A-66A9-2DD3-A9D8-6A16852E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CONCLUSION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D1A5D-93A5-4844-8C20-5B6091465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Direct Farmer-to-Consumer platform has been successfully developed using </a:t>
            </a:r>
            <a:r>
              <a:rPr lang="en-US" b="1" dirty="0"/>
              <a:t>HTML, CSS, JavaScript, Node.js, and MongoDB</a:t>
            </a:r>
            <a:r>
              <a:rPr lang="en-US" dirty="0"/>
              <a:t>. The system provides an efficient digital solution to reduce the income gap caused by middlemen in agricultural marketing.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platform successfully eliminates agricultural middlemen, enabling farmers to earn 30–50% higher income while consumers access fresh produce at 15–25% lower prices. The system promotes transparency, fair pricing, and sustainable agricultural commerce.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project has achieved all its Phase II objectives. With planned mobile app development and AI-based pricing, the platform is well-positioned for real-world deployment and largescale adoption.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BA993-5CDD-9A5F-56F4-4A215EF51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06/04/2026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8BE26-4B54-56A8-4814-BCBB5B72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PHASE II THIRD REVIEW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E3497-5CBB-EDE8-4F40-594F61660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7754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390678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D. S. V. Gowd, N. V. R. Reddy and K. Aravind, “Farmer To Consumer,” Conference Paper, Parul University, Mar. 2025.</a:t>
            </a: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P. Kushwaha, S. Mansoori, M. Patil, and R.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Baheti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“Transforming Agriculture: Enhancing Farmer-to-Consumer Connectivity Through Smart E-Commerce Platforms” Int. J. Sci. Res. Eng. Manag., vol. 9, no. 4, pp. 1–2, Apr. 2025.</a:t>
            </a: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A. S., A. S. V., M. M., and A. Jeyamurugan, “Web Based Application for Direct Market Access for Farmers,” Int. J. Creates. Thoughts, vol. 13, no. 4, pp. 192–197, Apr. 2025.</a:t>
            </a: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N. Anusha, P. S. Keerthi, M. R. Reddy, A. Ramesh, and M. R.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Ignatious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, “Farm to Home: An E-commerce Application for Farmers and Consumers,” in Advances in Computational Intelligence and its Applications, May 2024. DOI: 10.1201/9781003488682-5.</a:t>
            </a: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Uplaonkar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and S. Biradar, “Middleman Growth in Agricultural Field and Its Impact on Farmers,” Int. J.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Creat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. Res. Thoughts, vol. 8, no. 3, pp. 3314–3317, Mar. 2020.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06/04/2026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PHASE II THIRD REVIEW</a:t>
            </a:r>
            <a:r>
              <a:rPr lang="en-US" dirty="0">
                <a:sym typeface="+mn-ea"/>
              </a:rPr>
              <a:t>     </a:t>
            </a:r>
            <a:r>
              <a:rPr lang="en-US" dirty="0"/>
              <a:t>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3314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6469" y="7839076"/>
            <a:ext cx="5284338" cy="441324"/>
          </a:xfrm>
        </p:spPr>
        <p:txBody>
          <a:bodyPr/>
          <a:lstStyle/>
          <a:p>
            <a:pPr>
              <a:defRPr/>
            </a:pPr>
            <a:r>
              <a:rPr lang="en-US" dirty="0"/>
              <a:t>06</a:t>
            </a:r>
            <a:r>
              <a:rPr lang="en-IN" dirty="0"/>
              <a:t>/</a:t>
            </a:r>
            <a:r>
              <a:rPr lang="en-US" dirty="0"/>
              <a:t>02/2026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51349" y="7799388"/>
            <a:ext cx="7030901" cy="44132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              PHASE II THIRD REVIEW</a:t>
            </a:r>
            <a:r>
              <a:rPr lang="en-US" dirty="0">
                <a:sym typeface="+mn-ea"/>
              </a:rPr>
              <a:t>    </a:t>
            </a:r>
            <a:r>
              <a:rPr lang="en-US" dirty="0"/>
              <a:t>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>
                <a:solidFill>
                  <a:schemeClr val="bg1">
                    <a:lumMod val="75000"/>
                  </a:schemeClr>
                </a:solidFill>
              </a:rPr>
              <a:t>14</a:t>
            </a:fld>
            <a:endParaRPr lang="en-US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79984" y="753203"/>
            <a:ext cx="7360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8000" b="1" dirty="0">
                <a:solidFill>
                  <a:schemeClr val="tx1"/>
                </a:solidFill>
              </a:rPr>
              <a:t> </a:t>
            </a:r>
          </a:p>
          <a:p>
            <a:pPr marL="641350" lvl="4" indent="0" eaLnBrk="1" hangingPunct="1">
              <a:buFont typeface="Calibri" panose="020F0502020204030204" pitchFamily="34" charset="0"/>
              <a:buNone/>
            </a:pPr>
            <a:r>
              <a:rPr lang="en-US" altLang="en-US" sz="8000" b="1" dirty="0">
                <a:solidFill>
                  <a:schemeClr val="tx1"/>
                </a:solidFill>
              </a:rPr>
              <a:t>                </a:t>
            </a:r>
            <a:r>
              <a:rPr lang="en-US" altLang="en-US" sz="8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C45AC1"/>
      </a:accent1>
      <a:accent2>
        <a:srgbClr val="803677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2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918</Words>
  <Application>Microsoft Office PowerPoint</Application>
  <PresentationFormat>Custom</PresentationFormat>
  <Paragraphs>113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Merriweather</vt:lpstr>
      <vt:lpstr>Times New Roman</vt:lpstr>
      <vt:lpstr>Wingdings</vt:lpstr>
      <vt:lpstr>Retrospect</vt:lpstr>
      <vt:lpstr>PowerPoint Presentation</vt:lpstr>
      <vt:lpstr>CONTENT OUTLINE</vt:lpstr>
      <vt:lpstr>PROGRESS OVERVIEW</vt:lpstr>
      <vt:lpstr>CHALLENGES AND SOLUTIONS                                                                                                                           </vt:lpstr>
      <vt:lpstr>CHALLENGES AND SOLUTIONS</vt:lpstr>
      <vt:lpstr>UPDATED METHODOLOGY  USE-CASE DIADRAM</vt:lpstr>
      <vt:lpstr>DATA FLOW DIAGRAM</vt:lpstr>
      <vt:lpstr>SYSTEM ARCHITECTURE</vt:lpstr>
      <vt:lpstr>PowerPoint Presentation</vt:lpstr>
      <vt:lpstr>PowerPoint Presentation</vt:lpstr>
      <vt:lpstr>RESULTS AND ANALYSIS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meena</dc:creator>
  <cp:lastModifiedBy>sk sarukesh</cp:lastModifiedBy>
  <cp:revision>229</cp:revision>
  <dcterms:created xsi:type="dcterms:W3CDTF">2025-10-28T08:34:00Z</dcterms:created>
  <dcterms:modified xsi:type="dcterms:W3CDTF">2026-04-05T15:54:01Z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DDECA99B81F04F6489559962C89CDEC8_13</vt:lpwstr>
  </property>
  <property fmtid="{D5CDD505-2E9C-101B-9397-08002B2CF9AE}" pid="3" name="KSOProductBuildVer">
    <vt:lpwstr>1033-12.2.0.23131</vt:lpwstr>
  </property>
</Properties>
</file>