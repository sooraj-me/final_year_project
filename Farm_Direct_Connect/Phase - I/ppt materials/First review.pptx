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4719300" cy="8280400"/>
  <p:notesSz cx="14719300" cy="8280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4423" y="2566924"/>
            <a:ext cx="12516803" cy="1738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08847" y="4637024"/>
            <a:ext cx="10307955" cy="207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6282" y="1904492"/>
            <a:ext cx="6405658" cy="5465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83709" y="1904492"/>
            <a:ext cx="6405658" cy="5465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728204"/>
            <a:ext cx="14720569" cy="512445"/>
          </a:xfrm>
          <a:custGeom>
            <a:avLst/>
            <a:gdLst/>
            <a:ahLst/>
            <a:cxnLst/>
            <a:rect l="l" t="t" r="r" b="b"/>
            <a:pathLst>
              <a:path w="14720569" h="512445">
                <a:moveTo>
                  <a:pt x="0" y="512062"/>
                </a:moveTo>
                <a:lnTo>
                  <a:pt x="14720316" y="512062"/>
                </a:lnTo>
                <a:lnTo>
                  <a:pt x="14720316" y="0"/>
                </a:lnTo>
                <a:lnTo>
                  <a:pt x="0" y="0"/>
                </a:lnTo>
                <a:lnTo>
                  <a:pt x="0" y="512062"/>
                </a:lnTo>
                <a:close/>
              </a:path>
            </a:pathLst>
          </a:custGeom>
          <a:solidFill>
            <a:srgbClr val="8036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7648956"/>
            <a:ext cx="14720569" cy="79375"/>
          </a:xfrm>
          <a:custGeom>
            <a:avLst/>
            <a:gdLst/>
            <a:ahLst/>
            <a:cxnLst/>
            <a:rect l="l" t="t" r="r" b="b"/>
            <a:pathLst>
              <a:path w="14720569" h="79375">
                <a:moveTo>
                  <a:pt x="14720316" y="0"/>
                </a:moveTo>
                <a:lnTo>
                  <a:pt x="0" y="0"/>
                </a:lnTo>
                <a:lnTo>
                  <a:pt x="0" y="79247"/>
                </a:lnTo>
                <a:lnTo>
                  <a:pt x="14720316" y="79247"/>
                </a:lnTo>
                <a:lnTo>
                  <a:pt x="14720316" y="0"/>
                </a:lnTo>
                <a:close/>
              </a:path>
            </a:pathLst>
          </a:custGeom>
          <a:solidFill>
            <a:srgbClr val="C45A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82168" y="1644396"/>
            <a:ext cx="13498830" cy="0"/>
          </a:xfrm>
          <a:custGeom>
            <a:avLst/>
            <a:gdLst/>
            <a:ahLst/>
            <a:cxnLst/>
            <a:rect l="l" t="t" r="r" b="b"/>
            <a:pathLst>
              <a:path w="13498830" h="0">
                <a:moveTo>
                  <a:pt x="0" y="0"/>
                </a:moveTo>
                <a:lnTo>
                  <a:pt x="13498449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825500"/>
            <a:ext cx="13506246" cy="7749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2749" y="1855978"/>
            <a:ext cx="13618844" cy="527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634733" y="7911398"/>
            <a:ext cx="1311529" cy="226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04189" y="7804718"/>
            <a:ext cx="1539265" cy="33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229589" y="7915361"/>
            <a:ext cx="26924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7648956"/>
            <a:ext cx="14720569" cy="631190"/>
            <a:chOff x="0" y="7648956"/>
            <a:chExt cx="14720569" cy="631190"/>
          </a:xfrm>
        </p:grpSpPr>
        <p:sp>
          <p:nvSpPr>
            <p:cNvPr id="3" name="object 3" descr=""/>
            <p:cNvSpPr/>
            <p:nvPr/>
          </p:nvSpPr>
          <p:spPr>
            <a:xfrm>
              <a:off x="3047" y="7728203"/>
              <a:ext cx="14717394" cy="551815"/>
            </a:xfrm>
            <a:custGeom>
              <a:avLst/>
              <a:gdLst/>
              <a:ahLst/>
              <a:cxnLst/>
              <a:rect l="l" t="t" r="r" b="b"/>
              <a:pathLst>
                <a:path w="14717394" h="551815">
                  <a:moveTo>
                    <a:pt x="14717267" y="0"/>
                  </a:moveTo>
                  <a:lnTo>
                    <a:pt x="0" y="0"/>
                  </a:lnTo>
                  <a:lnTo>
                    <a:pt x="0" y="551687"/>
                  </a:lnTo>
                  <a:lnTo>
                    <a:pt x="14717267" y="551687"/>
                  </a:lnTo>
                  <a:lnTo>
                    <a:pt x="14717267" y="0"/>
                  </a:lnTo>
                  <a:close/>
                </a:path>
              </a:pathLst>
            </a:custGeom>
            <a:solidFill>
              <a:srgbClr val="8036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7648956"/>
              <a:ext cx="14717394" cy="76200"/>
            </a:xfrm>
            <a:custGeom>
              <a:avLst/>
              <a:gdLst/>
              <a:ahLst/>
              <a:cxnLst/>
              <a:rect l="l" t="t" r="r" b="b"/>
              <a:pathLst>
                <a:path w="14717394" h="76200">
                  <a:moveTo>
                    <a:pt x="14717267" y="0"/>
                  </a:moveTo>
                  <a:lnTo>
                    <a:pt x="0" y="0"/>
                  </a:lnTo>
                  <a:lnTo>
                    <a:pt x="0" y="76199"/>
                  </a:lnTo>
                  <a:lnTo>
                    <a:pt x="14717267" y="76199"/>
                  </a:lnTo>
                  <a:lnTo>
                    <a:pt x="14717267" y="0"/>
                  </a:lnTo>
                  <a:close/>
                </a:path>
              </a:pathLst>
            </a:custGeom>
            <a:solidFill>
              <a:srgbClr val="C45AC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305" y="503274"/>
            <a:ext cx="990376" cy="93316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22752" y="566928"/>
            <a:ext cx="1037441" cy="8953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34792" y="571881"/>
            <a:ext cx="997013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000000"/>
                </a:solidFill>
              </a:rPr>
              <a:t>SRI</a:t>
            </a:r>
            <a:r>
              <a:rPr dirty="0" sz="3200" spc="-1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RAMAKRISHNA</a:t>
            </a:r>
            <a:r>
              <a:rPr dirty="0" sz="3200" spc="-204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INSTITUTE OF</a:t>
            </a:r>
            <a:r>
              <a:rPr dirty="0" sz="3200" spc="-180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TECHNOLOGY</a:t>
            </a:r>
            <a:endParaRPr sz="3200"/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4300473" y="1163828"/>
            <a:ext cx="5417820" cy="748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1907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(An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Autonomous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Institution)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 spc="-10">
                <a:latin typeface="Times New Roman"/>
                <a:cs typeface="Times New Roman"/>
              </a:rPr>
              <a:t>Pachapalayam,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Perur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Chettipalayam,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Coimbatore-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641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010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02638" y="2112010"/>
            <a:ext cx="11062970" cy="2843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1175">
              <a:lnSpc>
                <a:spcPct val="100000"/>
              </a:lnSpc>
              <a:spcBef>
                <a:spcPts val="95"/>
              </a:spcBef>
            </a:pPr>
            <a:r>
              <a:rPr dirty="0" sz="2800" spc="-40" b="1">
                <a:latin typeface="Times New Roman"/>
                <a:cs typeface="Times New Roman"/>
              </a:rPr>
              <a:t>DEPARTMENT</a:t>
            </a:r>
            <a:r>
              <a:rPr dirty="0" sz="2800" spc="-1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OF</a:t>
            </a:r>
            <a:r>
              <a:rPr dirty="0" sz="2800" spc="-1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COMPUTER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Times New Roman"/>
                <a:cs typeface="Times New Roman"/>
              </a:rPr>
              <a:t>SCIENCE</a:t>
            </a:r>
            <a:r>
              <a:rPr dirty="0" sz="2800" spc="-15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5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  <a:p>
            <a:pPr algn="ctr" marL="3191510" marR="3470275">
              <a:lnSpc>
                <a:spcPct val="100000"/>
              </a:lnSpc>
              <a:spcBef>
                <a:spcPts val="3085"/>
              </a:spcBef>
            </a:pPr>
            <a:r>
              <a:rPr dirty="0" sz="2400" spc="-10">
                <a:latin typeface="Times New Roman"/>
                <a:cs typeface="Times New Roman"/>
              </a:rPr>
              <a:t>20CS902-</a:t>
            </a:r>
            <a:r>
              <a:rPr dirty="0" sz="2400">
                <a:latin typeface="Times New Roman"/>
                <a:cs typeface="Times New Roman"/>
              </a:rPr>
              <a:t>FYP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Phase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First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Review </a:t>
            </a:r>
            <a:r>
              <a:rPr dirty="0" sz="2400" spc="-40">
                <a:latin typeface="Times New Roman"/>
                <a:cs typeface="Times New Roman"/>
              </a:rPr>
              <a:t>BATCH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:39</a:t>
            </a:r>
            <a:endParaRPr sz="2400">
              <a:latin typeface="Times New Roman"/>
              <a:cs typeface="Times New Roman"/>
            </a:endParaRPr>
          </a:p>
          <a:p>
            <a:pPr algn="ctr" marL="12065" marR="5080" indent="156210">
              <a:lnSpc>
                <a:spcPts val="3360"/>
              </a:lnSpc>
              <a:spcBef>
                <a:spcPts val="5"/>
              </a:spcBef>
            </a:pPr>
            <a:r>
              <a:rPr dirty="0" sz="2800" b="1">
                <a:latin typeface="Times New Roman"/>
                <a:cs typeface="Times New Roman"/>
              </a:rPr>
              <a:t>ADDRESSING</a:t>
            </a:r>
            <a:r>
              <a:rPr dirty="0" sz="2800" spc="2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THE</a:t>
            </a:r>
            <a:r>
              <a:rPr dirty="0" sz="2800" spc="1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INCOME</a:t>
            </a:r>
            <a:r>
              <a:rPr dirty="0" sz="2800" spc="14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GAP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CAUSED</a:t>
            </a:r>
            <a:r>
              <a:rPr dirty="0" sz="2800" spc="27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BY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MIDDLEMEN</a:t>
            </a:r>
            <a:r>
              <a:rPr dirty="0" sz="2800" spc="21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IN </a:t>
            </a:r>
            <a:r>
              <a:rPr dirty="0" sz="2800" spc="-40" b="1">
                <a:latin typeface="Times New Roman"/>
                <a:cs typeface="Times New Roman"/>
              </a:rPr>
              <a:t>AGRICULTURAL</a:t>
            </a:r>
            <a:r>
              <a:rPr dirty="0" sz="2800" spc="-10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MARKETING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THROUGH</a:t>
            </a:r>
            <a:r>
              <a:rPr dirty="0" sz="2800" spc="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DIRECT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spc="-65" b="1">
                <a:latin typeface="Times New Roman"/>
                <a:cs typeface="Times New Roman"/>
              </a:rPr>
              <a:t>FARMER-</a:t>
            </a:r>
            <a:r>
              <a:rPr dirty="0" sz="2800" spc="-25" b="1">
                <a:latin typeface="Times New Roman"/>
                <a:cs typeface="Times New Roman"/>
              </a:rPr>
              <a:t>TO- </a:t>
            </a:r>
            <a:r>
              <a:rPr dirty="0" sz="2800" b="1">
                <a:latin typeface="Times New Roman"/>
                <a:cs typeface="Times New Roman"/>
              </a:rPr>
              <a:t>CONSUMER</a:t>
            </a:r>
            <a:r>
              <a:rPr dirty="0" sz="2800" spc="43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SOLUTIONS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5583" y="5238115"/>
            <a:ext cx="12668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Presented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1512316" y="5824346"/>
          <a:ext cx="4025265" cy="1075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8495"/>
                <a:gridCol w="358139"/>
                <a:gridCol w="309880"/>
                <a:gridCol w="1351280"/>
              </a:tblGrid>
              <a:tr h="263525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VIGNESHWARAN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964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610">
                        <a:lnSpc>
                          <a:spcPts val="1964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964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71382202173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36195">
                        <a:lnSpc>
                          <a:spcPts val="205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SARUKESH</a:t>
                      </a:r>
                      <a:r>
                        <a:rPr dirty="0" sz="180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815">
                        <a:lnSpc>
                          <a:spcPts val="2050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205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71382202134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63525">
                <a:tc>
                  <a:txBody>
                    <a:bodyPr/>
                    <a:lstStyle/>
                    <a:p>
                      <a:pPr marL="36195">
                        <a:lnSpc>
                          <a:spcPts val="1975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SOORAJ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NAIR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3815">
                        <a:lnSpc>
                          <a:spcPts val="1975"/>
                        </a:lnSpc>
                      </a:pP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-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1975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71382202152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36195">
                        <a:lnSpc>
                          <a:spcPts val="2060"/>
                        </a:lnSpc>
                      </a:pP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SANJAY</a:t>
                      </a:r>
                      <a:r>
                        <a:rPr dirty="0" sz="18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567690">
                        <a:lnSpc>
                          <a:spcPts val="206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71382202130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2" name="object 12" descr=""/>
          <p:cNvSpPr txBox="1"/>
          <p:nvPr/>
        </p:nvSpPr>
        <p:spPr>
          <a:xfrm>
            <a:off x="9787508" y="5315839"/>
            <a:ext cx="1050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Guided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232517" y="5864174"/>
            <a:ext cx="233680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MRS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35">
                <a:latin typeface="Times New Roman"/>
                <a:cs typeface="Times New Roman"/>
              </a:rPr>
              <a:t>JAYASMRUTHI</a:t>
            </a:r>
            <a:endParaRPr sz="1800">
              <a:latin typeface="Times New Roman"/>
              <a:cs typeface="Times New Roman"/>
            </a:endParaRPr>
          </a:p>
          <a:p>
            <a:pPr marL="21590" marR="515620" indent="-952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Assistant </a:t>
            </a:r>
            <a:r>
              <a:rPr dirty="0" sz="1800" spc="-10">
                <a:latin typeface="Times New Roman"/>
                <a:cs typeface="Times New Roman"/>
              </a:rPr>
              <a:t>Professor Department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CSE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807720">
              <a:lnSpc>
                <a:spcPct val="100000"/>
              </a:lnSpc>
              <a:spcBef>
                <a:spcPts val="95"/>
              </a:spcBef>
            </a:pPr>
            <a:r>
              <a:rPr dirty="0" spc="-60"/>
              <a:t>CONTENT</a:t>
            </a:r>
            <a:r>
              <a:rPr dirty="0" spc="-65"/>
              <a:t> </a:t>
            </a:r>
            <a:r>
              <a:rPr dirty="0" spc="-30"/>
              <a:t>OUTLINE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485646" y="1774317"/>
            <a:ext cx="2820035" cy="5527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1465" indent="-278765">
              <a:lnSpc>
                <a:spcPct val="100000"/>
              </a:lnSpc>
              <a:spcBef>
                <a:spcPts val="100"/>
              </a:spcBef>
              <a:buClr>
                <a:srgbClr val="C45AC1"/>
              </a:buClr>
              <a:buFont typeface="Wingdings"/>
              <a:buChar char=""/>
              <a:tabLst>
                <a:tab pos="291465" algn="l"/>
              </a:tabLst>
            </a:pPr>
            <a:r>
              <a:rPr dirty="0" sz="2100" spc="-10">
                <a:latin typeface="Times New Roman"/>
                <a:cs typeface="Times New Roman"/>
              </a:rPr>
              <a:t>Introduction</a:t>
            </a:r>
            <a:endParaRPr sz="21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2020"/>
              </a:spcBef>
              <a:buClr>
                <a:srgbClr val="C45AC1"/>
              </a:buClr>
              <a:buFont typeface="Wingdings"/>
              <a:buChar char=""/>
              <a:tabLst>
                <a:tab pos="291465" algn="l"/>
              </a:tabLst>
            </a:pPr>
            <a:r>
              <a:rPr dirty="0" sz="2100">
                <a:latin typeface="Times New Roman"/>
                <a:cs typeface="Times New Roman"/>
              </a:rPr>
              <a:t>Project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Overview</a:t>
            </a:r>
            <a:endParaRPr sz="21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2000"/>
              </a:spcBef>
              <a:buClr>
                <a:srgbClr val="C45AC1"/>
              </a:buClr>
              <a:buFont typeface="Wingdings"/>
              <a:buChar char=""/>
              <a:tabLst>
                <a:tab pos="291465" algn="l"/>
              </a:tabLst>
            </a:pPr>
            <a:r>
              <a:rPr dirty="0" sz="2100">
                <a:latin typeface="Times New Roman"/>
                <a:cs typeface="Times New Roman"/>
              </a:rPr>
              <a:t>Literature</a:t>
            </a:r>
            <a:r>
              <a:rPr dirty="0" sz="2100" spc="-7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Review</a:t>
            </a:r>
            <a:endParaRPr sz="21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2014"/>
              </a:spcBef>
              <a:buClr>
                <a:srgbClr val="C45AC1"/>
              </a:buClr>
              <a:buFont typeface="Wingdings"/>
              <a:buChar char=""/>
              <a:tabLst>
                <a:tab pos="291465" algn="l"/>
              </a:tabLst>
            </a:pPr>
            <a:r>
              <a:rPr dirty="0" sz="2100" spc="-10">
                <a:latin typeface="Times New Roman"/>
                <a:cs typeface="Times New Roman"/>
              </a:rPr>
              <a:t>Methodology</a:t>
            </a:r>
            <a:endParaRPr sz="21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2020"/>
              </a:spcBef>
              <a:buClr>
                <a:srgbClr val="C45AC1"/>
              </a:buClr>
              <a:buFont typeface="Wingdings"/>
              <a:buChar char=""/>
              <a:tabLst>
                <a:tab pos="291465" algn="l"/>
              </a:tabLst>
            </a:pPr>
            <a:r>
              <a:rPr dirty="0" sz="2100" spc="-10">
                <a:latin typeface="Times New Roman"/>
                <a:cs typeface="Times New Roman"/>
              </a:rPr>
              <a:t>System</a:t>
            </a:r>
            <a:r>
              <a:rPr dirty="0" sz="2100" spc="-114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Architecture</a:t>
            </a:r>
            <a:endParaRPr sz="21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2005"/>
              </a:spcBef>
              <a:buClr>
                <a:srgbClr val="C45AC1"/>
              </a:buClr>
              <a:buFont typeface="Wingdings"/>
              <a:buChar char=""/>
              <a:tabLst>
                <a:tab pos="291465" algn="l"/>
              </a:tabLst>
            </a:pPr>
            <a:r>
              <a:rPr dirty="0" sz="2100">
                <a:latin typeface="Times New Roman"/>
                <a:cs typeface="Times New Roman"/>
              </a:rPr>
              <a:t>Implementation</a:t>
            </a:r>
            <a:r>
              <a:rPr dirty="0" sz="2100" spc="-10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Details</a:t>
            </a:r>
            <a:endParaRPr sz="21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2014"/>
              </a:spcBef>
              <a:buClr>
                <a:srgbClr val="C45AC1"/>
              </a:buClr>
              <a:buFont typeface="Wingdings"/>
              <a:buChar char=""/>
              <a:tabLst>
                <a:tab pos="291465" algn="l"/>
              </a:tabLst>
            </a:pPr>
            <a:r>
              <a:rPr dirty="0" sz="2100" spc="-10">
                <a:latin typeface="Times New Roman"/>
                <a:cs typeface="Times New Roman"/>
              </a:rPr>
              <a:t>Results</a:t>
            </a:r>
            <a:endParaRPr sz="2100">
              <a:latin typeface="Times New Roman"/>
              <a:cs typeface="Times New Roman"/>
            </a:endParaRPr>
          </a:p>
          <a:p>
            <a:pPr marL="291465" indent="-278765">
              <a:lnSpc>
                <a:spcPct val="100000"/>
              </a:lnSpc>
              <a:spcBef>
                <a:spcPts val="2014"/>
              </a:spcBef>
              <a:buClr>
                <a:srgbClr val="C45AC1"/>
              </a:buClr>
              <a:buFont typeface="Wingdings"/>
              <a:buChar char=""/>
              <a:tabLst>
                <a:tab pos="291465" algn="l"/>
              </a:tabLst>
            </a:pPr>
            <a:r>
              <a:rPr dirty="0" sz="2100" spc="-10">
                <a:latin typeface="Times New Roman"/>
                <a:cs typeface="Times New Roman"/>
              </a:rPr>
              <a:t>Evaluation</a:t>
            </a:r>
            <a:endParaRPr sz="2100">
              <a:latin typeface="Times New Roman"/>
              <a:cs typeface="Times New Roman"/>
            </a:endParaRPr>
          </a:p>
          <a:p>
            <a:pPr marL="224154" indent="-223520">
              <a:lnSpc>
                <a:spcPct val="100000"/>
              </a:lnSpc>
              <a:spcBef>
                <a:spcPts val="2005"/>
              </a:spcBef>
              <a:buClr>
                <a:srgbClr val="C45AC1"/>
              </a:buClr>
              <a:buFont typeface="Wingdings"/>
              <a:buChar char=""/>
              <a:tabLst>
                <a:tab pos="224154" algn="l"/>
              </a:tabLst>
            </a:pPr>
            <a:r>
              <a:rPr dirty="0" sz="2100" spc="-10">
                <a:latin typeface="Times New Roman"/>
                <a:cs typeface="Times New Roman"/>
              </a:rPr>
              <a:t>Conclusion</a:t>
            </a:r>
            <a:endParaRPr sz="2100">
              <a:latin typeface="Times New Roman"/>
              <a:cs typeface="Times New Roman"/>
            </a:endParaRPr>
          </a:p>
          <a:p>
            <a:pPr marL="224154" indent="-223520">
              <a:lnSpc>
                <a:spcPct val="100000"/>
              </a:lnSpc>
              <a:spcBef>
                <a:spcPts val="2020"/>
              </a:spcBef>
              <a:buClr>
                <a:srgbClr val="C45AC1"/>
              </a:buClr>
              <a:buFont typeface="Wingdings"/>
              <a:buChar char=""/>
              <a:tabLst>
                <a:tab pos="224154" algn="l"/>
              </a:tabLst>
            </a:pPr>
            <a:r>
              <a:rPr dirty="0" sz="2100" spc="-10">
                <a:latin typeface="Times New Roman"/>
                <a:cs typeface="Times New Roman"/>
              </a:rPr>
              <a:t>References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946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INTRODUCTION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73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88670" y="1795505"/>
            <a:ext cx="12901295" cy="432371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 marL="223520" indent="-213995">
              <a:lnSpc>
                <a:spcPct val="100000"/>
              </a:lnSpc>
              <a:spcBef>
                <a:spcPts val="1355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 b="1">
                <a:latin typeface="Times New Roman"/>
                <a:cs typeface="Times New Roman"/>
              </a:rPr>
              <a:t>Empowering</a:t>
            </a:r>
            <a:r>
              <a:rPr dirty="0" sz="2100" spc="-8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Farmers</a:t>
            </a:r>
            <a:r>
              <a:rPr dirty="0" sz="2100" spc="-25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Digitally</a:t>
            </a:r>
            <a:r>
              <a:rPr dirty="0" sz="2100" spc="-10">
                <a:latin typeface="Times New Roman"/>
                <a:cs typeface="Times New Roman"/>
              </a:rPr>
              <a:t>:</a:t>
            </a:r>
            <a:r>
              <a:rPr dirty="0" sz="2100" spc="-1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Aggregate</a:t>
            </a:r>
            <a:r>
              <a:rPr dirty="0" sz="2100" spc="-1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Argo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connects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farmers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directly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with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consumers,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offering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smart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inventory</a:t>
            </a:r>
            <a:endParaRPr sz="21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1260"/>
              </a:spcBef>
            </a:pPr>
            <a:r>
              <a:rPr dirty="0" sz="2100">
                <a:latin typeface="Times New Roman"/>
                <a:cs typeface="Times New Roman"/>
              </a:rPr>
              <a:t>tools,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profile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management, and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easy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product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listings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—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all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from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simple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login.</a:t>
            </a:r>
            <a:endParaRPr sz="2100">
              <a:latin typeface="Times New Roman"/>
              <a:cs typeface="Times New Roman"/>
            </a:endParaRPr>
          </a:p>
          <a:p>
            <a:pPr marL="90170" marR="337185" indent="-81280">
              <a:lnSpc>
                <a:spcPct val="150000"/>
              </a:lnSpc>
              <a:spcBef>
                <a:spcPts val="1205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90170" algn="l"/>
                <a:tab pos="222885" algn="l"/>
              </a:tabLst>
            </a:pPr>
            <a:r>
              <a:rPr dirty="0" sz="2100" b="1">
                <a:latin typeface="Times New Roman"/>
                <a:cs typeface="Times New Roman"/>
              </a:rPr>
              <a:t>	</a:t>
            </a:r>
            <a:r>
              <a:rPr dirty="0" sz="2100" b="1">
                <a:latin typeface="Times New Roman"/>
                <a:cs typeface="Times New Roman"/>
              </a:rPr>
              <a:t>Smart</a:t>
            </a:r>
            <a:r>
              <a:rPr dirty="0" sz="2100" spc="-5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Shopping</a:t>
            </a:r>
            <a:r>
              <a:rPr dirty="0" sz="2100" spc="-3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for</a:t>
            </a:r>
            <a:r>
              <a:rPr dirty="0" sz="2100" spc="-7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Customers:</a:t>
            </a:r>
            <a:r>
              <a:rPr dirty="0" sz="2100" spc="-75" b="1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With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user-</a:t>
            </a:r>
            <a:r>
              <a:rPr dirty="0" sz="2100">
                <a:latin typeface="Times New Roman"/>
                <a:cs typeface="Times New Roman"/>
              </a:rPr>
              <a:t>friendly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interface,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customers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can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browse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wide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range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vegetables, </a:t>
            </a:r>
            <a:r>
              <a:rPr dirty="0" sz="2100">
                <a:latin typeface="Times New Roman"/>
                <a:cs typeface="Times New Roman"/>
              </a:rPr>
              <a:t>place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quick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orders,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track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deliveries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seamlessly.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C45AC1"/>
              </a:buClr>
              <a:buFont typeface="Wingdings"/>
              <a:buChar char=""/>
            </a:pPr>
            <a:endParaRPr sz="2100">
              <a:latin typeface="Times New Roman"/>
              <a:cs typeface="Times New Roman"/>
            </a:endParaRPr>
          </a:p>
          <a:p>
            <a:pPr marL="224154" indent="-214629">
              <a:lnSpc>
                <a:spcPct val="100000"/>
              </a:lnSpc>
              <a:spcBef>
                <a:spcPts val="5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4154" algn="l"/>
              </a:tabLst>
            </a:pPr>
            <a:r>
              <a:rPr dirty="0" sz="2100" b="1">
                <a:latin typeface="Times New Roman"/>
                <a:cs typeface="Times New Roman"/>
              </a:rPr>
              <a:t>Admin</a:t>
            </a:r>
            <a:r>
              <a:rPr dirty="0" sz="2100" spc="-4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in</a:t>
            </a:r>
            <a:r>
              <a:rPr dirty="0" sz="2100" spc="-3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Control:</a:t>
            </a:r>
            <a:r>
              <a:rPr dirty="0" sz="2100" spc="-75" b="1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robust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admin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dashboard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allows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full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control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over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user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access,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product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catalogs,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real-</a:t>
            </a:r>
            <a:r>
              <a:rPr dirty="0" sz="2100" spc="-20">
                <a:latin typeface="Times New Roman"/>
                <a:cs typeface="Times New Roman"/>
              </a:rPr>
              <a:t>time</a:t>
            </a:r>
            <a:endParaRPr sz="21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1260"/>
              </a:spcBef>
            </a:pPr>
            <a:r>
              <a:rPr dirty="0" sz="2100">
                <a:latin typeface="Times New Roman"/>
                <a:cs typeface="Times New Roman"/>
              </a:rPr>
              <a:t>order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payment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management.</a:t>
            </a:r>
            <a:endParaRPr sz="2100">
              <a:latin typeface="Times New Roman"/>
              <a:cs typeface="Times New Roman"/>
            </a:endParaRPr>
          </a:p>
          <a:p>
            <a:pPr marL="90170" marR="459105" indent="-81280">
              <a:lnSpc>
                <a:spcPct val="150000"/>
              </a:lnSpc>
              <a:spcBef>
                <a:spcPts val="120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90170" algn="l"/>
                <a:tab pos="222885" algn="l"/>
              </a:tabLst>
            </a:pPr>
            <a:r>
              <a:rPr dirty="0" sz="2100" b="1">
                <a:latin typeface="Times New Roman"/>
                <a:cs typeface="Times New Roman"/>
              </a:rPr>
              <a:t>	</a:t>
            </a:r>
            <a:r>
              <a:rPr dirty="0" sz="2100" b="1">
                <a:latin typeface="Times New Roman"/>
                <a:cs typeface="Times New Roman"/>
              </a:rPr>
              <a:t>Boosting</a:t>
            </a:r>
            <a:r>
              <a:rPr dirty="0" sz="2100" spc="-135" b="1">
                <a:latin typeface="Times New Roman"/>
                <a:cs typeface="Times New Roman"/>
              </a:rPr>
              <a:t> </a:t>
            </a:r>
            <a:r>
              <a:rPr dirty="0" sz="2100" spc="-20" b="1">
                <a:latin typeface="Times New Roman"/>
                <a:cs typeface="Times New Roman"/>
              </a:rPr>
              <a:t>Agro-</a:t>
            </a:r>
            <a:r>
              <a:rPr dirty="0" sz="2100" b="1">
                <a:latin typeface="Times New Roman"/>
                <a:cs typeface="Times New Roman"/>
              </a:rPr>
              <a:t>Economy:</a:t>
            </a:r>
            <a:r>
              <a:rPr dirty="0" sz="2100" spc="-100" b="1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By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streamlining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logistics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delivery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staff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opening</a:t>
            </a:r>
            <a:r>
              <a:rPr dirty="0" sz="2100" spc="-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larger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markets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farmers,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this </a:t>
            </a:r>
            <a:r>
              <a:rPr dirty="0" sz="2100">
                <a:latin typeface="Times New Roman"/>
                <a:cs typeface="Times New Roman"/>
              </a:rPr>
              <a:t>platform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drives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sustainability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growth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agri-trade.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898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dirty="0" spc="-55">
                <a:solidFill>
                  <a:srgbClr val="000000"/>
                </a:solidFill>
              </a:rPr>
              <a:t>PROJECT</a:t>
            </a:r>
            <a:r>
              <a:rPr dirty="0" spc="-114">
                <a:solidFill>
                  <a:srgbClr val="000000"/>
                </a:solidFill>
              </a:rPr>
              <a:t> </a:t>
            </a:r>
            <a:r>
              <a:rPr dirty="0" spc="-45">
                <a:solidFill>
                  <a:srgbClr val="000000"/>
                </a:solidFill>
              </a:rPr>
              <a:t>OVERVIEW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813713"/>
            <a:ext cx="13666469" cy="5504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170" marR="233679" indent="-80010">
              <a:lnSpc>
                <a:spcPct val="150000"/>
              </a:lnSpc>
              <a:spcBef>
                <a:spcPts val="100"/>
              </a:spcBef>
              <a:buClr>
                <a:srgbClr val="C45AC1"/>
              </a:buClr>
              <a:buSzPct val="94736"/>
              <a:buFont typeface="Wingdings"/>
              <a:buChar char=""/>
              <a:tabLst>
                <a:tab pos="90170" algn="l"/>
                <a:tab pos="203835" algn="l"/>
              </a:tabLst>
            </a:pPr>
            <a:r>
              <a:rPr dirty="0" sz="1900" b="1">
                <a:latin typeface="Times New Roman"/>
                <a:cs typeface="Times New Roman"/>
              </a:rPr>
              <a:t>	</a:t>
            </a:r>
            <a:r>
              <a:rPr dirty="0" sz="1900" b="1">
                <a:latin typeface="Times New Roman"/>
                <a:cs typeface="Times New Roman"/>
              </a:rPr>
              <a:t>Farmer</a:t>
            </a:r>
            <a:r>
              <a:rPr dirty="0" sz="1900" spc="-80" b="1">
                <a:latin typeface="Times New Roman"/>
                <a:cs typeface="Times New Roman"/>
              </a:rPr>
              <a:t> </a:t>
            </a:r>
            <a:r>
              <a:rPr dirty="0" sz="1900" spc="-10" b="1">
                <a:latin typeface="Times New Roman"/>
                <a:cs typeface="Times New Roman"/>
              </a:rPr>
              <a:t>Empowerment</a:t>
            </a:r>
            <a:r>
              <a:rPr dirty="0" sz="1900" spc="-40" b="1">
                <a:latin typeface="Times New Roman"/>
                <a:cs typeface="Times New Roman"/>
              </a:rPr>
              <a:t> </a:t>
            </a:r>
            <a:r>
              <a:rPr dirty="0" sz="1900" spc="-20" b="1">
                <a:latin typeface="Times New Roman"/>
                <a:cs typeface="Times New Roman"/>
              </a:rPr>
              <a:t>Tool:</a:t>
            </a:r>
            <a:r>
              <a:rPr dirty="0" sz="1900" b="1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Provide</a:t>
            </a:r>
            <a:r>
              <a:rPr dirty="0" sz="1900" spc="-2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features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such</a:t>
            </a:r>
            <a:r>
              <a:rPr dirty="0" sz="1900" spc="-2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as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farmer</a:t>
            </a:r>
            <a:r>
              <a:rPr dirty="0" sz="1900" spc="-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registration,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product</a:t>
            </a:r>
            <a:r>
              <a:rPr dirty="0" sz="1900" spc="-2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listing,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inventory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tracking,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pricing</a:t>
            </a:r>
            <a:r>
              <a:rPr dirty="0" sz="1900" spc="-3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control,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and</a:t>
            </a:r>
            <a:r>
              <a:rPr dirty="0" sz="1900" spc="-25">
                <a:latin typeface="Times New Roman"/>
                <a:cs typeface="Times New Roman"/>
              </a:rPr>
              <a:t> </a:t>
            </a:r>
            <a:r>
              <a:rPr dirty="0" sz="1900" spc="-20">
                <a:latin typeface="Times New Roman"/>
                <a:cs typeface="Times New Roman"/>
              </a:rPr>
              <a:t>order </a:t>
            </a:r>
            <a:r>
              <a:rPr dirty="0" sz="1900">
                <a:latin typeface="Times New Roman"/>
                <a:cs typeface="Times New Roman"/>
              </a:rPr>
              <a:t>management</a:t>
            </a:r>
            <a:r>
              <a:rPr dirty="0" sz="1900" spc="-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to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give</a:t>
            </a:r>
            <a:r>
              <a:rPr dirty="0" sz="1900" spc="-4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farmers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full</a:t>
            </a:r>
            <a:r>
              <a:rPr dirty="0" sz="1900" spc="-4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control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over</a:t>
            </a:r>
            <a:r>
              <a:rPr dirty="0" sz="1900" spc="-4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their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sales.</a:t>
            </a:r>
            <a:endParaRPr sz="1900">
              <a:latin typeface="Times New Roman"/>
              <a:cs typeface="Times New Roman"/>
            </a:endParaRPr>
          </a:p>
          <a:p>
            <a:pPr marL="90170" marR="5080" indent="-80010">
              <a:lnSpc>
                <a:spcPct val="150100"/>
              </a:lnSpc>
              <a:spcBef>
                <a:spcPts val="1195"/>
              </a:spcBef>
              <a:buClr>
                <a:srgbClr val="C45AC1"/>
              </a:buClr>
              <a:buSzPct val="94736"/>
              <a:buFont typeface="Wingdings"/>
              <a:buChar char=""/>
              <a:tabLst>
                <a:tab pos="90170" algn="l"/>
                <a:tab pos="203835" algn="l"/>
              </a:tabLst>
            </a:pPr>
            <a:r>
              <a:rPr dirty="0" sz="1900" spc="-30" b="1">
                <a:latin typeface="Times New Roman"/>
                <a:cs typeface="Times New Roman"/>
              </a:rPr>
              <a:t>	</a:t>
            </a:r>
            <a:r>
              <a:rPr dirty="0" sz="1900" spc="-30" b="1">
                <a:latin typeface="Times New Roman"/>
                <a:cs typeface="Times New Roman"/>
              </a:rPr>
              <a:t>User-</a:t>
            </a:r>
            <a:r>
              <a:rPr dirty="0" sz="1900" b="1">
                <a:latin typeface="Times New Roman"/>
                <a:cs typeface="Times New Roman"/>
              </a:rPr>
              <a:t>Friendly</a:t>
            </a:r>
            <a:r>
              <a:rPr dirty="0" sz="1900" spc="-25" b="1">
                <a:latin typeface="Times New Roman"/>
                <a:cs typeface="Times New Roman"/>
              </a:rPr>
              <a:t> </a:t>
            </a:r>
            <a:r>
              <a:rPr dirty="0" sz="1900" b="1">
                <a:latin typeface="Times New Roman"/>
                <a:cs typeface="Times New Roman"/>
              </a:rPr>
              <a:t>Consumer</a:t>
            </a:r>
            <a:r>
              <a:rPr dirty="0" sz="1900" spc="-55" b="1">
                <a:latin typeface="Times New Roman"/>
                <a:cs typeface="Times New Roman"/>
              </a:rPr>
              <a:t> </a:t>
            </a:r>
            <a:r>
              <a:rPr dirty="0" sz="1900" b="1">
                <a:latin typeface="Times New Roman"/>
                <a:cs typeface="Times New Roman"/>
              </a:rPr>
              <a:t>Experience:</a:t>
            </a:r>
            <a:r>
              <a:rPr dirty="0" sz="1900" spc="-40" b="1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Facilitate</a:t>
            </a:r>
            <a:r>
              <a:rPr dirty="0" sz="1900" spc="-5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easy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browsing,</a:t>
            </a:r>
            <a:r>
              <a:rPr dirty="0" sz="1900" spc="-2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purchasing,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and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delivery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tracking</a:t>
            </a:r>
            <a:r>
              <a:rPr dirty="0" sz="1900" spc="-4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for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consumers,</a:t>
            </a:r>
            <a:r>
              <a:rPr dirty="0" sz="1900" spc="-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improving</a:t>
            </a:r>
            <a:r>
              <a:rPr dirty="0" sz="1900" spc="-10">
                <a:latin typeface="Times New Roman"/>
                <a:cs typeface="Times New Roman"/>
              </a:rPr>
              <a:t> transparency </a:t>
            </a:r>
            <a:r>
              <a:rPr dirty="0" sz="1900">
                <a:latin typeface="Times New Roman"/>
                <a:cs typeface="Times New Roman"/>
              </a:rPr>
              <a:t>and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trust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in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the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supply</a:t>
            </a:r>
            <a:r>
              <a:rPr dirty="0" sz="1900" spc="-10">
                <a:latin typeface="Times New Roman"/>
                <a:cs typeface="Times New Roman"/>
              </a:rPr>
              <a:t> chain.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C45AC1"/>
              </a:buClr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204470" indent="-193675">
              <a:lnSpc>
                <a:spcPct val="100000"/>
              </a:lnSpc>
              <a:buClr>
                <a:srgbClr val="C45AC1"/>
              </a:buClr>
              <a:buSzPct val="94736"/>
              <a:buFont typeface="Wingdings"/>
              <a:buChar char=""/>
              <a:tabLst>
                <a:tab pos="204470" algn="l"/>
              </a:tabLst>
            </a:pPr>
            <a:r>
              <a:rPr dirty="0" sz="1900" b="1">
                <a:latin typeface="Times New Roman"/>
                <a:cs typeface="Times New Roman"/>
              </a:rPr>
              <a:t>Secure</a:t>
            </a:r>
            <a:r>
              <a:rPr dirty="0" sz="1900" spc="-45" b="1">
                <a:latin typeface="Times New Roman"/>
                <a:cs typeface="Times New Roman"/>
              </a:rPr>
              <a:t> </a:t>
            </a:r>
            <a:r>
              <a:rPr dirty="0" sz="1900" b="1">
                <a:latin typeface="Times New Roman"/>
                <a:cs typeface="Times New Roman"/>
              </a:rPr>
              <a:t>Digital</a:t>
            </a:r>
            <a:r>
              <a:rPr dirty="0" sz="1900" spc="-60" b="1">
                <a:latin typeface="Times New Roman"/>
                <a:cs typeface="Times New Roman"/>
              </a:rPr>
              <a:t> </a:t>
            </a:r>
            <a:r>
              <a:rPr dirty="0" sz="1900" spc="-10" b="1">
                <a:latin typeface="Times New Roman"/>
                <a:cs typeface="Times New Roman"/>
              </a:rPr>
              <a:t>Transactions: </a:t>
            </a:r>
            <a:r>
              <a:rPr dirty="0" sz="1900">
                <a:latin typeface="Times New Roman"/>
                <a:cs typeface="Times New Roman"/>
              </a:rPr>
              <a:t>Enable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secure,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traceable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online</a:t>
            </a:r>
            <a:r>
              <a:rPr dirty="0" sz="1900" spc="-4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payments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for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buyers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and</a:t>
            </a:r>
            <a:r>
              <a:rPr dirty="0" sz="1900" spc="-4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ensure</a:t>
            </a:r>
            <a:r>
              <a:rPr dirty="0" sz="1900" spc="-3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transparent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payouts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to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farmers.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Clr>
                <a:srgbClr val="C45AC1"/>
              </a:buClr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25" b="1">
                <a:latin typeface="Times New Roman"/>
                <a:cs typeface="Times New Roman"/>
              </a:rPr>
              <a:t>TOOLS</a:t>
            </a:r>
            <a:r>
              <a:rPr dirty="0" sz="2200" spc="-114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TECHNOLOGIES</a:t>
            </a:r>
            <a:endParaRPr sz="2200">
              <a:latin typeface="Times New Roman"/>
              <a:cs typeface="Times New Roman"/>
            </a:endParaRPr>
          </a:p>
          <a:p>
            <a:pPr marL="203835" indent="-193675">
              <a:lnSpc>
                <a:spcPct val="100000"/>
              </a:lnSpc>
              <a:spcBef>
                <a:spcPts val="2410"/>
              </a:spcBef>
              <a:buClr>
                <a:srgbClr val="C45AC1"/>
              </a:buClr>
              <a:buSzPct val="94736"/>
              <a:buFont typeface="Wingdings"/>
              <a:buChar char=""/>
              <a:tabLst>
                <a:tab pos="203835" algn="l"/>
              </a:tabLst>
            </a:pPr>
            <a:r>
              <a:rPr dirty="0" sz="1900" spc="-10">
                <a:latin typeface="Times New Roman"/>
                <a:cs typeface="Times New Roman"/>
              </a:rPr>
              <a:t>Javascript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C45AC1"/>
              </a:buClr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204470" indent="-193675">
              <a:lnSpc>
                <a:spcPct val="100000"/>
              </a:lnSpc>
              <a:buClr>
                <a:srgbClr val="C45AC1"/>
              </a:buClr>
              <a:buSzPct val="94736"/>
              <a:buFont typeface="Wingdings"/>
              <a:buChar char=""/>
              <a:tabLst>
                <a:tab pos="204470" algn="l"/>
              </a:tabLst>
            </a:pPr>
            <a:r>
              <a:rPr dirty="0" sz="1900" spc="-10">
                <a:latin typeface="Times New Roman"/>
                <a:cs typeface="Times New Roman"/>
              </a:rPr>
              <a:t>Node.js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C45AC1"/>
              </a:buClr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204470" indent="-193675">
              <a:lnSpc>
                <a:spcPct val="100000"/>
              </a:lnSpc>
              <a:buClr>
                <a:srgbClr val="C45AC1"/>
              </a:buClr>
              <a:buSzPct val="94736"/>
              <a:buFont typeface="Wingdings"/>
              <a:buChar char=""/>
              <a:tabLst>
                <a:tab pos="204470" algn="l"/>
              </a:tabLst>
            </a:pPr>
            <a:r>
              <a:rPr dirty="0" sz="1900" spc="-10">
                <a:latin typeface="Times New Roman"/>
                <a:cs typeface="Times New Roman"/>
              </a:rPr>
              <a:t>React.js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C45AC1"/>
              </a:buClr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203835" indent="-193675">
              <a:lnSpc>
                <a:spcPct val="100000"/>
              </a:lnSpc>
              <a:buClr>
                <a:srgbClr val="C45AC1"/>
              </a:buClr>
              <a:buSzPct val="94736"/>
              <a:buFont typeface="Wingdings"/>
              <a:buChar char=""/>
              <a:tabLst>
                <a:tab pos="203835" algn="l"/>
              </a:tabLst>
            </a:pPr>
            <a:r>
              <a:rPr dirty="0" sz="1900" spc="-10">
                <a:latin typeface="Times New Roman"/>
                <a:cs typeface="Times New Roman"/>
              </a:rPr>
              <a:t>MongoDB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749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LITERATURE</a:t>
            </a:r>
            <a:r>
              <a:rPr dirty="0" spc="-80"/>
              <a:t> </a:t>
            </a:r>
            <a:r>
              <a:rPr dirty="0" spc="-30"/>
              <a:t>REVIEW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01421" y="1835531"/>
          <a:ext cx="14155419" cy="5767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5490"/>
                <a:gridCol w="3524250"/>
                <a:gridCol w="913130"/>
                <a:gridCol w="4017010"/>
                <a:gridCol w="4866640"/>
              </a:tblGrid>
              <a:tr h="8248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5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S.NO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3677"/>
                    </a:solidFill>
                  </a:tcPr>
                </a:tc>
                <a:tc>
                  <a:txBody>
                    <a:bodyPr/>
                    <a:lstStyle/>
                    <a:p>
                      <a:pPr marL="8794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dirty="0" sz="15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DETAILS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3677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5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3677"/>
                    </a:solidFill>
                  </a:tcPr>
                </a:tc>
                <a:tc>
                  <a:txBody>
                    <a:bodyPr/>
                    <a:lstStyle/>
                    <a:p>
                      <a:pPr marL="13112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5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367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7846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5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03677"/>
                    </a:solidFill>
                  </a:tcPr>
                </a:tc>
              </a:tr>
              <a:tr h="16916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5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731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Commerce</a:t>
                      </a:r>
                      <a:r>
                        <a:rPr dirty="0" sz="2100" spc="3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2100" spc="2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Farmer</a:t>
                      </a:r>
                      <a:r>
                        <a:rPr dirty="0" sz="2100" spc="2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55" b="1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Consumer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2025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242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100" spc="-20" b="1">
                          <a:latin typeface="Times New Roman"/>
                          <a:cs typeface="Times New Roman"/>
                        </a:rPr>
                        <a:t>Venkata</a:t>
                      </a:r>
                      <a:r>
                        <a:rPr dirty="0" sz="21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Rami</a:t>
                      </a:r>
                      <a:r>
                        <a:rPr dirty="0" sz="2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Reddy</a:t>
                      </a:r>
                      <a:r>
                        <a:rPr dirty="0" sz="2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20" b="1">
                          <a:latin typeface="Times New Roman"/>
                          <a:cs typeface="Times New Roman"/>
                        </a:rPr>
                        <a:t>Naru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Dasari</a:t>
                      </a:r>
                      <a:r>
                        <a:rPr dirty="0" sz="2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Sasi</a:t>
                      </a:r>
                      <a:r>
                        <a:rPr dirty="0" sz="2100" spc="-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20" b="1">
                          <a:latin typeface="Times New Roman"/>
                          <a:cs typeface="Times New Roman"/>
                        </a:rPr>
                        <a:t>Venkat</a:t>
                      </a:r>
                      <a:r>
                        <a:rPr dirty="0" sz="21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20" b="1">
                          <a:latin typeface="Times New Roman"/>
                          <a:cs typeface="Times New Roman"/>
                        </a:rPr>
                        <a:t>Gowd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2075" marR="812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100" b="1">
                          <a:latin typeface="Times New Roman"/>
                          <a:cs typeface="Times New Roman"/>
                        </a:rPr>
                        <a:t>FPOs</a:t>
                      </a:r>
                      <a:r>
                        <a:rPr dirty="0" sz="2100" spc="105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2100" spc="10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dirty="0" sz="2100" spc="105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platforms</a:t>
                      </a:r>
                      <a:r>
                        <a:rPr dirty="0" sz="2100" spc="11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improve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collective</a:t>
                      </a:r>
                      <a:r>
                        <a:rPr dirty="0" sz="2100" spc="10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bargaining,</a:t>
                      </a:r>
                      <a:r>
                        <a:rPr dirty="0" sz="2100" spc="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dirty="0" sz="2100" spc="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transaction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costs,</a:t>
                      </a:r>
                      <a:r>
                        <a:rPr dirty="0" sz="2100" spc="405" b="1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100" spc="409" b="1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enable</a:t>
                      </a:r>
                      <a:r>
                        <a:rPr dirty="0" sz="2100" spc="405" b="1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2100" spc="409" b="1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selling,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minimizing</a:t>
                      </a:r>
                      <a:r>
                        <a:rPr dirty="0" sz="21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21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role</a:t>
                      </a:r>
                      <a:r>
                        <a:rPr dirty="0" sz="21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1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middlemen.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</a:tr>
              <a:tr h="16916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500" spc="-50" b="1"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8EB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1440" marR="800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100" b="1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2100" spc="6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2100" spc="55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2100" spc="6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spc="-25" b="1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2100" spc="235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Market</a:t>
                      </a:r>
                      <a:r>
                        <a:rPr dirty="0" sz="2100" spc="24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2100" spc="229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spc="-25" b="1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Farmers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8E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2025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8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3964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100" b="1">
                          <a:latin typeface="Times New Roman"/>
                          <a:cs typeface="Times New Roman"/>
                        </a:rPr>
                        <a:t>Abishek</a:t>
                      </a:r>
                      <a:r>
                        <a:rPr dirty="0" sz="21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0" b="1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Aswinraj</a:t>
                      </a:r>
                      <a:r>
                        <a:rPr dirty="0" sz="2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21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0" b="1">
                          <a:latin typeface="Times New Roman"/>
                          <a:cs typeface="Times New Roman"/>
                        </a:rPr>
                        <a:t>V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8EB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2075" marR="825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100" b="1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2100" spc="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2100" spc="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2100" spc="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21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2100" spc="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market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2100" spc="10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2100" spc="8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farmers</a:t>
                      </a:r>
                      <a:r>
                        <a:rPr dirty="0" sz="2100" spc="10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aims</a:t>
                      </a:r>
                      <a:r>
                        <a:rPr dirty="0" sz="2100" spc="95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100" spc="10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provide</a:t>
                      </a:r>
                      <a:r>
                        <a:rPr dirty="0" sz="2100" spc="90" b="1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100" spc="-50" b="1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dirty="0" sz="2100" spc="415" b="1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2100" spc="425" b="1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2100" spc="409" b="1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individual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consumers</a:t>
                      </a:r>
                      <a:r>
                        <a:rPr dirty="0" sz="2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1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dirty="0" sz="2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benefits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E8EB"/>
                    </a:solidFill>
                  </a:tcPr>
                </a:tc>
              </a:tr>
              <a:tr h="1559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500" spc="-50" b="1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210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100" b="1">
                          <a:latin typeface="Times New Roman"/>
                          <a:cs typeface="Times New Roman"/>
                        </a:rPr>
                        <a:t>Enhancing</a:t>
                      </a:r>
                      <a:r>
                        <a:rPr dirty="0" sz="2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Farmer</a:t>
                      </a:r>
                      <a:r>
                        <a:rPr dirty="0" sz="21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1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75" b="1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Consumer</a:t>
                      </a:r>
                      <a:r>
                        <a:rPr dirty="0" sz="2100" spc="-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Connectivity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dirty="0" sz="21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21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25" b="1">
                          <a:latin typeface="Times New Roman"/>
                          <a:cs typeface="Times New Roman"/>
                        </a:rPr>
                        <a:t>E-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Commerce</a:t>
                      </a:r>
                      <a:r>
                        <a:rPr dirty="0" sz="21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Platform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2024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97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100" b="1">
                          <a:latin typeface="Times New Roman"/>
                          <a:cs typeface="Times New Roman"/>
                        </a:rPr>
                        <a:t>Mehul</a:t>
                      </a:r>
                      <a:r>
                        <a:rPr dirty="0" sz="21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Patil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Shams</a:t>
                      </a:r>
                      <a:r>
                        <a:rPr dirty="0" sz="21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Mansoori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2075" marR="819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100" b="1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2100" spc="2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commerce</a:t>
                      </a:r>
                      <a:r>
                        <a:rPr dirty="0" sz="2100" spc="229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2100" spc="229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100" spc="2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connect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farmers</a:t>
                      </a:r>
                      <a:r>
                        <a:rPr dirty="0" sz="2100" spc="290" b="1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100" spc="285" b="1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2100" b="1">
                          <a:latin typeface="Times New Roman"/>
                          <a:cs typeface="Times New Roman"/>
                        </a:rPr>
                        <a:t>consumers</a:t>
                      </a:r>
                      <a:r>
                        <a:rPr dirty="0" sz="2100" spc="290" b="1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dirty="0" sz="2100" spc="-10" b="1">
                          <a:latin typeface="Times New Roman"/>
                          <a:cs typeface="Times New Roman"/>
                        </a:rPr>
                        <a:t>without middleman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CE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679" y="1676400"/>
            <a:ext cx="11827764" cy="56570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714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METHODOLOGY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1663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dirty="0" spc="-60">
                <a:solidFill>
                  <a:srgbClr val="000000"/>
                </a:solidFill>
              </a:rPr>
              <a:t>SYSTEM</a:t>
            </a:r>
            <a:r>
              <a:rPr dirty="0" spc="-150">
                <a:solidFill>
                  <a:srgbClr val="000000"/>
                </a:solidFill>
              </a:rPr>
              <a:t> </a:t>
            </a:r>
            <a:r>
              <a:rPr dirty="0" spc="-40">
                <a:solidFill>
                  <a:srgbClr val="000000"/>
                </a:solidFill>
              </a:rPr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885" y="1882140"/>
            <a:ext cx="9171530" cy="561594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192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912" y="1133983"/>
            <a:ext cx="48679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IMPLEMENTATION</a:t>
            </a:r>
            <a:r>
              <a:rPr dirty="0" spc="-70"/>
              <a:t> </a:t>
            </a:r>
            <a:r>
              <a:rPr dirty="0" spc="-55"/>
              <a:t>DETAILS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2058924"/>
            <a:ext cx="4102608" cy="53141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6864" y="2057400"/>
            <a:ext cx="4663440" cy="53157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11283" y="2057400"/>
            <a:ext cx="5058155" cy="5269992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192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7191" y="1133983"/>
            <a:ext cx="1573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80"/>
              <a:t>RESULTS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192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635">
              <a:lnSpc>
                <a:spcPts val="1630"/>
              </a:lnSpc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29818" y="2166366"/>
            <a:ext cx="4598035" cy="2628900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10"/>
              </a:spcBef>
              <a:buClr>
                <a:srgbClr val="C45AC1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Increased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Farmer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Income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15"/>
              </a:spcBef>
              <a:buClr>
                <a:srgbClr val="C45AC1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Consumer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Benefits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45AC1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dirty="0" sz="24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Empowerment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Farmers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45AC1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Reduction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Market</a:t>
            </a:r>
            <a:r>
              <a:rPr dirty="0" sz="24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Exploitation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0"/>
              </a:spcBef>
              <a:buClr>
                <a:srgbClr val="C45AC1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Scalable</a:t>
            </a:r>
            <a:r>
              <a:rPr dirty="0" sz="24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Replicable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8356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 spc="-105"/>
              <a:t>EVALUATION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10642" rIns="0" bIns="0" rtlCol="0" vert="horz">
            <a:spAutoFit/>
          </a:bodyPr>
          <a:lstStyle/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1925">
              <a:lnSpc>
                <a:spcPts val="1630"/>
              </a:lnSpc>
            </a:pPr>
            <a:r>
              <a:rPr dirty="0" spc="-25"/>
              <a:t>BATCH</a:t>
            </a:r>
            <a:r>
              <a:rPr dirty="0" spc="-20"/>
              <a:t> </a:t>
            </a:r>
            <a:r>
              <a:rPr dirty="0"/>
              <a:t>ID</a:t>
            </a:r>
            <a:r>
              <a:rPr dirty="0" spc="-25"/>
              <a:t> </a:t>
            </a:r>
            <a:r>
              <a:rPr dirty="0"/>
              <a:t>:</a:t>
            </a:r>
            <a:r>
              <a:rPr dirty="0" spc="-20"/>
              <a:t> </a:t>
            </a:r>
            <a:r>
              <a:rPr dirty="0" spc="-25"/>
              <a:t>39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29487" y="2385822"/>
            <a:ext cx="9114155" cy="3065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3520" indent="-213995">
              <a:lnSpc>
                <a:spcPct val="100000"/>
              </a:lnSpc>
              <a:spcBef>
                <a:spcPts val="10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Addresses</a:t>
            </a:r>
            <a:r>
              <a:rPr dirty="0" sz="21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real-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world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problem</a:t>
            </a:r>
            <a:r>
              <a:rPr dirty="0" sz="21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affects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millions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small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marginal</a:t>
            </a:r>
            <a:r>
              <a:rPr dirty="0" sz="21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farmers</a:t>
            </a:r>
            <a:endParaRPr sz="2100">
              <a:latin typeface="Times New Roman"/>
              <a:cs typeface="Times New Roman"/>
            </a:endParaRPr>
          </a:p>
          <a:p>
            <a:pPr marL="223520" indent="-213995">
              <a:lnSpc>
                <a:spcPct val="100000"/>
              </a:lnSpc>
              <a:spcBef>
                <a:spcPts val="176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High</a:t>
            </a:r>
            <a:r>
              <a:rPr dirty="0" sz="21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social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impact:</a:t>
            </a:r>
            <a:r>
              <a:rPr dirty="0" sz="21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aims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improve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farmers’</a:t>
            </a:r>
            <a:r>
              <a:rPr dirty="0" sz="2100" spc="-11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income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reduce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consumer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prices.</a:t>
            </a:r>
            <a:endParaRPr sz="2100">
              <a:latin typeface="Times New Roman"/>
              <a:cs typeface="Times New Roman"/>
            </a:endParaRPr>
          </a:p>
          <a:p>
            <a:pPr marL="223520" indent="-213995">
              <a:lnSpc>
                <a:spcPct val="100000"/>
              </a:lnSpc>
              <a:spcBef>
                <a:spcPts val="177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Contributes</a:t>
            </a:r>
            <a:r>
              <a:rPr dirty="0" sz="21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1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sustainable</a:t>
            </a:r>
            <a:r>
              <a:rPr dirty="0" sz="21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1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rural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empowerment.</a:t>
            </a:r>
            <a:endParaRPr sz="2100">
              <a:latin typeface="Times New Roman"/>
              <a:cs typeface="Times New Roman"/>
            </a:endParaRPr>
          </a:p>
          <a:p>
            <a:pPr marL="223520" indent="-213995">
              <a:lnSpc>
                <a:spcPct val="100000"/>
              </a:lnSpc>
              <a:spcBef>
                <a:spcPts val="175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Proposes</a:t>
            </a:r>
            <a:r>
              <a:rPr dirty="0" sz="21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digital</a:t>
            </a:r>
            <a:r>
              <a:rPr dirty="0" sz="21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platform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(mobile/web)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enable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direct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transactions.</a:t>
            </a:r>
            <a:endParaRPr sz="2100">
              <a:latin typeface="Times New Roman"/>
              <a:cs typeface="Times New Roman"/>
            </a:endParaRPr>
          </a:p>
          <a:p>
            <a:pPr marL="223520" indent="-213995">
              <a:lnSpc>
                <a:spcPct val="100000"/>
              </a:lnSpc>
              <a:spcBef>
                <a:spcPts val="1764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Consumers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get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fresher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produce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lower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dirty="0" sz="21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fairer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prices.</a:t>
            </a:r>
            <a:endParaRPr sz="2100">
              <a:latin typeface="Times New Roman"/>
              <a:cs typeface="Times New Roman"/>
            </a:endParaRPr>
          </a:p>
          <a:p>
            <a:pPr marL="224154" indent="-214629">
              <a:lnSpc>
                <a:spcPct val="100000"/>
              </a:lnSpc>
              <a:spcBef>
                <a:spcPts val="1764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4154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Helps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reducing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food</a:t>
            </a:r>
            <a:r>
              <a:rPr dirty="0" sz="21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waste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due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faster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direct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delivery.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946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CONCLUSION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13105">
              <a:lnSpc>
                <a:spcPts val="1630"/>
              </a:lnSpc>
            </a:pPr>
            <a:r>
              <a:rPr dirty="0" spc="-10"/>
              <a:t>01/08/2025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787133" y="7915361"/>
            <a:ext cx="1152525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BATCH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3815">
              <a:lnSpc>
                <a:spcPts val="1630"/>
              </a:lnSpc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778865" y="2145868"/>
            <a:ext cx="13258800" cy="19773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154" indent="-214629">
              <a:lnSpc>
                <a:spcPct val="100000"/>
              </a:lnSpc>
              <a:spcBef>
                <a:spcPts val="10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4154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Farmers</a:t>
            </a:r>
            <a:r>
              <a:rPr dirty="0" sz="21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backbone</a:t>
            </a:r>
            <a:r>
              <a:rPr dirty="0" sz="21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our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nation —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solution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gives</a:t>
            </a:r>
            <a:r>
              <a:rPr dirty="0" sz="21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them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power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grow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not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just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crops,</a:t>
            </a:r>
            <a:r>
              <a:rPr dirty="0" sz="21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income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too.</a:t>
            </a:r>
            <a:endParaRPr sz="2100">
              <a:latin typeface="Times New Roman"/>
              <a:cs typeface="Times New Roman"/>
            </a:endParaRPr>
          </a:p>
          <a:p>
            <a:pPr marL="223520" indent="-213995">
              <a:lnSpc>
                <a:spcPct val="100000"/>
              </a:lnSpc>
              <a:spcBef>
                <a:spcPts val="177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dirty="0" sz="21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removing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middlemen,</a:t>
            </a:r>
            <a:r>
              <a:rPr dirty="0" sz="21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produce</a:t>
            </a:r>
            <a:r>
              <a:rPr dirty="0" sz="21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reaches</a:t>
            </a:r>
            <a:r>
              <a:rPr dirty="0" sz="21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consumers</a:t>
            </a:r>
            <a:r>
              <a:rPr dirty="0" sz="21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faster,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fresher,</a:t>
            </a:r>
            <a:r>
              <a:rPr dirty="0" sz="21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fairer.</a:t>
            </a:r>
            <a:endParaRPr sz="2100">
              <a:latin typeface="Times New Roman"/>
              <a:cs typeface="Times New Roman"/>
            </a:endParaRPr>
          </a:p>
          <a:p>
            <a:pPr marL="223520" indent="-213995">
              <a:lnSpc>
                <a:spcPct val="100000"/>
              </a:lnSpc>
              <a:spcBef>
                <a:spcPts val="176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Technology</a:t>
            </a:r>
            <a:r>
              <a:rPr dirty="0" sz="21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becomes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new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tool</a:t>
            </a:r>
            <a:r>
              <a:rPr dirty="0" sz="21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alongside</a:t>
            </a:r>
            <a:r>
              <a:rPr dirty="0" sz="21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ploughs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—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helping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farmers trade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smartly</a:t>
            </a:r>
            <a:r>
              <a:rPr dirty="0" sz="21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1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efficiently.</a:t>
            </a:r>
            <a:endParaRPr sz="2100">
              <a:latin typeface="Times New Roman"/>
              <a:cs typeface="Times New Roman"/>
            </a:endParaRPr>
          </a:p>
          <a:p>
            <a:pPr marL="223520" indent="-213995">
              <a:lnSpc>
                <a:spcPct val="100000"/>
              </a:lnSpc>
              <a:spcBef>
                <a:spcPts val="1755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Consumers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get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quality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prices,</a:t>
            </a:r>
            <a:r>
              <a:rPr dirty="0" sz="21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farmers</a:t>
            </a:r>
            <a:r>
              <a:rPr dirty="0" sz="21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get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better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returns</a:t>
            </a:r>
            <a:r>
              <a:rPr dirty="0" sz="21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—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cycle</a:t>
            </a:r>
            <a:r>
              <a:rPr dirty="0" sz="21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1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trust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1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100" spc="-10">
                <a:solidFill>
                  <a:srgbClr val="404040"/>
                </a:solidFill>
                <a:latin typeface="Times New Roman"/>
                <a:cs typeface="Times New Roman"/>
              </a:rPr>
              <a:t>benefit.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REFERENCES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3520" indent="-213995">
              <a:lnSpc>
                <a:spcPct val="100000"/>
              </a:lnSpc>
              <a:spcBef>
                <a:spcPts val="10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223520" algn="l"/>
              </a:tabLst>
            </a:pPr>
            <a:r>
              <a:rPr dirty="0"/>
              <a:t>D.</a:t>
            </a:r>
            <a:r>
              <a:rPr dirty="0" spc="-135"/>
              <a:t> </a:t>
            </a:r>
            <a:r>
              <a:rPr dirty="0"/>
              <a:t>S.</a:t>
            </a:r>
            <a:r>
              <a:rPr dirty="0" spc="-90"/>
              <a:t> </a:t>
            </a:r>
            <a:r>
              <a:rPr dirty="0" spc="-145"/>
              <a:t>V.</a:t>
            </a:r>
            <a:r>
              <a:rPr dirty="0"/>
              <a:t> Gowd,</a:t>
            </a:r>
            <a:r>
              <a:rPr dirty="0" spc="-55"/>
              <a:t> </a:t>
            </a:r>
            <a:r>
              <a:rPr dirty="0"/>
              <a:t>N.</a:t>
            </a:r>
            <a:r>
              <a:rPr dirty="0" spc="-75"/>
              <a:t> </a:t>
            </a:r>
            <a:r>
              <a:rPr dirty="0" spc="-145"/>
              <a:t>V.</a:t>
            </a:r>
            <a:r>
              <a:rPr dirty="0"/>
              <a:t> R.</a:t>
            </a:r>
            <a:r>
              <a:rPr dirty="0" spc="-40"/>
              <a:t> </a:t>
            </a:r>
            <a:r>
              <a:rPr dirty="0"/>
              <a:t>Reddy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K.</a:t>
            </a:r>
            <a:r>
              <a:rPr dirty="0" spc="-135"/>
              <a:t> </a:t>
            </a:r>
            <a:r>
              <a:rPr dirty="0"/>
              <a:t>Aravind,</a:t>
            </a:r>
            <a:r>
              <a:rPr dirty="0" spc="-55"/>
              <a:t> </a:t>
            </a:r>
            <a:r>
              <a:rPr dirty="0"/>
              <a:t>“Farmer</a:t>
            </a:r>
            <a:r>
              <a:rPr dirty="0" spc="-30"/>
              <a:t> To</a:t>
            </a:r>
            <a:r>
              <a:rPr dirty="0" spc="-40"/>
              <a:t> </a:t>
            </a:r>
            <a:r>
              <a:rPr dirty="0"/>
              <a:t>Consumer,”</a:t>
            </a:r>
            <a:r>
              <a:rPr dirty="0" spc="-25"/>
              <a:t> </a:t>
            </a:r>
            <a:r>
              <a:rPr dirty="0"/>
              <a:t>Conference</a:t>
            </a:r>
            <a:r>
              <a:rPr dirty="0" spc="-50"/>
              <a:t> </a:t>
            </a:r>
            <a:r>
              <a:rPr dirty="0" spc="-10"/>
              <a:t>Paper,</a:t>
            </a:r>
            <a:r>
              <a:rPr dirty="0" spc="-40"/>
              <a:t> </a:t>
            </a:r>
            <a:r>
              <a:rPr dirty="0"/>
              <a:t>Parul</a:t>
            </a:r>
            <a:r>
              <a:rPr dirty="0" spc="-40"/>
              <a:t> </a:t>
            </a:r>
            <a:r>
              <a:rPr dirty="0" spc="-10"/>
              <a:t>University,</a:t>
            </a:r>
            <a:r>
              <a:rPr dirty="0" spc="-40"/>
              <a:t> </a:t>
            </a:r>
            <a:r>
              <a:rPr dirty="0" spc="-10"/>
              <a:t>Mar.</a:t>
            </a:r>
            <a:r>
              <a:rPr dirty="0" spc="-40"/>
              <a:t> </a:t>
            </a:r>
            <a:r>
              <a:rPr dirty="0" spc="-10"/>
              <a:t>2025.</a:t>
            </a:r>
          </a:p>
          <a:p>
            <a:pPr marL="90170" marR="5080" indent="-81280">
              <a:lnSpc>
                <a:spcPct val="150000"/>
              </a:lnSpc>
              <a:spcBef>
                <a:spcPts val="120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90170" algn="l"/>
                <a:tab pos="222885" algn="l"/>
              </a:tabLst>
            </a:pPr>
            <a:r>
              <a:rPr dirty="0" spc="-105"/>
              <a:t>	</a:t>
            </a:r>
            <a:r>
              <a:rPr dirty="0" spc="-105"/>
              <a:t>P.</a:t>
            </a:r>
            <a:r>
              <a:rPr dirty="0" spc="-25"/>
              <a:t> </a:t>
            </a:r>
            <a:r>
              <a:rPr dirty="0"/>
              <a:t>Kushwaha,</a:t>
            </a:r>
            <a:r>
              <a:rPr dirty="0" spc="-45"/>
              <a:t> </a:t>
            </a:r>
            <a:r>
              <a:rPr dirty="0"/>
              <a:t>S.</a:t>
            </a:r>
            <a:r>
              <a:rPr dirty="0" spc="-40"/>
              <a:t> </a:t>
            </a:r>
            <a:r>
              <a:rPr dirty="0"/>
              <a:t>Mansoori,</a:t>
            </a:r>
            <a:r>
              <a:rPr dirty="0" spc="-45"/>
              <a:t> </a:t>
            </a:r>
            <a:r>
              <a:rPr dirty="0"/>
              <a:t>M.</a:t>
            </a:r>
            <a:r>
              <a:rPr dirty="0" spc="-40"/>
              <a:t> </a:t>
            </a:r>
            <a:r>
              <a:rPr dirty="0"/>
              <a:t>Patil,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R.</a:t>
            </a:r>
            <a:r>
              <a:rPr dirty="0" spc="-5"/>
              <a:t> </a:t>
            </a:r>
            <a:r>
              <a:rPr dirty="0"/>
              <a:t>Baheti</a:t>
            </a:r>
            <a:r>
              <a:rPr dirty="0" spc="-25"/>
              <a:t> </a:t>
            </a:r>
            <a:r>
              <a:rPr dirty="0" spc="-10"/>
              <a:t>“Transforming</a:t>
            </a:r>
            <a:r>
              <a:rPr dirty="0" spc="-100"/>
              <a:t> </a:t>
            </a:r>
            <a:r>
              <a:rPr dirty="0"/>
              <a:t>Agriculture:</a:t>
            </a:r>
            <a:r>
              <a:rPr dirty="0" spc="-30"/>
              <a:t> </a:t>
            </a:r>
            <a:r>
              <a:rPr dirty="0"/>
              <a:t>Enhancing</a:t>
            </a:r>
            <a:r>
              <a:rPr dirty="0" spc="-50"/>
              <a:t> </a:t>
            </a:r>
            <a:r>
              <a:rPr dirty="0" spc="-30"/>
              <a:t>Farmer-</a:t>
            </a:r>
            <a:r>
              <a:rPr dirty="0" spc="-10"/>
              <a:t>to-</a:t>
            </a:r>
            <a:r>
              <a:rPr dirty="0"/>
              <a:t>Consumer</a:t>
            </a:r>
            <a:r>
              <a:rPr dirty="0" spc="15"/>
              <a:t> </a:t>
            </a:r>
            <a:r>
              <a:rPr dirty="0" spc="-10"/>
              <a:t>Connectivity </a:t>
            </a:r>
            <a:r>
              <a:rPr dirty="0"/>
              <a:t>Through</a:t>
            </a:r>
            <a:r>
              <a:rPr dirty="0" spc="-65"/>
              <a:t> </a:t>
            </a:r>
            <a:r>
              <a:rPr dirty="0"/>
              <a:t>Smart</a:t>
            </a:r>
            <a:r>
              <a:rPr dirty="0" spc="-5"/>
              <a:t> </a:t>
            </a:r>
            <a:r>
              <a:rPr dirty="0" spc="-10"/>
              <a:t>E-</a:t>
            </a:r>
            <a:r>
              <a:rPr dirty="0"/>
              <a:t>Commerce</a:t>
            </a:r>
            <a:r>
              <a:rPr dirty="0" spc="30"/>
              <a:t> </a:t>
            </a:r>
            <a:r>
              <a:rPr dirty="0"/>
              <a:t>Platforms”</a:t>
            </a:r>
            <a:r>
              <a:rPr dirty="0" spc="-5"/>
              <a:t> </a:t>
            </a:r>
            <a:r>
              <a:rPr dirty="0"/>
              <a:t>Int.</a:t>
            </a:r>
            <a:r>
              <a:rPr dirty="0" spc="-25"/>
              <a:t> </a:t>
            </a:r>
            <a:r>
              <a:rPr dirty="0"/>
              <a:t>J.</a:t>
            </a:r>
            <a:r>
              <a:rPr dirty="0" spc="-30"/>
              <a:t> </a:t>
            </a:r>
            <a:r>
              <a:rPr dirty="0"/>
              <a:t>Sci.</a:t>
            </a:r>
            <a:r>
              <a:rPr dirty="0" spc="-30"/>
              <a:t> </a:t>
            </a:r>
            <a:r>
              <a:rPr dirty="0"/>
              <a:t>Res.</a:t>
            </a:r>
            <a:r>
              <a:rPr dirty="0" spc="-25"/>
              <a:t> </a:t>
            </a:r>
            <a:r>
              <a:rPr dirty="0"/>
              <a:t>Eng.</a:t>
            </a:r>
            <a:r>
              <a:rPr dirty="0" spc="-50"/>
              <a:t> </a:t>
            </a:r>
            <a:r>
              <a:rPr dirty="0"/>
              <a:t>Manag.,</a:t>
            </a:r>
            <a:r>
              <a:rPr dirty="0" spc="-45"/>
              <a:t> </a:t>
            </a:r>
            <a:r>
              <a:rPr dirty="0"/>
              <a:t>vol.</a:t>
            </a:r>
            <a:r>
              <a:rPr dirty="0" spc="-35"/>
              <a:t> </a:t>
            </a:r>
            <a:r>
              <a:rPr dirty="0"/>
              <a:t>9,</a:t>
            </a:r>
            <a:r>
              <a:rPr dirty="0" spc="-35"/>
              <a:t> </a:t>
            </a:r>
            <a:r>
              <a:rPr dirty="0"/>
              <a:t>no.</a:t>
            </a:r>
            <a:r>
              <a:rPr dirty="0" spc="-45"/>
              <a:t> </a:t>
            </a:r>
            <a:r>
              <a:rPr dirty="0"/>
              <a:t>4,</a:t>
            </a:r>
            <a:r>
              <a:rPr dirty="0" spc="-35"/>
              <a:t> </a:t>
            </a:r>
            <a:r>
              <a:rPr dirty="0"/>
              <a:t>pp.</a:t>
            </a:r>
            <a:r>
              <a:rPr dirty="0" spc="-30"/>
              <a:t> </a:t>
            </a:r>
            <a:r>
              <a:rPr dirty="0"/>
              <a:t>1–2,</a:t>
            </a:r>
            <a:r>
              <a:rPr dirty="0" spc="-135"/>
              <a:t> </a:t>
            </a:r>
            <a:r>
              <a:rPr dirty="0" spc="-10"/>
              <a:t>Apr.</a:t>
            </a:r>
            <a:r>
              <a:rPr dirty="0" spc="-25"/>
              <a:t> </a:t>
            </a:r>
            <a:r>
              <a:rPr dirty="0" spc="-10"/>
              <a:t>2025.</a:t>
            </a:r>
          </a:p>
          <a:p>
            <a:pPr marL="90170" marR="145415" indent="-81280">
              <a:lnSpc>
                <a:spcPct val="150000"/>
              </a:lnSpc>
              <a:spcBef>
                <a:spcPts val="120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90170" algn="l"/>
                <a:tab pos="222885" algn="l"/>
              </a:tabLst>
            </a:pPr>
            <a:r>
              <a:rPr dirty="0"/>
              <a:t>	</a:t>
            </a:r>
            <a:r>
              <a:rPr dirty="0"/>
              <a:t>A.</a:t>
            </a:r>
            <a:r>
              <a:rPr dirty="0" spc="-110"/>
              <a:t> </a:t>
            </a:r>
            <a:r>
              <a:rPr dirty="0"/>
              <a:t>S.,</a:t>
            </a:r>
            <a:r>
              <a:rPr dirty="0" spc="-130"/>
              <a:t> </a:t>
            </a:r>
            <a:r>
              <a:rPr dirty="0"/>
              <a:t>A.</a:t>
            </a:r>
            <a:r>
              <a:rPr dirty="0" spc="-30"/>
              <a:t> </a:t>
            </a:r>
            <a:r>
              <a:rPr dirty="0"/>
              <a:t>S.</a:t>
            </a:r>
            <a:r>
              <a:rPr dirty="0" spc="-70"/>
              <a:t> </a:t>
            </a:r>
            <a:r>
              <a:rPr dirty="0" spc="-80"/>
              <a:t>V.,</a:t>
            </a:r>
            <a:r>
              <a:rPr dirty="0" spc="-25"/>
              <a:t> </a:t>
            </a:r>
            <a:r>
              <a:rPr dirty="0"/>
              <a:t>M.</a:t>
            </a:r>
            <a:r>
              <a:rPr dirty="0" spc="-45"/>
              <a:t> </a:t>
            </a:r>
            <a:r>
              <a:rPr dirty="0"/>
              <a:t>M.,</a:t>
            </a:r>
            <a:r>
              <a:rPr dirty="0" spc="-30"/>
              <a:t> </a:t>
            </a:r>
            <a:r>
              <a:rPr dirty="0" spc="-10"/>
              <a:t>and</a:t>
            </a:r>
            <a:r>
              <a:rPr dirty="0" spc="-120"/>
              <a:t> </a:t>
            </a:r>
            <a:r>
              <a:rPr dirty="0"/>
              <a:t>A.</a:t>
            </a:r>
            <a:r>
              <a:rPr dirty="0" spc="-40"/>
              <a:t> </a:t>
            </a:r>
            <a:r>
              <a:rPr dirty="0"/>
              <a:t>Jeyamurugan,</a:t>
            </a:r>
            <a:r>
              <a:rPr dirty="0" spc="-20"/>
              <a:t> </a:t>
            </a:r>
            <a:r>
              <a:rPr dirty="0" spc="-25"/>
              <a:t>“Web</a:t>
            </a:r>
            <a:r>
              <a:rPr dirty="0" spc="-10"/>
              <a:t> Based</a:t>
            </a:r>
            <a:r>
              <a:rPr dirty="0" spc="-120"/>
              <a:t> </a:t>
            </a:r>
            <a:r>
              <a:rPr dirty="0"/>
              <a:t>Application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/>
              <a:t>Direct</a:t>
            </a:r>
            <a:r>
              <a:rPr dirty="0" spc="-15"/>
              <a:t> </a:t>
            </a:r>
            <a:r>
              <a:rPr dirty="0" spc="-10"/>
              <a:t>Market</a:t>
            </a:r>
            <a:r>
              <a:rPr dirty="0" spc="-125"/>
              <a:t> </a:t>
            </a:r>
            <a:r>
              <a:rPr dirty="0"/>
              <a:t>Access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Farmers,” Int.</a:t>
            </a:r>
            <a:r>
              <a:rPr dirty="0" spc="-30"/>
              <a:t> </a:t>
            </a:r>
            <a:r>
              <a:rPr dirty="0"/>
              <a:t>J.</a:t>
            </a:r>
            <a:r>
              <a:rPr dirty="0" spc="-30"/>
              <a:t> </a:t>
            </a:r>
            <a:r>
              <a:rPr dirty="0" spc="-10"/>
              <a:t>Creates. </a:t>
            </a:r>
            <a:r>
              <a:rPr dirty="0"/>
              <a:t>Thoughts,</a:t>
            </a:r>
            <a:r>
              <a:rPr dirty="0" spc="-40"/>
              <a:t> </a:t>
            </a:r>
            <a:r>
              <a:rPr dirty="0"/>
              <a:t>vol.</a:t>
            </a:r>
            <a:r>
              <a:rPr dirty="0" spc="-20"/>
              <a:t> </a:t>
            </a:r>
            <a:r>
              <a:rPr dirty="0"/>
              <a:t>13,</a:t>
            </a:r>
            <a:r>
              <a:rPr dirty="0" spc="-5"/>
              <a:t> </a:t>
            </a:r>
            <a:r>
              <a:rPr dirty="0"/>
              <a:t>no.</a:t>
            </a:r>
            <a:r>
              <a:rPr dirty="0" spc="-20"/>
              <a:t> </a:t>
            </a:r>
            <a:r>
              <a:rPr dirty="0"/>
              <a:t>4,</a:t>
            </a:r>
            <a:r>
              <a:rPr dirty="0" spc="-5"/>
              <a:t> </a:t>
            </a:r>
            <a:r>
              <a:rPr dirty="0"/>
              <a:t>pp.</a:t>
            </a:r>
            <a:r>
              <a:rPr dirty="0" spc="-5"/>
              <a:t> </a:t>
            </a:r>
            <a:r>
              <a:rPr dirty="0"/>
              <a:t>192–197,</a:t>
            </a:r>
            <a:r>
              <a:rPr dirty="0" spc="-160"/>
              <a:t> </a:t>
            </a:r>
            <a:r>
              <a:rPr dirty="0" spc="-10"/>
              <a:t>Apr.</a:t>
            </a:r>
            <a:r>
              <a:rPr dirty="0" spc="-5"/>
              <a:t> </a:t>
            </a:r>
            <a:r>
              <a:rPr dirty="0" spc="-10"/>
              <a:t>2025.</a:t>
            </a:r>
          </a:p>
          <a:p>
            <a:pPr marL="90170" marR="348615" indent="-81280">
              <a:lnSpc>
                <a:spcPct val="150000"/>
              </a:lnSpc>
              <a:spcBef>
                <a:spcPts val="120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90170" algn="l"/>
                <a:tab pos="222885" algn="l"/>
              </a:tabLst>
            </a:pPr>
            <a:r>
              <a:rPr dirty="0"/>
              <a:t>	</a:t>
            </a:r>
            <a:r>
              <a:rPr dirty="0"/>
              <a:t>N.</a:t>
            </a:r>
            <a:r>
              <a:rPr dirty="0" spc="-135"/>
              <a:t> </a:t>
            </a:r>
            <a:r>
              <a:rPr dirty="0"/>
              <a:t>Anusha,</a:t>
            </a:r>
            <a:r>
              <a:rPr dirty="0" spc="-60"/>
              <a:t> </a:t>
            </a:r>
            <a:r>
              <a:rPr dirty="0" spc="-105"/>
              <a:t>P.</a:t>
            </a:r>
            <a:r>
              <a:rPr dirty="0" spc="-20"/>
              <a:t> </a:t>
            </a:r>
            <a:r>
              <a:rPr dirty="0"/>
              <a:t>S.</a:t>
            </a:r>
            <a:r>
              <a:rPr dirty="0" spc="-25"/>
              <a:t> </a:t>
            </a:r>
            <a:r>
              <a:rPr dirty="0"/>
              <a:t>Keerthi,</a:t>
            </a:r>
            <a:r>
              <a:rPr dirty="0" spc="-20"/>
              <a:t> </a:t>
            </a:r>
            <a:r>
              <a:rPr dirty="0"/>
              <a:t>M.</a:t>
            </a:r>
            <a:r>
              <a:rPr dirty="0" spc="-40"/>
              <a:t> </a:t>
            </a:r>
            <a:r>
              <a:rPr dirty="0"/>
              <a:t>R.</a:t>
            </a:r>
            <a:r>
              <a:rPr dirty="0" spc="-15"/>
              <a:t> </a:t>
            </a:r>
            <a:r>
              <a:rPr dirty="0" spc="-35"/>
              <a:t>Reddy,</a:t>
            </a:r>
            <a:r>
              <a:rPr dirty="0" spc="-140"/>
              <a:t> </a:t>
            </a:r>
            <a:r>
              <a:rPr dirty="0"/>
              <a:t>A.</a:t>
            </a:r>
            <a:r>
              <a:rPr dirty="0" spc="-25"/>
              <a:t> </a:t>
            </a:r>
            <a:r>
              <a:rPr dirty="0"/>
              <a:t>Ramesh,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M.</a:t>
            </a:r>
            <a:r>
              <a:rPr dirty="0" spc="-45"/>
              <a:t> </a:t>
            </a:r>
            <a:r>
              <a:rPr dirty="0"/>
              <a:t>R.</a:t>
            </a:r>
            <a:r>
              <a:rPr dirty="0" spc="25"/>
              <a:t> </a:t>
            </a:r>
            <a:r>
              <a:rPr dirty="0"/>
              <a:t>Ignatious,</a:t>
            </a:r>
            <a:r>
              <a:rPr dirty="0" spc="-50"/>
              <a:t> </a:t>
            </a:r>
            <a:r>
              <a:rPr dirty="0"/>
              <a:t>“Farm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Home:</a:t>
            </a:r>
            <a:r>
              <a:rPr dirty="0" spc="-110"/>
              <a:t> </a:t>
            </a:r>
            <a:r>
              <a:rPr dirty="0"/>
              <a:t>An</a:t>
            </a:r>
            <a:r>
              <a:rPr dirty="0" spc="-20"/>
              <a:t> </a:t>
            </a:r>
            <a:r>
              <a:rPr dirty="0" spc="-10"/>
              <a:t>E-commerce</a:t>
            </a:r>
            <a:r>
              <a:rPr dirty="0" spc="-60"/>
              <a:t> </a:t>
            </a:r>
            <a:r>
              <a:rPr dirty="0"/>
              <a:t>Application</a:t>
            </a:r>
            <a:r>
              <a:rPr dirty="0" spc="-45"/>
              <a:t> </a:t>
            </a:r>
            <a:r>
              <a:rPr dirty="0" spc="-25"/>
              <a:t>for </a:t>
            </a:r>
            <a:r>
              <a:rPr dirty="0"/>
              <a:t>Farmers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Consumers,”</a:t>
            </a:r>
            <a:r>
              <a:rPr dirty="0" spc="-25"/>
              <a:t> </a:t>
            </a:r>
            <a:r>
              <a:rPr dirty="0" spc="-10"/>
              <a:t>in</a:t>
            </a:r>
            <a:r>
              <a:rPr dirty="0" spc="-125"/>
              <a:t> </a:t>
            </a:r>
            <a:r>
              <a:rPr dirty="0"/>
              <a:t>Advances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Computational</a:t>
            </a:r>
            <a:r>
              <a:rPr dirty="0" spc="-35"/>
              <a:t> </a:t>
            </a:r>
            <a:r>
              <a:rPr dirty="0"/>
              <a:t>Intelligence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its</a:t>
            </a:r>
            <a:r>
              <a:rPr dirty="0" spc="-135"/>
              <a:t> </a:t>
            </a:r>
            <a:r>
              <a:rPr dirty="0"/>
              <a:t>Applications,</a:t>
            </a:r>
            <a:r>
              <a:rPr dirty="0" spc="-65"/>
              <a:t> </a:t>
            </a:r>
            <a:r>
              <a:rPr dirty="0"/>
              <a:t>May</a:t>
            </a:r>
            <a:r>
              <a:rPr dirty="0" spc="-30"/>
              <a:t> </a:t>
            </a:r>
            <a:r>
              <a:rPr dirty="0"/>
              <a:t>2024.</a:t>
            </a:r>
            <a:r>
              <a:rPr dirty="0" spc="-60"/>
              <a:t> </a:t>
            </a:r>
            <a:r>
              <a:rPr dirty="0" spc="-20"/>
              <a:t>DOI: </a:t>
            </a:r>
            <a:r>
              <a:rPr dirty="0"/>
              <a:t>10.1201/9781003488682-</a:t>
            </a:r>
            <a:r>
              <a:rPr dirty="0" spc="-25"/>
              <a:t>5.</a:t>
            </a:r>
          </a:p>
          <a:p>
            <a:pPr marL="90170" marR="802005" indent="-81280">
              <a:lnSpc>
                <a:spcPct val="150000"/>
              </a:lnSpc>
              <a:spcBef>
                <a:spcPts val="1200"/>
              </a:spcBef>
              <a:buClr>
                <a:srgbClr val="C45AC1"/>
              </a:buClr>
              <a:buSzPct val="95238"/>
              <a:buFont typeface="Wingdings"/>
              <a:buChar char=""/>
              <a:tabLst>
                <a:tab pos="90170" algn="l"/>
                <a:tab pos="222885" algn="l"/>
              </a:tabLst>
            </a:pPr>
            <a:r>
              <a:rPr dirty="0"/>
              <a:t>	</a:t>
            </a:r>
            <a:r>
              <a:rPr dirty="0"/>
              <a:t>S.</a:t>
            </a:r>
            <a:r>
              <a:rPr dirty="0" spc="-75"/>
              <a:t> </a:t>
            </a:r>
            <a:r>
              <a:rPr dirty="0"/>
              <a:t>Uplaonkar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S.</a:t>
            </a:r>
            <a:r>
              <a:rPr dirty="0" spc="-35"/>
              <a:t> </a:t>
            </a:r>
            <a:r>
              <a:rPr dirty="0" spc="-10"/>
              <a:t>Biradar,</a:t>
            </a:r>
            <a:r>
              <a:rPr dirty="0" spc="-40"/>
              <a:t> </a:t>
            </a:r>
            <a:r>
              <a:rPr dirty="0"/>
              <a:t>“Middleman</a:t>
            </a:r>
            <a:r>
              <a:rPr dirty="0" spc="-15"/>
              <a:t> </a:t>
            </a:r>
            <a:r>
              <a:rPr dirty="0"/>
              <a:t>Growth</a:t>
            </a:r>
            <a:r>
              <a:rPr dirty="0" spc="-35"/>
              <a:t> </a:t>
            </a:r>
            <a:r>
              <a:rPr dirty="0" spc="-10"/>
              <a:t>in</a:t>
            </a:r>
            <a:r>
              <a:rPr dirty="0" spc="-125"/>
              <a:t> </a:t>
            </a:r>
            <a:r>
              <a:rPr dirty="0"/>
              <a:t>Agricultural</a:t>
            </a:r>
            <a:r>
              <a:rPr dirty="0" spc="-35"/>
              <a:t> </a:t>
            </a:r>
            <a:r>
              <a:rPr dirty="0"/>
              <a:t>Field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Its</a:t>
            </a:r>
            <a:r>
              <a:rPr dirty="0" spc="-40"/>
              <a:t> </a:t>
            </a:r>
            <a:r>
              <a:rPr dirty="0"/>
              <a:t>Impact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/>
              <a:t>Farmers,” Int.</a:t>
            </a:r>
            <a:r>
              <a:rPr dirty="0" spc="-35"/>
              <a:t> </a:t>
            </a:r>
            <a:r>
              <a:rPr dirty="0"/>
              <a:t>J.</a:t>
            </a:r>
            <a:r>
              <a:rPr dirty="0" spc="-5"/>
              <a:t> </a:t>
            </a:r>
            <a:r>
              <a:rPr dirty="0"/>
              <a:t>Creat.</a:t>
            </a:r>
            <a:r>
              <a:rPr dirty="0" spc="-35"/>
              <a:t> </a:t>
            </a:r>
            <a:r>
              <a:rPr dirty="0" spc="-20"/>
              <a:t>Res. </a:t>
            </a:r>
            <a:r>
              <a:rPr dirty="0"/>
              <a:t>Thoughts,</a:t>
            </a:r>
            <a:r>
              <a:rPr dirty="0" spc="-40"/>
              <a:t> </a:t>
            </a:r>
            <a:r>
              <a:rPr dirty="0"/>
              <a:t>vol.</a:t>
            </a:r>
            <a:r>
              <a:rPr dirty="0" spc="-25"/>
              <a:t> </a:t>
            </a:r>
            <a:r>
              <a:rPr dirty="0"/>
              <a:t>8,</a:t>
            </a:r>
            <a:r>
              <a:rPr dirty="0" spc="-10"/>
              <a:t> </a:t>
            </a:r>
            <a:r>
              <a:rPr dirty="0"/>
              <a:t>no.</a:t>
            </a:r>
            <a:r>
              <a:rPr dirty="0" spc="-5"/>
              <a:t> </a:t>
            </a:r>
            <a:r>
              <a:rPr dirty="0"/>
              <a:t>3,</a:t>
            </a:r>
            <a:r>
              <a:rPr dirty="0" spc="-10"/>
              <a:t> </a:t>
            </a:r>
            <a:r>
              <a:rPr dirty="0"/>
              <a:t>pp.</a:t>
            </a:r>
            <a:r>
              <a:rPr dirty="0" spc="-20"/>
              <a:t> </a:t>
            </a:r>
            <a:r>
              <a:rPr dirty="0"/>
              <a:t>3314–3317,</a:t>
            </a:r>
            <a:r>
              <a:rPr dirty="0" spc="-50"/>
              <a:t> </a:t>
            </a:r>
            <a:r>
              <a:rPr dirty="0" spc="-10"/>
              <a:t>Mar.</a:t>
            </a:r>
            <a:r>
              <a:rPr dirty="0"/>
              <a:t> </a:t>
            </a:r>
            <a:r>
              <a:rPr dirty="0" spc="-10"/>
              <a:t>2020.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04189" y="7785303"/>
            <a:ext cx="838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01/08/2025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34733" y="7891983"/>
            <a:ext cx="11582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BATCH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254989" y="7895945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7648956"/>
            <a:ext cx="14720569" cy="631190"/>
            <a:chOff x="0" y="7648956"/>
            <a:chExt cx="14720569" cy="631190"/>
          </a:xfrm>
        </p:grpSpPr>
        <p:sp>
          <p:nvSpPr>
            <p:cNvPr id="3" name="object 3" descr=""/>
            <p:cNvSpPr/>
            <p:nvPr/>
          </p:nvSpPr>
          <p:spPr>
            <a:xfrm>
              <a:off x="3047" y="7728203"/>
              <a:ext cx="14717394" cy="551815"/>
            </a:xfrm>
            <a:custGeom>
              <a:avLst/>
              <a:gdLst/>
              <a:ahLst/>
              <a:cxnLst/>
              <a:rect l="l" t="t" r="r" b="b"/>
              <a:pathLst>
                <a:path w="14717394" h="551815">
                  <a:moveTo>
                    <a:pt x="14717267" y="0"/>
                  </a:moveTo>
                  <a:lnTo>
                    <a:pt x="0" y="0"/>
                  </a:lnTo>
                  <a:lnTo>
                    <a:pt x="0" y="551687"/>
                  </a:lnTo>
                  <a:lnTo>
                    <a:pt x="14717267" y="551687"/>
                  </a:lnTo>
                  <a:lnTo>
                    <a:pt x="14717267" y="0"/>
                  </a:lnTo>
                  <a:close/>
                </a:path>
              </a:pathLst>
            </a:custGeom>
            <a:solidFill>
              <a:srgbClr val="8036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7648956"/>
              <a:ext cx="14717394" cy="76200"/>
            </a:xfrm>
            <a:custGeom>
              <a:avLst/>
              <a:gdLst/>
              <a:ahLst/>
              <a:cxnLst/>
              <a:rect l="l" t="t" r="r" b="b"/>
              <a:pathLst>
                <a:path w="14717394" h="76200">
                  <a:moveTo>
                    <a:pt x="14717267" y="0"/>
                  </a:moveTo>
                  <a:lnTo>
                    <a:pt x="0" y="0"/>
                  </a:lnTo>
                  <a:lnTo>
                    <a:pt x="0" y="76199"/>
                  </a:lnTo>
                  <a:lnTo>
                    <a:pt x="14717267" y="76199"/>
                  </a:lnTo>
                  <a:lnTo>
                    <a:pt x="14717267" y="0"/>
                  </a:lnTo>
                  <a:close/>
                </a:path>
              </a:pathLst>
            </a:custGeom>
            <a:solidFill>
              <a:srgbClr val="C45A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369822" y="7848092"/>
            <a:ext cx="8388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01/08/2025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387590" y="7895945"/>
            <a:ext cx="11582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BATCH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254989" y="7895945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00803" y="3189808"/>
            <a:ext cx="5999480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0" b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dirty="0" sz="8000" spc="-3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8000" spc="-25" b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endParaRPr sz="8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meena</dc:creator>
  <dc:title>PowerPoint Presentation</dc:title>
  <dcterms:created xsi:type="dcterms:W3CDTF">2025-10-29T04:27:52Z</dcterms:created>
  <dcterms:modified xsi:type="dcterms:W3CDTF">2025-10-29T04:27:52Z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2025-10-29T00:00:00Z</vt:filetime>
  </property>
  <property fmtid="{D5CDD505-2E9C-101B-9397-08002B2CF9AE}" pid="5" name="Producer">
    <vt:lpwstr>Microsoft® PowerPoint® 2019</vt:lpwstr>
  </property>
</Properties>
</file>