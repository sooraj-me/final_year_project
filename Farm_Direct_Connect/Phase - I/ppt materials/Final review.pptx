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0" r:id="rId6"/>
    <p:sldId id="285" r:id="rId7"/>
    <p:sldId id="303" r:id="rId8"/>
    <p:sldId id="302" r:id="rId9"/>
    <p:sldId id="286" r:id="rId10"/>
    <p:sldId id="291" r:id="rId11"/>
    <p:sldId id="292" r:id="rId12"/>
    <p:sldId id="300" r:id="rId13"/>
    <p:sldId id="294" r:id="rId14"/>
    <p:sldId id="296" r:id="rId15"/>
    <p:sldId id="282" r:id="rId16"/>
  </p:sldIdLst>
  <p:sldSz cx="14720570" cy="82804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C66"/>
    <a:srgbClr val="FF7C80"/>
    <a:srgbClr val="FFCC99"/>
    <a:srgbClr val="FF9966"/>
    <a:srgbClr val="FF9933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737" autoAdjust="0"/>
  </p:normalViewPr>
  <p:slideViewPr>
    <p:cSldViewPr snapToGrid="0" showGuides="1">
      <p:cViewPr>
        <p:scale>
          <a:sx n="58" d="100"/>
          <a:sy n="58" d="100"/>
        </p:scale>
        <p:origin x="5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4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0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5E484A-C351-46AB-BFE7-E15D7EF7F947}" type="datetimeFigureOut">
              <a:rPr lang="en-US"/>
            </a:fld>
            <a:endParaRPr lang="en-US"/>
          </a:p>
        </p:txBody>
      </p:sp>
      <p:sp>
        <p:nvSpPr>
          <p:cNvPr id="10487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0487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1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84F635C-79E0-4AB5-B588-305DCA57CC7D}" type="slidenum">
              <a:rPr lang="en-US" altLang="en-US"/>
            </a:fld>
            <a:endParaRPr lang="en-US" altLang="en-US">
              <a:ea typeface="Latha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13"/>
          <p:cNvSpPr txBox="1">
            <a:spLocks noChangeArrowheads="1"/>
          </p:cNvSpPr>
          <p:nvPr/>
        </p:nvSpPr>
        <p:spPr bwMode="auto">
          <a:xfrm>
            <a:off x="1692275" y="306388"/>
            <a:ext cx="11333163" cy="1139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800" b="1" dirty="0">
                <a:cs typeface="Merriweather" pitchFamily="2" charset="0"/>
              </a:rPr>
              <a:t>SRI RAMAKRISHNA INSTITUTE OF TECHNOLOGY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(An Autonomous Institution)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   </a:t>
            </a:r>
            <a:r>
              <a:rPr lang="en-US" altLang="en-US" sz="2000" dirty="0" err="1">
                <a:cs typeface="Merriweather" pitchFamily="2" charset="0"/>
              </a:rPr>
              <a:t>Pachapalyam</a:t>
            </a:r>
            <a:r>
              <a:rPr lang="en-US" altLang="en-US" sz="2000" dirty="0">
                <a:cs typeface="Merriweather" pitchFamily="2" charset="0"/>
              </a:rPr>
              <a:t>, </a:t>
            </a:r>
            <a:r>
              <a:rPr lang="en-US" altLang="en-US" sz="2000" dirty="0" err="1">
                <a:cs typeface="Merriweather" pitchFamily="2" charset="0"/>
              </a:rPr>
              <a:t>Perur</a:t>
            </a:r>
            <a:r>
              <a:rPr lang="en-US" altLang="en-US" sz="2000" dirty="0">
                <a:cs typeface="Merriweather" pitchFamily="2" charset="0"/>
              </a:rPr>
              <a:t> </a:t>
            </a:r>
            <a:r>
              <a:rPr lang="en-US" altLang="en-US" sz="2000" dirty="0" err="1">
                <a:cs typeface="Merriweather" pitchFamily="2" charset="0"/>
              </a:rPr>
              <a:t>Chettipalayam</a:t>
            </a:r>
            <a:r>
              <a:rPr lang="en-US" altLang="en-US" sz="2000" dirty="0">
                <a:cs typeface="Merriweather" pitchFamily="2" charset="0"/>
              </a:rPr>
              <a:t>, Coimbatore –  641010</a:t>
            </a:r>
            <a:endParaRPr lang="en-US" altLang="en-US" sz="2000" dirty="0"/>
          </a:p>
        </p:txBody>
      </p:sp>
      <p:pic>
        <p:nvPicPr>
          <p:cNvPr id="5" name="image2.png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217488"/>
            <a:ext cx="121443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1.png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5" y="301625"/>
            <a:ext cx="117475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2209800" y="1671638"/>
            <a:ext cx="9607550" cy="5111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800" b="1"/>
              <a:t>DEPARTMENT OF COMPUTER SCIENCE AND ENGINEERING</a:t>
            </a:r>
            <a:endParaRPr lang="en-US" altLang="en-US" sz="2800" b="1"/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681788" y="4891088"/>
            <a:ext cx="17224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400"/>
              <a:t>Review 1</a:t>
            </a:r>
            <a:endParaRPr lang="en-US" altLang="en-US" sz="2400"/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085850" y="5278438"/>
            <a:ext cx="5688013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400"/>
              <a:t>Presented by,</a:t>
            </a:r>
            <a:endParaRPr lang="en-US" altLang="en-US" sz="2400"/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9391650" y="5275263"/>
            <a:ext cx="4243388" cy="625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en-US" sz="2400"/>
              <a:t>Guided by,</a:t>
            </a:r>
            <a:endParaRPr lang="en-US" altLang="en-US" sz="2400"/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324880" y="2753873"/>
            <a:ext cx="12144733" cy="2040549"/>
          </a:xfrm>
        </p:spPr>
        <p:txBody>
          <a:bodyPr/>
          <a:lstStyle>
            <a:lvl1pPr algn="ctr">
              <a:lnSpc>
                <a:spcPct val="85000"/>
              </a:lnSpc>
              <a:defRPr sz="4400" spc="-43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1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3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319C7-1E44-42CB-96A2-7DA6CCC9520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74143"/>
          </a:xfrm>
        </p:spPr>
        <p:txBody>
          <a:bodyPr/>
          <a:lstStyle>
            <a:lvl1pPr marL="0">
              <a:defRPr sz="400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571500" y="1840230"/>
            <a:ext cx="13658850" cy="576421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5475" y="7796213"/>
            <a:ext cx="298450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2125" y="7796213"/>
            <a:ext cx="582295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A5908-AB13-4651-96C8-886DFB14A4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" name="Straight Connector 8"/>
          <p:cNvCxnSpPr/>
          <p:nvPr/>
        </p:nvCxnSpPr>
        <p:spPr>
          <a:xfrm>
            <a:off x="1458913" y="5243513"/>
            <a:ext cx="119237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324880" y="916365"/>
            <a:ext cx="12144733" cy="4305808"/>
          </a:xfrm>
        </p:spPr>
        <p:txBody>
          <a:bodyPr/>
          <a:lstStyle>
            <a:lvl1pPr>
              <a:lnSpc>
                <a:spcPct val="85000"/>
              </a:lnSpc>
              <a:defRPr sz="685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1324880" y="5376740"/>
            <a:ext cx="12144733" cy="1380067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55" cap="all" spc="171" baseline="0">
                <a:solidFill>
                  <a:schemeClr val="tx2"/>
                </a:solidFill>
                <a:latin typeface="+mj-lt"/>
              </a:defRPr>
            </a:lvl1pPr>
            <a:lvl2pPr marL="391795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2pPr>
            <a:lvl3pPr marL="782955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1747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59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77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48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0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31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DFA7B-901D-4AE2-A265-024E846A3B5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7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1324880" y="2228554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7507655" y="2228555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4CABE-FB71-481A-AFC2-4FEBC2D4388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9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1324882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1048689" name="Content Placeholder 3"/>
          <p:cNvSpPr>
            <a:spLocks noGrp="1"/>
          </p:cNvSpPr>
          <p:nvPr>
            <p:ph sz="half" idx="2"/>
          </p:nvPr>
        </p:nvSpPr>
        <p:spPr>
          <a:xfrm>
            <a:off x="1324882" y="3117930"/>
            <a:ext cx="5961960" cy="4078864"/>
          </a:xfrm>
        </p:spPr>
        <p:txBody>
          <a:bodyPr/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6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7655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1048691" name="Content Placeholder 5"/>
          <p:cNvSpPr>
            <a:spLocks noGrp="1"/>
          </p:cNvSpPr>
          <p:nvPr>
            <p:ph sz="quarter" idx="4"/>
          </p:nvPr>
        </p:nvSpPr>
        <p:spPr>
          <a:xfrm>
            <a:off x="7507655" y="3117930"/>
            <a:ext cx="5961960" cy="4078864"/>
          </a:xfrm>
        </p:spPr>
        <p:txBody>
          <a:bodyPr>
            <a:normAutofit/>
          </a:bodyPr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AD65B-5615-4FFB-BCFC-B0686AAE6D2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948690" y="334618"/>
            <a:ext cx="13498830" cy="1410166"/>
          </a:xfrm>
        </p:spPr>
        <p:txBody>
          <a:bodyPr/>
          <a:lstStyle>
            <a:lvl1pPr>
              <a:defRPr sz="411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D57C0-99D9-4441-A01C-6FA71EEA264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7B1D5-EAAB-4580-9B25-4062060462F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0"/>
            <a:ext cx="4891088" cy="828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4878388" y="0"/>
            <a:ext cx="76200" cy="828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552035" y="717635"/>
            <a:ext cx="3864234" cy="2760133"/>
          </a:xfrm>
        </p:spPr>
        <p:txBody>
          <a:bodyPr/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5796352" y="883244"/>
            <a:ext cx="7838874" cy="6348307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035" y="3532972"/>
            <a:ext cx="3864234" cy="407997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561975" y="7799388"/>
            <a:ext cx="3162300" cy="4413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5963" y="7799388"/>
            <a:ext cx="5613400" cy="441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D6116F-D484-47D6-B55B-05CD52E9C01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5980113"/>
            <a:ext cx="14717713" cy="2300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0" y="5934075"/>
            <a:ext cx="14717713" cy="77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324880" y="6127496"/>
            <a:ext cx="12210976" cy="993648"/>
          </a:xfrm>
        </p:spPr>
        <p:txBody>
          <a:bodyPr tIns="0" bIns="0">
            <a:noAutofit/>
          </a:bodyPr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6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" y="1"/>
            <a:ext cx="14720870" cy="5934499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740">
                <a:solidFill>
                  <a:schemeClr val="bg1"/>
                </a:solidFill>
              </a:defRPr>
            </a:lvl1pPr>
            <a:lvl2pPr marL="391795" indent="0">
              <a:buNone/>
              <a:defRPr sz="2400"/>
            </a:lvl2pPr>
            <a:lvl3pPr marL="782955" indent="0">
              <a:buNone/>
              <a:defRPr sz="2055"/>
            </a:lvl3pPr>
            <a:lvl4pPr marL="1174750" indent="0">
              <a:buNone/>
              <a:defRPr sz="1715"/>
            </a:lvl4pPr>
            <a:lvl5pPr marL="1565910" indent="0">
              <a:buNone/>
              <a:defRPr sz="1715"/>
            </a:lvl5pPr>
            <a:lvl6pPr marL="1957705" indent="0">
              <a:buNone/>
              <a:defRPr sz="1715"/>
            </a:lvl6pPr>
            <a:lvl7pPr marL="2348865" indent="0">
              <a:buNone/>
              <a:defRPr sz="1715"/>
            </a:lvl7pPr>
            <a:lvl8pPr marL="2740660" indent="0">
              <a:buNone/>
              <a:defRPr sz="1715"/>
            </a:lvl8pPr>
            <a:lvl9pPr marL="3131820" indent="0">
              <a:buNone/>
              <a:defRPr sz="171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4880" y="7132184"/>
            <a:ext cx="12210976" cy="71763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15"/>
              </a:spcAft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67A48-2896-4E63-882F-71F6C01DA13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4D8E1-EC91-4847-8D4E-270B147E64B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10534635" y="500808"/>
            <a:ext cx="3174192" cy="695155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2061" y="500806"/>
            <a:ext cx="9338563" cy="6951554"/>
          </a:xfrm>
        </p:spPr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D5597-3EC6-42B8-B043-9035FE2C929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0" y="7688263"/>
            <a:ext cx="14720888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55" dirty="0"/>
          </a:p>
        </p:txBody>
      </p:sp>
      <p:sp>
        <p:nvSpPr>
          <p:cNvPr id="1048577" name="Rectangle 8"/>
          <p:cNvSpPr/>
          <p:nvPr/>
        </p:nvSpPr>
        <p:spPr>
          <a:xfrm>
            <a:off x="0" y="7648575"/>
            <a:ext cx="14720888" cy="79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8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2613" y="346075"/>
            <a:ext cx="13498512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9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582613" y="1816100"/>
            <a:ext cx="13498512" cy="557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325563" y="7799388"/>
            <a:ext cx="29845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350" y="7799388"/>
            <a:ext cx="582295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53875" y="7799388"/>
            <a:ext cx="1584325" cy="4413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B4E13C52-CF49-4C68-B257-8F1EDED75F76}" type="slidenum">
              <a:rPr lang="en-US" altLang="en-US"/>
            </a:fld>
            <a:endParaRPr lang="en-US" alt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582613" y="1644650"/>
            <a:ext cx="134985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 kern="1200" spc="-43">
          <a:solidFill>
            <a:srgbClr val="404040"/>
          </a:solidFill>
          <a:latin typeface="+mj-lt"/>
          <a:ea typeface="+mj-ea"/>
          <a:cs typeface="+mj-cs"/>
        </a:defRPr>
      </a:lvl1pPr>
      <a:lvl2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78105" indent="-78105" algn="l" defTabSz="782955" rtl="0" eaLnBrk="0" fontAlgn="base" hangingPunct="0">
        <a:lnSpc>
          <a:spcPct val="150000"/>
        </a:lnSpc>
        <a:spcBef>
          <a:spcPts val="1025"/>
        </a:spcBef>
        <a:spcAft>
          <a:spcPts val="17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rgbClr val="404040"/>
          </a:solidFill>
          <a:latin typeface="+mn-lt"/>
          <a:ea typeface="+mn-ea"/>
          <a:cs typeface="+mn-cs"/>
        </a:defRPr>
      </a:lvl1pPr>
      <a:lvl2pPr marL="3289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484505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3pPr>
      <a:lvl4pPr marL="64135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4pPr>
      <a:lvl5pPr marL="7988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5pPr>
      <a:lvl6pPr marL="9417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1315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846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55420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79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475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591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770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886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4066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3182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Date Placeholder 1"/>
          <p:cNvSpPr>
            <a:spLocks noGrp="1" noChangeArrowheads="1"/>
          </p:cNvSpPr>
          <p:nvPr>
            <p:ph type="dt" sz="half" idx="10"/>
          </p:nvPr>
        </p:nvSpPr>
        <p:spPr bwMode="auto"/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30/10/2025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END SEMESTER VIVA VOCE                            </a:t>
            </a:r>
            <a:endParaRPr lang="en-US" dirty="0"/>
          </a:p>
        </p:txBody>
      </p:sp>
      <p:sp>
        <p:nvSpPr>
          <p:cNvPr id="1024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176E964-1996-4E91-8A8B-2E87A98B6DE2}" type="slidenum">
              <a:rPr lang="en-US" altLang="en-US"/>
            </a:fld>
            <a:endParaRPr lang="en-US" altLang="en-US"/>
          </a:p>
        </p:txBody>
      </p:sp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038" y="490538"/>
            <a:ext cx="15144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2455863" y="552450"/>
            <a:ext cx="103028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3200" b="1" dirty="0"/>
              <a:t>SRI RAMAKRISHNA INSTITUTE OF TECHNOLOGY</a:t>
            </a:r>
            <a:endParaRPr lang="en-IN" altLang="en-US" sz="3200" b="1" dirty="0"/>
          </a:p>
        </p:txBody>
      </p:sp>
      <p:sp>
        <p:nvSpPr>
          <p:cNvPr id="10247" name="TextBox 10"/>
          <p:cNvSpPr txBox="1">
            <a:spLocks noChangeArrowheads="1"/>
          </p:cNvSpPr>
          <p:nvPr/>
        </p:nvSpPr>
        <p:spPr bwMode="auto">
          <a:xfrm>
            <a:off x="5699125" y="1138238"/>
            <a:ext cx="678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(An Autonomous Institution) </a:t>
            </a:r>
            <a:endParaRPr lang="en-IN" altLang="en-US" dirty="0"/>
          </a:p>
        </p:txBody>
      </p:sp>
      <p:sp>
        <p:nvSpPr>
          <p:cNvPr id="10248" name="TextBox 11"/>
          <p:cNvSpPr txBox="1">
            <a:spLocks noChangeArrowheads="1"/>
          </p:cNvSpPr>
          <p:nvPr/>
        </p:nvSpPr>
        <p:spPr bwMode="auto">
          <a:xfrm>
            <a:off x="4221163" y="1585913"/>
            <a:ext cx="8920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 err="1"/>
              <a:t>Pachapalayam</a:t>
            </a:r>
            <a:r>
              <a:rPr lang="en-US" altLang="en-US"/>
              <a:t>, Perur Chettipalayam, Coimbatore- 641 010</a:t>
            </a:r>
            <a:endParaRPr lang="en-IN" altLang="en-US"/>
          </a:p>
        </p:txBody>
      </p:sp>
      <p:sp>
        <p:nvSpPr>
          <p:cNvPr id="10249" name="TextBox 12"/>
          <p:cNvSpPr txBox="1">
            <a:spLocks noChangeArrowheads="1"/>
          </p:cNvSpPr>
          <p:nvPr/>
        </p:nvSpPr>
        <p:spPr bwMode="auto">
          <a:xfrm>
            <a:off x="2222500" y="2090738"/>
            <a:ext cx="1091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800" b="1" dirty="0"/>
              <a:t>DEPARTMENT OF COMPUTER SCIENCE AND ENGINEERING</a:t>
            </a:r>
            <a:endParaRPr lang="en-IN" altLang="en-US" sz="2800" b="1" dirty="0"/>
          </a:p>
        </p:txBody>
      </p:sp>
      <p:sp>
        <p:nvSpPr>
          <p:cNvPr id="10250" name="TextBox 14"/>
          <p:cNvSpPr txBox="1">
            <a:spLocks noChangeArrowheads="1"/>
          </p:cNvSpPr>
          <p:nvPr/>
        </p:nvSpPr>
        <p:spPr bwMode="auto">
          <a:xfrm>
            <a:off x="656863" y="5211790"/>
            <a:ext cx="5042262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Presented by:</a:t>
            </a:r>
            <a:endParaRPr lang="en-US" altLang="en-US" dirty="0"/>
          </a:p>
          <a:p>
            <a:r>
              <a:rPr lang="en-US" altLang="en-US" dirty="0"/>
              <a:t>               </a:t>
            </a:r>
            <a:endParaRPr lang="en-US" altLang="en-US" dirty="0"/>
          </a:p>
          <a:p>
            <a:r>
              <a:rPr lang="en-US" altLang="en-US" dirty="0"/>
              <a:t>               </a:t>
            </a:r>
            <a:r>
              <a:rPr lang="en-US" altLang="en-GB" dirty="0">
                <a:sym typeface="+mn-ea"/>
              </a:rPr>
              <a:t>SANJAY S                         -  71382202130</a:t>
            </a:r>
            <a:endParaRPr lang="en-IN" altLang="en-US" dirty="0"/>
          </a:p>
          <a:p>
            <a:r>
              <a:rPr lang="en-US" altLang="en-US" dirty="0"/>
              <a:t>               </a:t>
            </a:r>
            <a:r>
              <a:rPr lang="en-US" altLang="en-US" dirty="0">
                <a:sym typeface="+mn-ea"/>
              </a:rPr>
              <a:t>SARUKESH  A                </a:t>
            </a:r>
            <a:r>
              <a:rPr lang="en-US" altLang="en-GB" dirty="0">
                <a:sym typeface="+mn-ea"/>
              </a:rPr>
              <a:t> </a:t>
            </a:r>
            <a:r>
              <a:rPr lang="en-GB" altLang="en-US">
                <a:sym typeface="+mn-ea"/>
              </a:rPr>
              <a:t>-  71382202134</a:t>
            </a:r>
            <a:endParaRPr lang="en-US" altLang="en-US" dirty="0"/>
          </a:p>
          <a:p>
            <a:r>
              <a:rPr lang="en-US" altLang="en-GB" dirty="0"/>
              <a:t>               SOORAJ R NAIR             -  </a:t>
            </a:r>
            <a:r>
              <a:rPr lang="en-GB" altLang="en-GB" dirty="0"/>
              <a:t>71382202152</a:t>
            </a:r>
            <a:endParaRPr lang="en-US" altLang="en-US" dirty="0"/>
          </a:p>
          <a:p>
            <a:r>
              <a:rPr lang="en-US" altLang="en-US" dirty="0"/>
              <a:t>	       VIGNESHWARAN  S</a:t>
            </a:r>
            <a:r>
              <a:rPr lang="en-US" altLang="en-GB" dirty="0"/>
              <a:t>      </a:t>
            </a:r>
            <a:r>
              <a:rPr lang="en-GB" altLang="en-US" dirty="0"/>
              <a:t>- 71382202173</a:t>
            </a:r>
            <a:endParaRPr lang="en-US" altLang="en-US" dirty="0"/>
          </a:p>
          <a:p>
            <a:r>
              <a:rPr lang="en-US" altLang="en-US" dirty="0"/>
              <a:t>	     </a:t>
            </a:r>
            <a:endParaRPr lang="en-US" altLang="en-GB" dirty="0"/>
          </a:p>
          <a:p>
            <a:r>
              <a:rPr lang="en-US" altLang="en-GB" dirty="0"/>
              <a:t>             </a:t>
            </a:r>
            <a:endParaRPr lang="en-I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707563" y="5289550"/>
            <a:ext cx="3956050" cy="17532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Guided by: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MS A JAYASMRUTHI </a:t>
            </a:r>
            <a:endParaRPr lang="en-GB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Times New Roman" panose="02020603050405020304" pitchFamily="18" charset="0"/>
              </a:rPr>
              <a:t>        Assistant</a:t>
            </a:r>
            <a:r>
              <a:rPr lang="en-US" spc="5" dirty="0">
                <a:latin typeface="+mn-lt"/>
                <a:ea typeface="Times New Roman" panose="02020603050405020304" pitchFamily="18" charset="0"/>
              </a:rPr>
              <a:t> </a:t>
            </a:r>
            <a:r>
              <a:rPr lang="en-US" spc="-5" dirty="0">
                <a:latin typeface="+mn-lt"/>
                <a:ea typeface="Times New Roman" panose="02020603050405020304" pitchFamily="18" charset="0"/>
              </a:rPr>
              <a:t>Professor</a:t>
            </a:r>
            <a:endParaRPr lang="en-US" spc="-5" dirty="0">
              <a:latin typeface="+mn-lt"/>
              <a:ea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" dirty="0">
                <a:latin typeface="+mn-lt"/>
              </a:rPr>
              <a:t>        Department of CSE</a:t>
            </a:r>
            <a:endParaRPr lang="en-IN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sp>
        <p:nvSpPr>
          <p:cNvPr id="10252" name="TextBox 17"/>
          <p:cNvSpPr txBox="1">
            <a:spLocks noChangeArrowheads="1"/>
          </p:cNvSpPr>
          <p:nvPr/>
        </p:nvSpPr>
        <p:spPr bwMode="auto">
          <a:xfrm>
            <a:off x="2984500" y="2761615"/>
            <a:ext cx="8412480" cy="87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algn="ctr"/>
            <a:r>
              <a:rPr lang="en-US" altLang="en-US" sz="2400" dirty="0"/>
              <a:t>20CS902 - FYP  Phase I </a:t>
            </a:r>
            <a:endParaRPr lang="en-US" altLang="en-US" sz="2400" dirty="0"/>
          </a:p>
          <a:p>
            <a:pPr algn="ctr"/>
            <a:r>
              <a:rPr lang="en-US" altLang="en-US" sz="2400" dirty="0"/>
              <a:t>END SEMESTER VIVA-VOCE </a:t>
            </a:r>
            <a:br>
              <a:rPr lang="en-US" altLang="en-US" sz="2400" dirty="0"/>
            </a:br>
            <a:r>
              <a:rPr lang="en-US" altLang="en-US" sz="2400" dirty="0"/>
              <a:t>BATCH NO : 39</a:t>
            </a:r>
            <a:endParaRPr lang="en-US" altLang="en-US" sz="2400" dirty="0"/>
          </a:p>
          <a:p>
            <a:pPr algn="ctr"/>
            <a:endParaRPr lang="en-US" altLang="en-US" sz="2400" dirty="0"/>
          </a:p>
          <a:p>
            <a:pPr algn="ctr"/>
            <a:endParaRPr lang="en-US" altLang="en-US" sz="2400" dirty="0"/>
          </a:p>
        </p:txBody>
      </p:sp>
      <p:sp>
        <p:nvSpPr>
          <p:cNvPr id="10253" name="TextBox 15"/>
          <p:cNvSpPr txBox="1">
            <a:spLocks noChangeArrowheads="1"/>
          </p:cNvSpPr>
          <p:nvPr/>
        </p:nvSpPr>
        <p:spPr bwMode="auto">
          <a:xfrm>
            <a:off x="1003935" y="3885565"/>
            <a:ext cx="12659360" cy="162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US" altLang="en-IN" sz="2800" b="1" dirty="0"/>
              <a:t>  </a:t>
            </a:r>
            <a:r>
              <a:rPr lang="en-US" sz="2800" b="1" spc="50" dirty="0">
                <a:latin typeface="Times New Roman" panose="02020603050405020304"/>
              </a:rPr>
              <a:t>ADDRESSING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THE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INCOME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GAP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0" dirty="0">
                <a:latin typeface="Times New Roman" panose="02020603050405020304"/>
              </a:rPr>
              <a:t>CAUSED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BY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MIDDLEMEN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15" dirty="0">
                <a:latin typeface="Times New Roman" panose="02020603050405020304"/>
              </a:rPr>
              <a:t>IN </a:t>
            </a:r>
            <a:r>
              <a:rPr lang="en-US" sz="2800" b="1" dirty="0">
                <a:latin typeface="Times New Roman" panose="02020603050405020304"/>
              </a:rPr>
              <a:t>AGRICULTURAL MARKETING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THROUGH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DIRECT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-10" dirty="0">
                <a:latin typeface="Times New Roman" panose="02020603050405020304"/>
              </a:rPr>
              <a:t>FARMER-</a:t>
            </a:r>
            <a:r>
              <a:rPr lang="en-US" sz="2800" b="1" dirty="0">
                <a:latin typeface="Times New Roman" panose="02020603050405020304"/>
              </a:rPr>
              <a:t>TO-</a:t>
            </a:r>
            <a:r>
              <a:rPr lang="en-US" sz="2800" b="1" spc="60" dirty="0">
                <a:latin typeface="Times New Roman" panose="02020603050405020304"/>
              </a:rPr>
              <a:t>CONSUMER </a:t>
            </a:r>
            <a:r>
              <a:rPr lang="en-US" sz="2800" b="1" spc="65" dirty="0">
                <a:latin typeface="Times New Roman" panose="02020603050405020304"/>
              </a:rPr>
              <a:t>SOLUTIONS</a:t>
            </a:r>
            <a:endParaRPr lang="en-US" sz="2800" dirty="0">
              <a:latin typeface="Times New Roman" panose="02020603050405020304"/>
            </a:endParaRPr>
          </a:p>
          <a:p>
            <a:pPr algn="ctr"/>
            <a:endParaRPr lang="en-US" alt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03" y="555867"/>
            <a:ext cx="927432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019" y="353695"/>
            <a:ext cx="13658850" cy="1174143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CONTENT OUTLINE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96" y="1527884"/>
            <a:ext cx="13658850" cy="5911411"/>
          </a:xfrm>
        </p:spPr>
        <p:txBody>
          <a:bodyPr>
            <a:noAutofit/>
          </a:bodyPr>
          <a:lstStyle/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Abstract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System Architecture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Overall Design 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Integration &amp; Experimental Results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Performance Evaluation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Implementation 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Results &amp; Analysis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Conclusion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References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630555" lvl="1" indent="-457200" eaLnBrk="1" hangingPunct="1">
              <a:buFont typeface="+mj-lt"/>
              <a:buAutoNum type="arabicPeriod"/>
            </a:pPr>
            <a:endParaRPr lang="en-US" alt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1146" y="7796212"/>
            <a:ext cx="5822950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</a:t>
            </a:r>
            <a:r>
              <a:rPr lang="en-US" dirty="0">
                <a:sym typeface="+mn-ea"/>
              </a:rPr>
              <a:t> END SEMESTER VIVA VOCE </a:t>
            </a:r>
            <a:r>
              <a:rPr lang="en-US" dirty="0"/>
              <a:t>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953875" y="7838758"/>
            <a:ext cx="1584325" cy="441325"/>
          </a:xfrm>
        </p:spPr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20725"/>
            <a:ext cx="2491105" cy="836295"/>
          </a:xfrm>
        </p:spPr>
        <p:txBody>
          <a:bodyPr/>
          <a:lstStyle/>
          <a:p>
            <a:r>
              <a:rPr lang="en-US" altLang="en-IN" sz="2800" b="1" dirty="0">
                <a:solidFill>
                  <a:schemeClr val="tx1"/>
                </a:solidFill>
              </a:rPr>
              <a:t>ABSTRACT</a:t>
            </a:r>
            <a:endParaRPr lang="en-US" alt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851247"/>
            <a:ext cx="13658850" cy="5764213"/>
          </a:xfrm>
        </p:spPr>
        <p:txBody>
          <a:bodyPr>
            <a:noAutofit/>
          </a:bodyPr>
          <a:lstStyle/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spc="-20" dirty="0">
                <a:solidFill>
                  <a:schemeClr val="tx1"/>
                </a:solidFill>
              </a:rPr>
              <a:t> Farmer dashboard enables product upload with images, price, and stock management</a:t>
            </a:r>
            <a:endParaRPr lang="en-US" altLang="en-US" sz="2400" spc="-2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spc="-20" dirty="0">
                <a:solidFill>
                  <a:schemeClr val="tx1"/>
                </a:solidFill>
              </a:rPr>
              <a:t> Consumer interface supports browsing, filtering, searching, and direct ordering</a:t>
            </a:r>
            <a:endParaRPr lang="en-US" altLang="en-US" sz="2400" spc="-2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spc="-20" dirty="0">
                <a:solidFill>
                  <a:schemeClr val="tx1"/>
                </a:solidFill>
              </a:rPr>
              <a:t> Implement user authentication for farmers and consumers</a:t>
            </a:r>
            <a:endParaRPr lang="en-US" altLang="en-US" sz="2400" spc="-2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spc="-20" dirty="0">
                <a:solidFill>
                  <a:schemeClr val="tx1"/>
                </a:solidFill>
              </a:rPr>
              <a:t> Provide real-time order tracking and logistics updates</a:t>
            </a:r>
            <a:endParaRPr lang="en-US" altLang="en-US" sz="2400" spc="-2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spc="-20" dirty="0">
                <a:solidFill>
                  <a:schemeClr val="tx1"/>
                </a:solidFill>
              </a:rPr>
              <a:t> Include review and rating system for trust building</a:t>
            </a:r>
            <a:endParaRPr lang="en-US" altLang="en-US" sz="2400" spc="-2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spc="-20" dirty="0">
                <a:solidFill>
                  <a:schemeClr val="tx1"/>
                </a:solidFill>
              </a:rPr>
              <a:t> Ensure responsive design for mobile and desktop access</a:t>
            </a:r>
            <a:endParaRPr lang="en-US" altLang="en-US" sz="2400" spc="-2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spc="-20" dirty="0">
                <a:solidFill>
                  <a:schemeClr val="tx1"/>
                </a:solidFill>
              </a:rPr>
              <a:t> Promote traceable supply chains and sustainable agriculture</a:t>
            </a:r>
            <a:endParaRPr lang="en-US" altLang="en-US" sz="2400" spc="-20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spc="-20" dirty="0">
                <a:solidFill>
                  <a:schemeClr val="tx1"/>
                </a:solidFill>
              </a:rPr>
              <a:t> Reduce transaction costs and minimize food waste</a:t>
            </a:r>
            <a:endParaRPr lang="en-US" altLang="en-US" sz="2400" spc="-2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</a:t>
            </a:r>
            <a:r>
              <a:rPr lang="en-US" dirty="0">
                <a:sym typeface="+mn-ea"/>
              </a:rPr>
              <a:t> END SEMESTER VIVA VOCE </a:t>
            </a:r>
            <a:r>
              <a:rPr lang="en-US" dirty="0"/>
              <a:t>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SYSTEM ARCHITECTURE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  <p:pic>
        <p:nvPicPr>
          <p:cNvPr id="3" name="Content Placeholder 2" descr="fy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965" y="1913890"/>
            <a:ext cx="10203180" cy="5581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382877"/>
            <a:ext cx="13658850" cy="1174143"/>
          </a:xfrm>
        </p:spPr>
        <p:txBody>
          <a:bodyPr/>
          <a:p>
            <a:r>
              <a:rPr lang="en-US" sz="2800" b="1">
                <a:solidFill>
                  <a:schemeClr val="tx1"/>
                </a:solidFill>
              </a:rPr>
              <a:t>OVERALL DESIGN</a:t>
            </a: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/>
              <a:t>BATCH ID : 39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/>
              <a:t>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AAA5908-AB13-4651-96C8-886DFB14A447}" type="slidenum">
              <a:rPr lang="en-US" altLang="en-US"/>
            </a:fld>
            <a:endParaRPr lang="en-US" altLang="en-US"/>
          </a:p>
        </p:txBody>
      </p:sp>
      <p:pic>
        <p:nvPicPr>
          <p:cNvPr id="9" name="Content Placeholder 8" descr="ChatGPT Image Oct 28, 2025, 03_55_39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58110" y="1840230"/>
            <a:ext cx="9065260" cy="5764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54635"/>
            <a:ext cx="10701020" cy="1174115"/>
          </a:xfrm>
        </p:spPr>
        <p:txBody>
          <a:bodyPr/>
          <a:p>
            <a:r>
              <a:rPr lang="en-US" altLang="en-US" sz="2800" b="1" dirty="0">
                <a:solidFill>
                  <a:schemeClr val="tx1"/>
                </a:solidFill>
                <a:sym typeface="+mn-ea"/>
              </a:rPr>
              <a:t> INTEGRATION &amp; EXPERIMENTAL RESULTS</a:t>
            </a:r>
            <a:endParaRPr 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 React (HTML, CSS, and JavaScript) connects smoothly with the Node.js/Express backend using Axios for API calls and JWT for secure login and authentication. </a:t>
            </a:r>
            <a:endParaRPr lang="en-US" altLang="en-US" sz="230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 The backend uses Express to connect with MongoDB Atlas through Mongoose for storing and managing data efficiently. Payment processing is handled using Stripe, which achieved a 99.8% success rate, with quick order updates and refunds completed in under 200 milliseconds.</a:t>
            </a:r>
            <a:endParaRPr lang="en-US" altLang="en-US" sz="230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 Shipping and delivery tracking are automated using the Shiprocket logistics API. Real-time order tracking is available through WebSocket in React, tested with 500 orders, which reduced manual work by about 75%.</a:t>
            </a:r>
            <a:endParaRPr lang="en-US" altLang="en-US" sz="230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 Performance testing with 2,500 simultaneous users using JMeter showed strong results — 99% uptime, an average page load of 1.1 seconds, and 180 orders processed per minute</a:t>
            </a:r>
            <a:endParaRPr lang="en-US" altLang="en-US" sz="230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en-US" sz="230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r>
              <a:rPr lang="en-US"/>
              <a:t>BATCH ID :</a:t>
            </a:r>
            <a:r>
              <a:rPr lang="en-US">
                <a:solidFill>
                  <a:schemeClr val="bg1">
                    <a:lumMod val="85000"/>
                  </a:schemeClr>
                </a:solidFill>
              </a:rPr>
              <a:t> 39</a:t>
            </a:r>
            <a:r>
              <a:rPr lang="en-US"/>
              <a:t>   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/>
              <a:t>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AAA5908-AB13-4651-96C8-886DFB14A4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2800" b="1" dirty="0">
                <a:solidFill>
                  <a:schemeClr val="tx1"/>
                </a:solidFill>
              </a:rPr>
              <a:t>PERFORMANCE EVALUATION</a:t>
            </a:r>
            <a:endParaRPr lang="en-US" alt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IN" dirty="0"/>
              <a:t>30</a:t>
            </a:r>
            <a:r>
              <a:rPr lang="en-IN" dirty="0"/>
              <a:t>/</a:t>
            </a:r>
            <a:r>
              <a:rPr lang="en-US" dirty="0"/>
              <a:t>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492125" y="1920875"/>
            <a:ext cx="13892530" cy="5294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The system achieved 99% uptime and an average page load time of 1.1 seconds during load testing with 2,500 concurrent users. 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Real-time updates using Socket.io reduced page reloads by 85% and maintained dashboard sync within 1.1 seconds. 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Stripe integration ensured 99.8% payment success, while Redis caching improved API response time from 380 ms to 95 ms. 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MongoDB handled over 10,000 operations per second, confirming strong scalability and reliability for large-scale use.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456" y="346555"/>
            <a:ext cx="12839418" cy="1284537"/>
          </a:xfrm>
        </p:spPr>
        <p:txBody>
          <a:bodyPr/>
          <a:lstStyle/>
          <a:p>
            <a:r>
              <a:rPr lang="en-US" sz="2800" b="1" dirty="0"/>
              <a:t> </a:t>
            </a:r>
            <a:r>
              <a:rPr lang="en-US" sz="3200" b="1" dirty="0"/>
              <a:t>I</a:t>
            </a:r>
            <a:r>
              <a:rPr lang="en-US" sz="3200" b="1" dirty="0">
                <a:solidFill>
                  <a:schemeClr val="tx1"/>
                </a:solidFill>
              </a:rPr>
              <a:t>MPLEMENTATION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8008" y="7799648"/>
            <a:ext cx="2984500" cy="441325"/>
          </a:xfrm>
        </p:spPr>
        <p:txBody>
          <a:bodyPr/>
          <a:lstStyle/>
          <a:p>
            <a:pPr>
              <a:defRPr/>
            </a:pPr>
            <a:r>
              <a:rPr lang="en-US" altLang="en-IN" dirty="0"/>
              <a:t>30</a:t>
            </a:r>
            <a:r>
              <a:rPr lang="en-IN" dirty="0"/>
              <a:t>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 bwMode="auto">
          <a:xfrm>
            <a:off x="8166988" y="1990076"/>
            <a:ext cx="5371211" cy="5096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68" y="1751513"/>
            <a:ext cx="7266437" cy="53348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124" y="318182"/>
            <a:ext cx="12144733" cy="1298279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IMPLEMENTATION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93406" y="7799388"/>
            <a:ext cx="2491793" cy="441325"/>
          </a:xfrm>
        </p:spPr>
        <p:txBody>
          <a:bodyPr/>
          <a:lstStyle/>
          <a:p>
            <a:pPr>
              <a:defRPr/>
            </a:pPr>
            <a:r>
              <a:rPr lang="en-US" altLang="en-IN" dirty="0"/>
              <a:t>30</a:t>
            </a:r>
            <a:r>
              <a:rPr lang="en-IN" dirty="0"/>
              <a:t>/</a:t>
            </a:r>
            <a:r>
              <a:rPr lang="en-US" dirty="0"/>
              <a:t>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7683" y="1721129"/>
            <a:ext cx="4861141" cy="56148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1271" b="4709"/>
          <a:stretch>
            <a:fillRect/>
          </a:stretch>
        </p:blipFill>
        <p:spPr>
          <a:xfrm>
            <a:off x="10112375" y="1720850"/>
            <a:ext cx="4390390" cy="5615305"/>
          </a:xfrm>
          <a:prstGeom prst="rect">
            <a:avLst/>
          </a:prstGeom>
        </p:spPr>
      </p:pic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3090" y="1810385"/>
            <a:ext cx="4163695" cy="532257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RESULT &amp; ANALYSIS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dirty="0"/>
              <a:t>Direct marketing initiatives such as farmers' markets and CSAs have enabled farmers to achieve net income improvements ranging from 10% to 30%, primarily by eliminating intermediaries and retaining a larger portion of the retail price.</a:t>
            </a:r>
            <a:endParaRPr lang="en-US" dirty="0"/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dirty="0"/>
              <a:t>Adoption of rural e-commerce platforms has boosted household incomes by 15-25%, while also contributing to narrowing income gaps within rural communities by providing flexible employment opportunities to marginalized groups.</a:t>
            </a:r>
            <a:endParaRPr lang="en-US" dirty="0"/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dirty="0"/>
              <a:t>Farmers engaged in F2C marketing benefit from increased profitability, with returns that are frequently 30-50% greater than those in traditional intermediary-led markets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IN" dirty="0"/>
              <a:t>30</a:t>
            </a:r>
            <a:r>
              <a:rPr lang="en-IN" dirty="0"/>
              <a:t>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</a:t>
            </a:r>
            <a:r>
              <a:rPr lang="en-IN" dirty="0"/>
              <a:t>39</a:t>
            </a:r>
            <a:r>
              <a:rPr lang="en-US" altLang="en-IN" dirty="0"/>
              <a:t>     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endParaRPr lang="en-US" alt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304" y="-111152"/>
            <a:ext cx="12144733" cy="1751654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477" y="2057064"/>
            <a:ext cx="14284411" cy="5325762"/>
          </a:xfrm>
        </p:spPr>
        <p:txBody>
          <a:bodyPr>
            <a:noAutofit/>
          </a:bodyPr>
          <a:lstStyle/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Middlemen in traditional agricultural marketing reduce farmer profits by taking a large share of the consumer price.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Direct-to-consumer (D2C) web platforms help bridge this income gap by enabling farmers to sell directly to buyers.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The approach allows farmers to earn higher profits and build stronger, long-term relationships with consumers.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Simple digital tools like websites, mobile apps, and online payments give small farmers access to wider markets.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The project proved that a well-designed D2C system can increase farmer income by 10–30%.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Consumers also benefit by getting fresher produce at lower prices.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Overall, the system promotes transparency, fairness, and sustainability in agricultural marketing.</a:t>
            </a:r>
            <a:endParaRPr lang="en-US" altLang="en-US" sz="23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8054" y="7839076"/>
            <a:ext cx="2182873" cy="401638"/>
          </a:xfrm>
        </p:spPr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</a:t>
            </a:r>
            <a:r>
              <a:rPr lang="en-IN" dirty="0"/>
              <a:t>39</a:t>
            </a:r>
            <a:r>
              <a:rPr lang="en-US" dirty="0"/>
              <a:t>  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90678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REFERENCES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D. S. V. Gowd, N. V. R. Reddy and K. Aravind, “Farmer To Consumer,” Conference Paper, Parul University, Mar. 2025.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P. Kushwaha, S. Mansoori, M. Patil, and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Baheti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“Transforming Agriculture: Enhancing Farmer-to-Consumer Connectivity Through Smart E-Commerce Platforms” Int. J. Sci. Res. Eng. Manag., vol. 9, no. 4, pp. 1–2, Apr. 2025.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A. S., A. S. V., M. M., and A. Jeyamurugan, “Web Based Application for Direct Market Access for Farmers,” Int. J. Creates. Thoughts, vol. 13, no. 4, pp. 192–197, Apr. 2025.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N. Anusha, P. S. Keerthi, M. R. Reddy, A. Ramesh, and M.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Ignatious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, “Farm to Home: An E-commerce Application for Farmers and Consumers,” in Advances in Computational Intelligence and its Applications, May 2024. DOI: 10.1201/9781003488682-5.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Uplaonkar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S. Biradar, “Middleman Growth in Agricultural Field and Its Impact on Farmers,” Int. J.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Creat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 Res. Thoughts, vol. 8, no. 3, pp. 3314–3317, Mar. 2020.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6469" y="7839076"/>
            <a:ext cx="5284338" cy="441324"/>
          </a:xfrm>
        </p:spPr>
        <p:txBody>
          <a:bodyPr/>
          <a:lstStyle/>
          <a:p>
            <a:pPr>
              <a:defRPr/>
            </a:pPr>
            <a:r>
              <a:rPr lang="en-US" altLang="en-IN" dirty="0"/>
              <a:t>30</a:t>
            </a:r>
            <a:r>
              <a:rPr lang="en-IN" dirty="0"/>
              <a:t>/</a:t>
            </a:r>
            <a:r>
              <a:rPr lang="en-US" dirty="0"/>
              <a:t>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1349" y="7799388"/>
            <a:ext cx="7030901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</a:t>
            </a:r>
            <a:r>
              <a:rPr lang="en-US" dirty="0">
                <a:sym typeface="+mn-ea"/>
              </a:rPr>
              <a:t>END SEMESTER VIVA VOCE 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>
                <a:solidFill>
                  <a:schemeClr val="bg1">
                    <a:lumMod val="75000"/>
                  </a:schemeClr>
                </a:solidFill>
              </a:rPr>
            </a:fld>
            <a:endParaRPr lang="en-US" altLang="en-US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9984" y="753203"/>
            <a:ext cx="7360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8000" b="1" dirty="0">
                <a:solidFill>
                  <a:schemeClr val="tx1"/>
                </a:solidFill>
              </a:rPr>
              <a:t> </a:t>
            </a:r>
            <a:endParaRPr lang="en-US" altLang="en-US" sz="8000" b="1" dirty="0">
              <a:solidFill>
                <a:schemeClr val="tx1"/>
              </a:solidFill>
            </a:endParaRPr>
          </a:p>
          <a:p>
            <a:pPr marL="641350" lvl="4" indent="0" eaLnBrk="1" hangingPunct="1">
              <a:buFont typeface="Calibri" panose="020F0502020204030204" pitchFamily="34" charset="0"/>
              <a:buNone/>
            </a:pPr>
            <a:r>
              <a:rPr lang="en-US" altLang="en-US" sz="8000" b="1" dirty="0">
                <a:solidFill>
                  <a:schemeClr val="tx1"/>
                </a:solidFill>
              </a:rPr>
              <a:t>                </a:t>
            </a:r>
            <a:r>
              <a:rPr lang="en-US" altLang="en-US" sz="8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US" altLang="en-US" sz="8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C45AC1"/>
      </a:accent1>
      <a:accent2>
        <a:srgbClr val="803677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2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6381</Words>
  <Application>WPS Presentation</Application>
  <PresentationFormat>Custom</PresentationFormat>
  <Paragraphs>192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Calibri</vt:lpstr>
      <vt:lpstr>Merriweather</vt:lpstr>
      <vt:lpstr>Segoe Print</vt:lpstr>
      <vt:lpstr>Latha</vt:lpstr>
      <vt:lpstr>Times New Roman</vt:lpstr>
      <vt:lpstr>Microsoft YaHei</vt:lpstr>
      <vt:lpstr>Arial Unicode MS</vt:lpstr>
      <vt:lpstr>Wingdings</vt:lpstr>
      <vt:lpstr>Retrospect</vt:lpstr>
      <vt:lpstr>PowerPoint 演示文稿</vt:lpstr>
      <vt:lpstr>CONTENT OUTLINE</vt:lpstr>
      <vt:lpstr>ABSTRACT</vt:lpstr>
      <vt:lpstr>SYSTEM ARCHITECTURE</vt:lpstr>
      <vt:lpstr>OVERALL DESIGN</vt:lpstr>
      <vt:lpstr> INTEGRATION &amp; EXPERIMENTAL RESULTS</vt:lpstr>
      <vt:lpstr>PERFORMANCE EVALUATION</vt:lpstr>
      <vt:lpstr> IMPLEMENTATION</vt:lpstr>
      <vt:lpstr>IMPLEMENTATION</vt:lpstr>
      <vt:lpstr>RESULT &amp; ANALYSIS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meena</dc:creator>
  <cp:lastModifiedBy>Sooraj R Nair</cp:lastModifiedBy>
  <cp:revision>218</cp:revision>
  <dcterms:created xsi:type="dcterms:W3CDTF">2025-10-28T08:34:00Z</dcterms:created>
  <dcterms:modified xsi:type="dcterms:W3CDTF">2025-10-28T13:27:56Z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DDECA99B81F04F6489559962C89CDEC8_13</vt:lpwstr>
  </property>
  <property fmtid="{D5CDD505-2E9C-101B-9397-08002B2CF9AE}" pid="3" name="KSOProductBuildVer">
    <vt:lpwstr>1033-12.2.0.23131</vt:lpwstr>
  </property>
</Properties>
</file>