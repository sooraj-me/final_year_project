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84" r:id="rId5"/>
    <p:sldId id="286" r:id="rId6"/>
    <p:sldId id="285" r:id="rId7"/>
    <p:sldId id="291" r:id="rId8"/>
    <p:sldId id="292" r:id="rId9"/>
    <p:sldId id="300" r:id="rId10"/>
    <p:sldId id="301" r:id="rId11"/>
    <p:sldId id="294" r:id="rId12"/>
    <p:sldId id="296" r:id="rId13"/>
    <p:sldId id="282" r:id="rId14"/>
  </p:sldIdLst>
  <p:sldSz cx="14720888" cy="82804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FF7C80"/>
    <a:srgbClr val="FFCC99"/>
    <a:srgbClr val="FF9966"/>
    <a:srgbClr val="FF9933"/>
    <a:srgbClr val="0000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737" autoAdjust="0"/>
  </p:normalViewPr>
  <p:slideViewPr>
    <p:cSldViewPr snapToGrid="0">
      <p:cViewPr>
        <p:scale>
          <a:sx n="58" d="100"/>
          <a:sy n="58" d="100"/>
        </p:scale>
        <p:origin x="59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4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Header Placeholder 1">
            <a:extLst>
              <a:ext uri="{FF2B5EF4-FFF2-40B4-BE49-F238E27FC236}">
                <a16:creationId xmlns:a16="http://schemas.microsoft.com/office/drawing/2014/main" id="{B091C831-D3B1-9B45-2874-3948B2904E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09" name="Date Placeholder 2">
            <a:extLst>
              <a:ext uri="{FF2B5EF4-FFF2-40B4-BE49-F238E27FC236}">
                <a16:creationId xmlns:a16="http://schemas.microsoft.com/office/drawing/2014/main" id="{30EF5655-8D02-9679-9F49-A1633F1C9C9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E5E484A-C351-46AB-BFE7-E15D7EF7F947}" type="datetimeFigureOut">
              <a:rPr lang="en-US"/>
              <a:pPr>
                <a:defRPr/>
              </a:pPr>
              <a:t>10/12/2025</a:t>
            </a:fld>
            <a:endParaRPr lang="en-US"/>
          </a:p>
        </p:txBody>
      </p:sp>
      <p:sp>
        <p:nvSpPr>
          <p:cNvPr id="1048710" name="Slide Image Placeholder 3">
            <a:extLst>
              <a:ext uri="{FF2B5EF4-FFF2-40B4-BE49-F238E27FC236}">
                <a16:creationId xmlns:a16="http://schemas.microsoft.com/office/drawing/2014/main" id="{3A0DE086-E159-DBEC-E81D-669AAE401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11" name="Notes Placeholder 4">
            <a:extLst>
              <a:ext uri="{FF2B5EF4-FFF2-40B4-BE49-F238E27FC236}">
                <a16:creationId xmlns:a16="http://schemas.microsoft.com/office/drawing/2014/main" id="{62825F44-668F-365D-96D6-3ADBA21AB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12" name="Footer Placeholder 5">
            <a:extLst>
              <a:ext uri="{FF2B5EF4-FFF2-40B4-BE49-F238E27FC236}">
                <a16:creationId xmlns:a16="http://schemas.microsoft.com/office/drawing/2014/main" id="{E0F4E486-9716-B265-D032-9FA6E1154F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13" name="Slide Number Placeholder 6">
            <a:extLst>
              <a:ext uri="{FF2B5EF4-FFF2-40B4-BE49-F238E27FC236}">
                <a16:creationId xmlns:a16="http://schemas.microsoft.com/office/drawing/2014/main" id="{12F466F8-7F45-2BBE-8E23-52EB8ED0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84F635C-79E0-4AB5-B588-305DCA57CC7D}" type="slidenum">
              <a:rPr lang="ta-IN" altLang="en-US"/>
              <a:pPr/>
              <a:t>‹#›</a:t>
            </a:fld>
            <a:endParaRPr lang="ta-IN" altLang="en-US">
              <a:ea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649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6F35D19-D8F6-C846-9002-6068EBC82732}"/>
              </a:ext>
            </a:extLst>
          </p:cNvPr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0AC2AC7-D343-13A9-5524-C66AD89B5D80}"/>
              </a:ext>
            </a:extLst>
          </p:cNvPr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9331A040-6B8B-F429-577B-54A45E687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06388"/>
            <a:ext cx="11333163" cy="11398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800" b="1" dirty="0">
                <a:cs typeface="Merriweather" pitchFamily="2" charset="0"/>
              </a:rPr>
              <a:t>SRI RAMAKRISHNA INSTITUTE OF TECHNOLOGY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(An Autonomous Institution)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   </a:t>
            </a:r>
            <a:r>
              <a:rPr lang="en-US" altLang="en-US" sz="2000" dirty="0" err="1">
                <a:cs typeface="Merriweather" pitchFamily="2" charset="0"/>
              </a:rPr>
              <a:t>Pachapalyam</a:t>
            </a:r>
            <a:r>
              <a:rPr lang="en-US" altLang="en-US" sz="2000" dirty="0">
                <a:cs typeface="Merriweather" pitchFamily="2" charset="0"/>
              </a:rPr>
              <a:t>, </a:t>
            </a:r>
            <a:r>
              <a:rPr lang="en-US" altLang="en-US" sz="2000" dirty="0" err="1">
                <a:cs typeface="Merriweather" pitchFamily="2" charset="0"/>
              </a:rPr>
              <a:t>Perur</a:t>
            </a:r>
            <a:r>
              <a:rPr lang="en-US" altLang="en-US" sz="2000" dirty="0">
                <a:cs typeface="Merriweather" pitchFamily="2" charset="0"/>
              </a:rPr>
              <a:t> </a:t>
            </a:r>
            <a:r>
              <a:rPr lang="en-US" altLang="en-US" sz="2000" dirty="0" err="1">
                <a:cs typeface="Merriweather" pitchFamily="2" charset="0"/>
              </a:rPr>
              <a:t>Chettipalayam</a:t>
            </a:r>
            <a:r>
              <a:rPr lang="en-US" altLang="en-US" sz="2000" dirty="0">
                <a:cs typeface="Merriweather" pitchFamily="2" charset="0"/>
              </a:rPr>
              <a:t>, Coimbatore –  641010</a:t>
            </a:r>
            <a:endParaRPr lang="en-US" altLang="en-US" sz="2000" dirty="0"/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FF355995-A94A-2E83-7DD2-E99F1B828C6B}"/>
              </a:ext>
            </a:extLst>
          </p:cNvPr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217488"/>
            <a:ext cx="121443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1.png">
            <a:extLst>
              <a:ext uri="{FF2B5EF4-FFF2-40B4-BE49-F238E27FC236}">
                <a16:creationId xmlns:a16="http://schemas.microsoft.com/office/drawing/2014/main" id="{C49F924F-B6C8-4817-3FF0-496621DC26E8}"/>
              </a:ext>
            </a:extLst>
          </p:cNvPr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5" y="301625"/>
            <a:ext cx="117475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9658C2DE-033A-CB3B-D7AF-EDCBF4711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671638"/>
            <a:ext cx="9607550" cy="5111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800" b="1"/>
              <a:t>DEPARTMENT OF COMPUTER SCIENCE AND ENGINEERING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FC0CF39-7C8D-4383-FE59-77F0DC077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788" y="4891088"/>
            <a:ext cx="1722437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400"/>
              <a:t>Review 1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0B23A4A-1FDF-24F5-2D6D-6A40EA995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850" y="5278438"/>
            <a:ext cx="5688013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400"/>
              <a:t>Presented by,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6C0A96-A3AC-EEB5-69D5-F7ACBE76F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1650" y="5275263"/>
            <a:ext cx="4243388" cy="625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en-US" altLang="en-US" sz="2400"/>
              <a:t>Guided by,</a:t>
            </a:r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1324880" y="2753873"/>
            <a:ext cx="12144733" cy="2040549"/>
          </a:xfrm>
        </p:spPr>
        <p:txBody>
          <a:bodyPr/>
          <a:lstStyle>
            <a:lvl1pPr algn="ctr">
              <a:lnSpc>
                <a:spcPct val="85000"/>
              </a:lnSpc>
              <a:defRPr sz="4400" spc="-43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1" name="Date Placeholder 15">
            <a:extLst>
              <a:ext uri="{FF2B5EF4-FFF2-40B4-BE49-F238E27FC236}">
                <a16:creationId xmlns:a16="http://schemas.microsoft.com/office/drawing/2014/main" id="{74B6AD73-5173-623B-F74E-7985495F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12" name="Footer Placeholder 16">
            <a:extLst>
              <a:ext uri="{FF2B5EF4-FFF2-40B4-BE49-F238E27FC236}">
                <a16:creationId xmlns:a16="http://schemas.microsoft.com/office/drawing/2014/main" id="{28F36E31-26F6-4A59-9386-FC119CC24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3" name="Slide Number Placeholder 19">
            <a:extLst>
              <a:ext uri="{FF2B5EF4-FFF2-40B4-BE49-F238E27FC236}">
                <a16:creationId xmlns:a16="http://schemas.microsoft.com/office/drawing/2014/main" id="{FD86E3C2-9337-4B68-7128-81C23A4A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319C7-1E44-42CB-96A2-7DA6CCC9520C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27676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174143"/>
          </a:xfrm>
        </p:spPr>
        <p:txBody>
          <a:bodyPr/>
          <a:lstStyle>
            <a:lvl1pPr marL="0">
              <a:defRPr sz="40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571500" y="1840230"/>
            <a:ext cx="13658850" cy="576421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CDA2DC4-319E-4BDD-9D2C-552794A2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5475" y="7796213"/>
            <a:ext cx="298450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5589162-ECC5-EF06-74E5-C34B7D4D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2125" y="7796213"/>
            <a:ext cx="582295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2C5C7B2-EAD6-FB44-1F34-A9EBB5F5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A5908-AB13-4651-96C8-886DFB14A447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88620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6AACC98-69BA-0496-37F9-0B97266B0FB6}"/>
              </a:ext>
            </a:extLst>
          </p:cNvPr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B047F88-C701-606A-E2A0-8B4EB750633C}"/>
              </a:ext>
            </a:extLst>
          </p:cNvPr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D779C98B-8CC6-EE9A-4D2C-102F68EB9676}"/>
              </a:ext>
            </a:extLst>
          </p:cNvPr>
          <p:cNvCxnSpPr/>
          <p:nvPr/>
        </p:nvCxnSpPr>
        <p:spPr>
          <a:xfrm>
            <a:off x="1458913" y="5243513"/>
            <a:ext cx="119237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1324880" y="916365"/>
            <a:ext cx="12144733" cy="4305808"/>
          </a:xfrm>
        </p:spPr>
        <p:txBody>
          <a:bodyPr/>
          <a:lstStyle>
            <a:lvl1pPr>
              <a:lnSpc>
                <a:spcPct val="85000"/>
              </a:lnSpc>
              <a:defRPr sz="685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1324880" y="5376740"/>
            <a:ext cx="12144733" cy="1380067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55" cap="all" spc="171" baseline="0">
                <a:solidFill>
                  <a:schemeClr val="tx2"/>
                </a:solidFill>
                <a:latin typeface="+mj-lt"/>
              </a:defRPr>
            </a:lvl1pPr>
            <a:lvl2pPr marL="391795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2pPr>
            <a:lvl3pPr marL="782955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1747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6591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577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488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40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31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CC35C17-9B51-EF36-4676-A5676D9E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7C490A-B14A-64E4-3514-BD39D136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187F05-7362-9B68-08B7-6E048468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DFA7B-901D-4AE2-A265-024E846A3B52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99853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7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1324880" y="2228554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7507655" y="2228555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A95AD42-61B0-C3BA-3317-A6E72A696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1531EB-3661-3AB9-296A-7F88B758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AC86CAC-022A-FB05-A50F-C3EF9C20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4CABE-FB71-481A-AFC2-4FEBC2D43889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75298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9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88" name="Text Placeholder 2"/>
          <p:cNvSpPr>
            <a:spLocks noGrp="1"/>
          </p:cNvSpPr>
          <p:nvPr>
            <p:ph type="body" idx="1"/>
          </p:nvPr>
        </p:nvSpPr>
        <p:spPr>
          <a:xfrm>
            <a:off x="1324882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048689" name="Content Placeholder 3"/>
          <p:cNvSpPr>
            <a:spLocks noGrp="1"/>
          </p:cNvSpPr>
          <p:nvPr>
            <p:ph sz="half" idx="2"/>
          </p:nvPr>
        </p:nvSpPr>
        <p:spPr>
          <a:xfrm>
            <a:off x="1324882" y="3117930"/>
            <a:ext cx="5961960" cy="4078864"/>
          </a:xfrm>
        </p:spPr>
        <p:txBody>
          <a:bodyPr/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69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7655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048691" name="Content Placeholder 5"/>
          <p:cNvSpPr>
            <a:spLocks noGrp="1"/>
          </p:cNvSpPr>
          <p:nvPr>
            <p:ph sz="quarter" idx="4"/>
          </p:nvPr>
        </p:nvSpPr>
        <p:spPr>
          <a:xfrm>
            <a:off x="7507655" y="3117930"/>
            <a:ext cx="5961960" cy="4078864"/>
          </a:xfrm>
        </p:spPr>
        <p:txBody>
          <a:bodyPr>
            <a:normAutofit/>
          </a:bodyPr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1CEC24C-2DA8-8D04-4746-EDBE676D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8F1FF9-E393-24E6-D43B-E1FE6FAC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E40836-7F4E-505C-E410-B2F70C35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FAD65B-5615-4FFB-BCFC-B0686AAE6D25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065367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948690" y="334618"/>
            <a:ext cx="13498830" cy="1410166"/>
          </a:xfrm>
        </p:spPr>
        <p:txBody>
          <a:bodyPr/>
          <a:lstStyle>
            <a:lvl1pPr>
              <a:defRPr sz="411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40D37FA-EB4C-EAF3-B9BA-773100795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430BE02-4267-135E-C556-C51BC6F5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28B8144-5B5B-ED5D-DC56-2D552131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D57C0-99D9-4441-A01C-6FA71EEA2645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60628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DEF478B-7954-5806-3D30-46E3AEE94877}"/>
              </a:ext>
            </a:extLst>
          </p:cNvPr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3D3DB34-6137-58A9-E6A9-95D4D1DBF794}"/>
              </a:ext>
            </a:extLst>
          </p:cNvPr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BE719B55-7E91-24E3-1486-C89AEB3E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346F123D-E4C6-4FD3-2A6F-E82B1EF9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295995C4-0BF0-E16F-0B48-79C6F806C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7B1D5-EAAB-4580-9B25-4062060462FE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70158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14ACFF5C-4201-A79B-C5E6-4A4C0E6B877A}"/>
              </a:ext>
            </a:extLst>
          </p:cNvPr>
          <p:cNvSpPr/>
          <p:nvPr/>
        </p:nvSpPr>
        <p:spPr>
          <a:xfrm>
            <a:off x="0" y="0"/>
            <a:ext cx="4891088" cy="828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993883E6-88C6-9EA5-C356-49904C8D8165}"/>
              </a:ext>
            </a:extLst>
          </p:cNvPr>
          <p:cNvSpPr/>
          <p:nvPr/>
        </p:nvSpPr>
        <p:spPr>
          <a:xfrm>
            <a:off x="4878388" y="0"/>
            <a:ext cx="76200" cy="828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552035" y="717635"/>
            <a:ext cx="3864234" cy="2760133"/>
          </a:xfrm>
        </p:spPr>
        <p:txBody>
          <a:bodyPr/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703" name="Content Placeholder 2"/>
          <p:cNvSpPr>
            <a:spLocks noGrp="1"/>
          </p:cNvSpPr>
          <p:nvPr>
            <p:ph idx="1"/>
          </p:nvPr>
        </p:nvSpPr>
        <p:spPr>
          <a:xfrm>
            <a:off x="5796352" y="883244"/>
            <a:ext cx="7838874" cy="6348307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035" y="3532972"/>
            <a:ext cx="3864234" cy="407997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87F7242-F7B2-CDD6-A799-C8A2C493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1975" y="7799388"/>
            <a:ext cx="3162300" cy="4413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C08186F-D187-0E37-A16E-AD1308F7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5963" y="7799388"/>
            <a:ext cx="5613400" cy="441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ADE8E6D-864B-96B5-1B76-27AC07339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D6116F-D484-47D6-B55B-05CD52E9C013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29287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7099C950-95CD-F35B-3820-2701FC0242B1}"/>
              </a:ext>
            </a:extLst>
          </p:cNvPr>
          <p:cNvSpPr/>
          <p:nvPr/>
        </p:nvSpPr>
        <p:spPr>
          <a:xfrm>
            <a:off x="0" y="5980113"/>
            <a:ext cx="14717713" cy="2300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FC3E4F7B-6975-9072-C9F9-F4BAE6F3AFF0}"/>
              </a:ext>
            </a:extLst>
          </p:cNvPr>
          <p:cNvSpPr/>
          <p:nvPr/>
        </p:nvSpPr>
        <p:spPr>
          <a:xfrm>
            <a:off x="0" y="5934075"/>
            <a:ext cx="14717713" cy="77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324880" y="6127496"/>
            <a:ext cx="12210976" cy="993648"/>
          </a:xfrm>
        </p:spPr>
        <p:txBody>
          <a:bodyPr tIns="0" bIns="0">
            <a:noAutofit/>
          </a:bodyPr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6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" y="1"/>
            <a:ext cx="14720870" cy="5934499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740">
                <a:solidFill>
                  <a:schemeClr val="bg1"/>
                </a:solidFill>
              </a:defRPr>
            </a:lvl1pPr>
            <a:lvl2pPr marL="391795" indent="0">
              <a:buNone/>
              <a:defRPr sz="2400"/>
            </a:lvl2pPr>
            <a:lvl3pPr marL="782955" indent="0">
              <a:buNone/>
              <a:defRPr sz="2055"/>
            </a:lvl3pPr>
            <a:lvl4pPr marL="1174750" indent="0">
              <a:buNone/>
              <a:defRPr sz="1715"/>
            </a:lvl4pPr>
            <a:lvl5pPr marL="1565910" indent="0">
              <a:buNone/>
              <a:defRPr sz="1715"/>
            </a:lvl5pPr>
            <a:lvl6pPr marL="1957705" indent="0">
              <a:buNone/>
              <a:defRPr sz="1715"/>
            </a:lvl6pPr>
            <a:lvl7pPr marL="2348865" indent="0">
              <a:buNone/>
              <a:defRPr sz="1715"/>
            </a:lvl7pPr>
            <a:lvl8pPr marL="2740660" indent="0">
              <a:buNone/>
              <a:defRPr sz="1715"/>
            </a:lvl8pPr>
            <a:lvl9pPr marL="3131820" indent="0">
              <a:buNone/>
              <a:defRPr sz="171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4880" y="7132184"/>
            <a:ext cx="12210976" cy="717635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15"/>
              </a:spcAft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D86408C-6850-F06C-1421-DEAE35D4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AF2D246-1BA3-A5D6-4B68-2ECCAA6A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97084D2-BBF4-C218-DE34-AEBC3151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67A48-2896-4E63-882F-71F6C01DA136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140630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8253B41-0A41-4B66-7B93-DBC162D1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3AFB970-6982-3BCE-6810-34D88122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20BB6-5BA6-FF31-B775-80F516C2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4D8E1-EC91-4847-8D4E-270B147E64BE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413160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E5BCE64-67C2-D7A5-3CFD-3E5003BFDA5D}"/>
              </a:ext>
            </a:extLst>
          </p:cNvPr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013468E-E0E4-265F-29EF-044D0E3434E5}"/>
              </a:ext>
            </a:extLst>
          </p:cNvPr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10534635" y="500808"/>
            <a:ext cx="3174192" cy="695155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2061" y="500806"/>
            <a:ext cx="9338563" cy="6951554"/>
          </a:xfrm>
        </p:spPr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4BAF4-FF55-CFC4-162C-20996973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7CB9E-D9ED-D7E6-7285-1BD457D9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C9BC-60B2-27B4-FEE1-A2A9CF1D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D5597-3EC6-42B8-B043-9035FE2C929C}" type="slidenum">
              <a:rPr lang="ta-IN" altLang="en-US"/>
              <a:pPr/>
              <a:t>‹#›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341816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>
            <a:extLst>
              <a:ext uri="{FF2B5EF4-FFF2-40B4-BE49-F238E27FC236}">
                <a16:creationId xmlns:a16="http://schemas.microsoft.com/office/drawing/2014/main" id="{99BDDC9E-7D13-984E-C587-1BB565959834}"/>
              </a:ext>
            </a:extLst>
          </p:cNvPr>
          <p:cNvSpPr/>
          <p:nvPr/>
        </p:nvSpPr>
        <p:spPr>
          <a:xfrm>
            <a:off x="0" y="7688263"/>
            <a:ext cx="14720888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55" dirty="0"/>
          </a:p>
        </p:txBody>
      </p:sp>
      <p:sp>
        <p:nvSpPr>
          <p:cNvPr id="1048577" name="Rectangle 8">
            <a:extLst>
              <a:ext uri="{FF2B5EF4-FFF2-40B4-BE49-F238E27FC236}">
                <a16:creationId xmlns:a16="http://schemas.microsoft.com/office/drawing/2014/main" id="{E73CE4A7-FE21-2D84-6BF0-0B75F5B69E74}"/>
              </a:ext>
            </a:extLst>
          </p:cNvPr>
          <p:cNvSpPr/>
          <p:nvPr/>
        </p:nvSpPr>
        <p:spPr>
          <a:xfrm>
            <a:off x="0" y="7648575"/>
            <a:ext cx="14720888" cy="79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8" name="Title Placeholder 1">
            <a:extLst>
              <a:ext uri="{FF2B5EF4-FFF2-40B4-BE49-F238E27FC236}">
                <a16:creationId xmlns:a16="http://schemas.microsoft.com/office/drawing/2014/main" id="{DFA5AE44-2C5D-DB45-C9C0-48B8895579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82613" y="346075"/>
            <a:ext cx="13498512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4FA18E3C-C590-53C4-66CD-114D2AC800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82613" y="1816100"/>
            <a:ext cx="13498512" cy="557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80" name="Date Placeholder 3">
            <a:extLst>
              <a:ext uri="{FF2B5EF4-FFF2-40B4-BE49-F238E27FC236}">
                <a16:creationId xmlns:a16="http://schemas.microsoft.com/office/drawing/2014/main" id="{B38A6A0B-C876-BE6E-19BB-C06F97160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25563" y="7799388"/>
            <a:ext cx="298450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1048581" name="Footer Placeholder 4">
            <a:extLst>
              <a:ext uri="{FF2B5EF4-FFF2-40B4-BE49-F238E27FC236}">
                <a16:creationId xmlns:a16="http://schemas.microsoft.com/office/drawing/2014/main" id="{10D2EBEA-E654-4334-98DA-4B9A886EB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1350" y="7799388"/>
            <a:ext cx="582295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BATCH ID : 24                                                     EXAM REPRESENTATION</a:t>
            </a:r>
          </a:p>
        </p:txBody>
      </p:sp>
      <p:sp>
        <p:nvSpPr>
          <p:cNvPr id="1048582" name="Slide Number Placeholder 5">
            <a:extLst>
              <a:ext uri="{FF2B5EF4-FFF2-40B4-BE49-F238E27FC236}">
                <a16:creationId xmlns:a16="http://schemas.microsoft.com/office/drawing/2014/main" id="{E7F6050B-6553-C922-09E0-784FBB5BD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953875" y="7799388"/>
            <a:ext cx="1584325" cy="4413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B4E13C52-CF49-4C68-B257-8F1EDED75F76}" type="slidenum">
              <a:rPr lang="ta-IN" altLang="en-US"/>
              <a:pPr/>
              <a:t>‹#›</a:t>
            </a:fld>
            <a:endParaRPr lang="ta-IN" altLang="en-US"/>
          </a:p>
        </p:txBody>
      </p:sp>
      <p:cxnSp>
        <p:nvCxnSpPr>
          <p:cNvPr id="3145728" name="Straight Connector 9">
            <a:extLst>
              <a:ext uri="{FF2B5EF4-FFF2-40B4-BE49-F238E27FC236}">
                <a16:creationId xmlns:a16="http://schemas.microsoft.com/office/drawing/2014/main" id="{829BD425-B6EF-5A75-9BA8-FCAB85447F74}"/>
              </a:ext>
            </a:extLst>
          </p:cNvPr>
          <p:cNvCxnSpPr/>
          <p:nvPr/>
        </p:nvCxnSpPr>
        <p:spPr>
          <a:xfrm>
            <a:off x="582613" y="1644650"/>
            <a:ext cx="134985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3" r:id="rId4"/>
    <p:sldLayoutId id="2147483662" r:id="rId5"/>
    <p:sldLayoutId id="2147483661" r:id="rId6"/>
    <p:sldLayoutId id="2147483667" r:id="rId7"/>
    <p:sldLayoutId id="2147483668" r:id="rId8"/>
    <p:sldLayoutId id="2147483669" r:id="rId9"/>
    <p:sldLayoutId id="2147483660" r:id="rId10"/>
    <p:sldLayoutId id="2147483670" r:id="rId11"/>
  </p:sldLayoutIdLst>
  <p:hf hdr="0"/>
  <p:txStyles>
    <p:titleStyle>
      <a:lvl1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 kern="1200" spc="-43">
          <a:solidFill>
            <a:srgbClr val="404040"/>
          </a:solidFill>
          <a:latin typeface="+mj-lt"/>
          <a:ea typeface="+mj-ea"/>
          <a:cs typeface="+mj-cs"/>
        </a:defRPr>
      </a:lvl1pPr>
      <a:lvl2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782638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77788" indent="-77788" algn="l" defTabSz="782638" rtl="0" eaLnBrk="0" fontAlgn="base" hangingPunct="0">
        <a:lnSpc>
          <a:spcPct val="150000"/>
        </a:lnSpc>
        <a:spcBef>
          <a:spcPts val="1025"/>
        </a:spcBef>
        <a:spcAft>
          <a:spcPts val="17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rgbClr val="404040"/>
          </a:solidFill>
          <a:latin typeface="+mn-lt"/>
          <a:ea typeface="+mn-ea"/>
          <a:cs typeface="+mn-cs"/>
        </a:defRPr>
      </a:lvl1pPr>
      <a:lvl2pPr marL="328613" indent="-155575" algn="l" defTabSz="782638" rtl="0" eaLnBrk="0" fontAlgn="base" hangingPunct="0">
        <a:lnSpc>
          <a:spcPct val="150000"/>
        </a:lnSpc>
        <a:spcBef>
          <a:spcPts val="175"/>
        </a:spcBef>
        <a:spcAft>
          <a:spcPts val="338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484188" indent="-155575" algn="l" defTabSz="782638" rtl="0" eaLnBrk="0" fontAlgn="base" hangingPunct="0">
        <a:lnSpc>
          <a:spcPct val="150000"/>
        </a:lnSpc>
        <a:spcBef>
          <a:spcPts val="175"/>
        </a:spcBef>
        <a:spcAft>
          <a:spcPts val="338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3pPr>
      <a:lvl4pPr marL="641350" indent="-155575" algn="l" defTabSz="782638" rtl="0" eaLnBrk="0" fontAlgn="base" hangingPunct="0">
        <a:lnSpc>
          <a:spcPct val="150000"/>
        </a:lnSpc>
        <a:spcBef>
          <a:spcPts val="175"/>
        </a:spcBef>
        <a:spcAft>
          <a:spcPts val="338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4pPr>
      <a:lvl5pPr marL="798513" indent="-155575" algn="l" defTabSz="782638" rtl="0" eaLnBrk="0" fontAlgn="base" hangingPunct="0">
        <a:lnSpc>
          <a:spcPct val="150000"/>
        </a:lnSpc>
        <a:spcBef>
          <a:spcPts val="175"/>
        </a:spcBef>
        <a:spcAft>
          <a:spcPts val="338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5pPr>
      <a:lvl6pPr marL="9417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1315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846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55420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79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95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475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591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770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886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4066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3182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Date Placeholder 1">
            <a:extLst>
              <a:ext uri="{FF2B5EF4-FFF2-40B4-BE49-F238E27FC236}">
                <a16:creationId xmlns:a16="http://schemas.microsoft.com/office/drawing/2014/main" id="{36EC9FC3-ABFA-58E6-FB16-BDB8061CE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/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altLang="en-US" dirty="0"/>
              <a:t>14</a:t>
            </a:r>
            <a:r>
              <a:rPr lang="en-US" altLang="en-US" dirty="0"/>
              <a:t>/10/2025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0A33B-713D-EF32-8D0B-9F202554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</a:t>
            </a: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9B199520-848A-4B6D-E5CF-46901557E9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176E964-1996-4E91-8A8B-2E87A98B6DE2}" type="slidenum">
              <a:rPr lang="ta-IN" altLang="en-US"/>
              <a:pPr/>
              <a:t>1</a:t>
            </a:fld>
            <a:endParaRPr lang="ta-IN" altLang="en-US"/>
          </a:p>
        </p:txBody>
      </p:sp>
      <p:pic>
        <p:nvPicPr>
          <p:cNvPr id="10245" name="Picture 7">
            <a:extLst>
              <a:ext uri="{FF2B5EF4-FFF2-40B4-BE49-F238E27FC236}">
                <a16:creationId xmlns:a16="http://schemas.microsoft.com/office/drawing/2014/main" id="{358589AE-817E-94CB-7DF0-80DB40944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038" y="490538"/>
            <a:ext cx="15144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8">
            <a:extLst>
              <a:ext uri="{FF2B5EF4-FFF2-40B4-BE49-F238E27FC236}">
                <a16:creationId xmlns:a16="http://schemas.microsoft.com/office/drawing/2014/main" id="{C2FADDD0-503D-AAFE-25AF-BE4754687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863" y="552450"/>
            <a:ext cx="103028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3200" b="1" dirty="0"/>
              <a:t>SRI RAMAKRISHNA INSTITUTE OF TECHNOLOGY</a:t>
            </a:r>
            <a:endParaRPr lang="en-IN" altLang="en-US" sz="3200" b="1" dirty="0"/>
          </a:p>
        </p:txBody>
      </p:sp>
      <p:sp>
        <p:nvSpPr>
          <p:cNvPr id="10247" name="TextBox 10">
            <a:extLst>
              <a:ext uri="{FF2B5EF4-FFF2-40B4-BE49-F238E27FC236}">
                <a16:creationId xmlns:a16="http://schemas.microsoft.com/office/drawing/2014/main" id="{F9C4B699-87A3-752A-CB03-CD2DFF1F1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1138238"/>
            <a:ext cx="678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(An Autonomous Institution) </a:t>
            </a:r>
            <a:endParaRPr lang="en-IN" altLang="en-US" dirty="0"/>
          </a:p>
        </p:txBody>
      </p:sp>
      <p:sp>
        <p:nvSpPr>
          <p:cNvPr id="10248" name="TextBox 11">
            <a:extLst>
              <a:ext uri="{FF2B5EF4-FFF2-40B4-BE49-F238E27FC236}">
                <a16:creationId xmlns:a16="http://schemas.microsoft.com/office/drawing/2014/main" id="{BBB8F748-1307-9392-62A8-AE3874B3F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1585913"/>
            <a:ext cx="8920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 err="1"/>
              <a:t>Pachapalayam</a:t>
            </a:r>
            <a:r>
              <a:rPr lang="en-US" altLang="en-US"/>
              <a:t>, Perur Chettipalayam, Coimbatore- 641 010</a:t>
            </a:r>
            <a:endParaRPr lang="en-IN" altLang="en-US"/>
          </a:p>
        </p:txBody>
      </p:sp>
      <p:sp>
        <p:nvSpPr>
          <p:cNvPr id="10249" name="TextBox 12">
            <a:extLst>
              <a:ext uri="{FF2B5EF4-FFF2-40B4-BE49-F238E27FC236}">
                <a16:creationId xmlns:a16="http://schemas.microsoft.com/office/drawing/2014/main" id="{BB9C1C24-A21E-EA2D-F2FB-362CE2DE2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0" y="2090738"/>
            <a:ext cx="1091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800" b="1" dirty="0"/>
              <a:t>DEPARTMENT OF COMPUTER SCIENCE AND ENGINEERING</a:t>
            </a:r>
            <a:endParaRPr lang="en-IN" altLang="en-US" sz="2800" b="1" dirty="0"/>
          </a:p>
        </p:txBody>
      </p:sp>
      <p:sp>
        <p:nvSpPr>
          <p:cNvPr id="10250" name="TextBox 14">
            <a:extLst>
              <a:ext uri="{FF2B5EF4-FFF2-40B4-BE49-F238E27FC236}">
                <a16:creationId xmlns:a16="http://schemas.microsoft.com/office/drawing/2014/main" id="{42A49B31-3E65-A769-C921-10D0DC869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863" y="5211790"/>
            <a:ext cx="5042262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Presented by:</a:t>
            </a:r>
          </a:p>
          <a:p>
            <a:endParaRPr lang="en-US" altLang="en-US" dirty="0"/>
          </a:p>
          <a:p>
            <a:r>
              <a:rPr lang="en-US" altLang="en-GB" dirty="0"/>
              <a:t>              SOORAJ R NAIR             -  </a:t>
            </a:r>
            <a:r>
              <a:rPr lang="en-GB" altLang="en-GB" dirty="0"/>
              <a:t>71382202152</a:t>
            </a:r>
            <a:endParaRPr lang="en-US" altLang="en-US" dirty="0"/>
          </a:p>
          <a:p>
            <a:r>
              <a:rPr lang="en-US" altLang="en-US" dirty="0"/>
              <a:t>	      VIGNESHWARAN  S</a:t>
            </a:r>
            <a:r>
              <a:rPr lang="en-US" altLang="en-GB" dirty="0"/>
              <a:t>      </a:t>
            </a:r>
            <a:r>
              <a:rPr lang="en-GB" altLang="en-US" dirty="0"/>
              <a:t>-  71382202173</a:t>
            </a:r>
            <a:endParaRPr lang="en-US" altLang="en-US" dirty="0"/>
          </a:p>
          <a:p>
            <a:r>
              <a:rPr lang="en-US" altLang="en-US" dirty="0"/>
              <a:t>	      SARUKESH  A                </a:t>
            </a:r>
            <a:r>
              <a:rPr lang="en-US" altLang="en-GB" dirty="0"/>
              <a:t> </a:t>
            </a:r>
            <a:r>
              <a:rPr lang="en-GB" altLang="en-US"/>
              <a:t>-  71382202134</a:t>
            </a:r>
            <a:endParaRPr lang="en-US" altLang="en-GB" dirty="0"/>
          </a:p>
          <a:p>
            <a:r>
              <a:rPr lang="en-US" altLang="en-GB" dirty="0"/>
              <a:t>              SANJAY S                         - 71382202130</a:t>
            </a:r>
            <a:endParaRPr lang="en-IN" altLang="en-US" dirty="0"/>
          </a:p>
          <a:p>
            <a:endParaRPr lang="en-I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D85C3-EA8E-690E-BAD8-C9E9189F0398}"/>
              </a:ext>
            </a:extLst>
          </p:cNvPr>
          <p:cNvSpPr txBox="1"/>
          <p:nvPr/>
        </p:nvSpPr>
        <p:spPr>
          <a:xfrm>
            <a:off x="9707563" y="5289550"/>
            <a:ext cx="395605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Guided by: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MS A JAYASMRUTHI </a:t>
            </a:r>
            <a:endParaRPr lang="en-GB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Times New Roman" panose="02020603050405020304" pitchFamily="18" charset="0"/>
              </a:rPr>
              <a:t>        Assistant</a:t>
            </a:r>
            <a:r>
              <a:rPr lang="en-US" spc="5" dirty="0">
                <a:latin typeface="+mn-lt"/>
                <a:ea typeface="Times New Roman" panose="02020603050405020304" pitchFamily="18" charset="0"/>
              </a:rPr>
              <a:t> </a:t>
            </a:r>
            <a:r>
              <a:rPr lang="en-US" spc="-5" dirty="0">
                <a:latin typeface="+mn-lt"/>
                <a:ea typeface="Times New Roman" panose="02020603050405020304" pitchFamily="18" charset="0"/>
              </a:rPr>
              <a:t>Professor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" dirty="0">
                <a:latin typeface="+mn-lt"/>
              </a:rPr>
              <a:t>        Department of CSE</a:t>
            </a:r>
            <a:endParaRPr lang="en-IN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sp>
        <p:nvSpPr>
          <p:cNvPr id="10252" name="TextBox 17">
            <a:extLst>
              <a:ext uri="{FF2B5EF4-FFF2-40B4-BE49-F238E27FC236}">
                <a16:creationId xmlns:a16="http://schemas.microsoft.com/office/drawing/2014/main" id="{CBE46AFF-2D1A-E05D-3CF2-535FB3167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0" y="2907000"/>
            <a:ext cx="841216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 dirty="0"/>
              <a:t>20CS902-FYP Phase I Third Review </a:t>
            </a:r>
          </a:p>
          <a:p>
            <a:pPr algn="ctr"/>
            <a:r>
              <a:rPr lang="en-US" altLang="en-US" sz="2400" dirty="0"/>
              <a:t>BATCH NO :39</a:t>
            </a:r>
          </a:p>
          <a:p>
            <a:pPr algn="ctr"/>
            <a:endParaRPr lang="en-US" altLang="en-US" sz="2400" dirty="0"/>
          </a:p>
          <a:p>
            <a:pPr algn="ctr"/>
            <a:endParaRPr lang="en-US" altLang="en-US" sz="2400" dirty="0"/>
          </a:p>
        </p:txBody>
      </p:sp>
      <p:sp>
        <p:nvSpPr>
          <p:cNvPr id="10253" name="TextBox 15">
            <a:extLst>
              <a:ext uri="{FF2B5EF4-FFF2-40B4-BE49-F238E27FC236}">
                <a16:creationId xmlns:a16="http://schemas.microsoft.com/office/drawing/2014/main" id="{5E78F3D8-F98A-F2EF-253F-6D2EAD668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003" y="3628508"/>
            <a:ext cx="1265961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IN" sz="2800" b="1" dirty="0"/>
              <a:t>  </a:t>
            </a:r>
            <a:r>
              <a:rPr lang="en-US" sz="2800" b="1" spc="50" dirty="0">
                <a:latin typeface="Times New Roman"/>
              </a:rPr>
              <a:t>ADDRESSING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THE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INCOME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GAP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spc="50" dirty="0">
                <a:latin typeface="Times New Roman"/>
              </a:rPr>
              <a:t>CAUSED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BY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spc="55" dirty="0">
                <a:latin typeface="Times New Roman"/>
              </a:rPr>
              <a:t>MIDDLEMEN</a:t>
            </a:r>
            <a:r>
              <a:rPr lang="en-US" sz="2800" b="1" spc="70" dirty="0">
                <a:latin typeface="Times New Roman"/>
              </a:rPr>
              <a:t> </a:t>
            </a:r>
            <a:r>
              <a:rPr lang="en-US" sz="2800" b="1" spc="15" dirty="0">
                <a:latin typeface="Times New Roman"/>
              </a:rPr>
              <a:t>IN </a:t>
            </a:r>
            <a:r>
              <a:rPr lang="en-US" sz="2800" b="1" dirty="0">
                <a:latin typeface="Times New Roman"/>
              </a:rPr>
              <a:t>AGRICULTURAL MARKETING</a:t>
            </a:r>
            <a:r>
              <a:rPr lang="en-US" sz="2800" b="1" spc="5" dirty="0">
                <a:latin typeface="Times New Roman"/>
              </a:rPr>
              <a:t> </a:t>
            </a:r>
            <a:r>
              <a:rPr lang="en-US" sz="2800" b="1" spc="55" dirty="0">
                <a:latin typeface="Times New Roman"/>
              </a:rPr>
              <a:t>THROUGH</a:t>
            </a:r>
            <a:r>
              <a:rPr lang="en-US" sz="2800" b="1" spc="5" dirty="0">
                <a:latin typeface="Times New Roman"/>
              </a:rPr>
              <a:t> </a:t>
            </a:r>
            <a:r>
              <a:rPr lang="en-US" sz="2800" b="1" dirty="0">
                <a:latin typeface="Times New Roman"/>
              </a:rPr>
              <a:t>DIRECT</a:t>
            </a:r>
            <a:r>
              <a:rPr lang="en-US" sz="2800" b="1" spc="5" dirty="0">
                <a:latin typeface="Times New Roman"/>
              </a:rPr>
              <a:t> </a:t>
            </a:r>
            <a:r>
              <a:rPr lang="en-US" sz="2800" b="1" spc="-10" dirty="0">
                <a:latin typeface="Times New Roman"/>
              </a:rPr>
              <a:t>FARMER-</a:t>
            </a:r>
            <a:r>
              <a:rPr lang="en-US" sz="2800" b="1" dirty="0">
                <a:latin typeface="Times New Roman"/>
              </a:rPr>
              <a:t>TO-</a:t>
            </a:r>
            <a:r>
              <a:rPr lang="en-US" sz="2800" b="1" spc="60" dirty="0">
                <a:latin typeface="Times New Roman"/>
              </a:rPr>
              <a:t>CONSUMER </a:t>
            </a:r>
            <a:r>
              <a:rPr lang="en-US" sz="2800" b="1" spc="65" dirty="0">
                <a:latin typeface="Times New Roman"/>
              </a:rPr>
              <a:t>SOLUTIONS</a:t>
            </a:r>
            <a:endParaRPr lang="en-US" sz="2800" dirty="0">
              <a:latin typeface="Times New Roman"/>
            </a:endParaRPr>
          </a:p>
          <a:p>
            <a:pPr algn="ctr"/>
            <a:endParaRPr lang="en-US" alt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03" y="555867"/>
            <a:ext cx="927432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A7CA-5336-DEEB-EB6F-7E0AEBD3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19" y="0"/>
            <a:ext cx="13658850" cy="1174143"/>
          </a:xfrm>
        </p:spPr>
        <p:txBody>
          <a:bodyPr/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 OUTLINE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A5BC-D0B4-7999-CAFF-71C3DEE88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96" y="1527884"/>
            <a:ext cx="13658850" cy="5911411"/>
          </a:xfrm>
        </p:spPr>
        <p:txBody>
          <a:bodyPr>
            <a:noAutofit/>
          </a:bodyPr>
          <a:lstStyle/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Recap of Objectives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Progress  Overview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Methodology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System Architecture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Implementation Details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Result and Analysis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Evaluation Metrics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Future Work and Extensions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</a:rPr>
              <a:t>Conclusion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en-US" altLang="en-US" sz="2400" dirty="0">
                <a:solidFill>
                  <a:schemeClr val="tx1"/>
                </a:solidFill>
              </a:rPr>
              <a:t>References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173038" lvl="1" indent="0" eaLnBrk="1" hangingPunct="1">
              <a:buNone/>
            </a:pPr>
            <a:endParaRPr lang="en-US" alt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A059B-C5F8-29B2-F5B1-AE77E75C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14</a:t>
            </a:r>
            <a:r>
              <a:rPr lang="en-US" dirty="0"/>
              <a:t>/10/2025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6D0C1-AFA6-25CC-1480-25D3B30B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1146" y="7796212"/>
            <a:ext cx="5822950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91E58-BF26-E158-7A44-7F721E3F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2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77308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C5EB-3DA2-56FF-4E35-21E36AD6A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RECAP OF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7EF80-2B66-BA60-D1FE-9148013B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51247"/>
            <a:ext cx="13658850" cy="576421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Establishing a direct link between farmers and consumers fosters greater preference for organically and sustainably grown produce, thereby promoting the adoption of environmentally sustainable agricultural practices.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This approach ensures consumers have access to fresh, high-quality produce that retains its nutritional value, taste, and appearance.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Providing farmers with direct market access reduces their dependency on local intermediaries, empowering them to make informed decisions about crop production and pricing.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Enhanced market connectivity strengthens farmers' economic position and promotes greater autonomy and sustainability in their livelihoods.</a:t>
            </a:r>
            <a:endParaRPr lang="en-US" sz="2400" spc="-2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410CA-B658-0BF5-E8A5-F760AF26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14</a:t>
            </a:r>
            <a:r>
              <a:rPr lang="en-US" dirty="0"/>
              <a:t>/10/2025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7CE29-6BED-A599-E5BC-C0641602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FCA12-9B05-A58A-6CC4-0E111F23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3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4468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FD34-73CC-6EB4-3869-ECA1620B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PROGRESS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BDFD-38A0-732F-DEAC-23154943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Various direct farmer-to-consumer (F2C) models such as farmer markets, weekly bazaars, and Farmer Producer Organizations (FPOs) have been successfully established, enhancing farmers’ income and market access.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Adoption of digital platforms and e-commerce solutions has expanded direct market linkages, enabling transparent pricing and broader consumer reach for farmers.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Expansion of digital platforms and e-commerce solutions that enable transparent pricing and wider consumer reach for farmers.</a:t>
            </a:r>
          </a:p>
          <a:p>
            <a:pPr marL="457200" indent="-457200" algn="just">
              <a:buFont typeface="+mj-lt"/>
              <a:buAutoNum type="arabicPeriod"/>
            </a:pPr>
            <a:endParaRPr lang="en-IN" sz="2400" dirty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93EEC-F658-EFE2-DD2D-6577E058A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14/10/2025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CDB20-18E9-7A55-D033-4F8516520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1991-C39E-7A24-03D8-A70ED99F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4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358199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EB055-4B83-17E0-FAF6-F1E0024F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METHODOLOGY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0EBFF-D0C1-C02B-869C-7C61A56F3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489C6-0E1F-ACD4-5EB3-53C7C9908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14/</a:t>
            </a:r>
            <a:r>
              <a:rPr lang="en-US" dirty="0"/>
              <a:t>10/2025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1246-D175-5AC1-1248-5F65F527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A378F-C779-9B0A-F863-1D4A877C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5</a:t>
            </a:fld>
            <a:endParaRPr lang="ta-I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191F1-99CD-FC34-B7BE-5FAA5213FA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6231" y="1840230"/>
            <a:ext cx="11827510" cy="565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0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FB25-6680-0CE4-BF8D-3385F9E7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SYSTEM 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N" sz="2400" b="1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B8255-856B-13D7-0873-9784EE8D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14</a:t>
            </a:r>
            <a:r>
              <a:rPr lang="en-US" dirty="0"/>
              <a:t>/10/2025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D02F6-208A-EFCA-142A-521AC44D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2C3D7-7747-1ECE-9D84-988F5BF1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6</a:t>
            </a:fld>
            <a:endParaRPr lang="ta-IN" altLang="en-US"/>
          </a:p>
        </p:txBody>
      </p:sp>
      <p:pic>
        <p:nvPicPr>
          <p:cNvPr id="3" name="Content Placeholder 2" descr="fyp">
            <a:extLst>
              <a:ext uri="{FF2B5EF4-FFF2-40B4-BE49-F238E27FC236}">
                <a16:creationId xmlns:a16="http://schemas.microsoft.com/office/drawing/2014/main" id="{6DBF511D-B121-4AA8-E33C-F10400D48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955" y="1914048"/>
            <a:ext cx="9773920" cy="561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63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40412-8D18-C3A3-CFB0-A62B6271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56" y="346555"/>
            <a:ext cx="12839418" cy="1284537"/>
          </a:xfrm>
        </p:spPr>
        <p:txBody>
          <a:bodyPr/>
          <a:lstStyle/>
          <a:p>
            <a:r>
              <a:rPr lang="en-US" sz="2800" b="1" dirty="0"/>
              <a:t>Implementation Updates</a:t>
            </a:r>
            <a:endParaRPr lang="en-IN" sz="2800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A20-8057-60BF-5A21-375821A2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7063" y="7715828"/>
            <a:ext cx="2984500" cy="441325"/>
          </a:xfrm>
        </p:spPr>
        <p:txBody>
          <a:bodyPr/>
          <a:lstStyle/>
          <a:p>
            <a:pPr>
              <a:defRPr/>
            </a:pPr>
            <a:r>
              <a:rPr lang="en-IN" dirty="0"/>
              <a:t>14/10/2025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5AC3E-FB0B-EF41-AA6A-0D6C6E475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C44F1-3037-E2EB-17AE-BA2A0A40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7</a:t>
            </a:fld>
            <a:endParaRPr lang="ta-IN" alt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4B92563-EABE-4E32-AB2F-46B58E95B3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8166988" y="1990076"/>
            <a:ext cx="5371211" cy="5096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B10A94-E1CF-9977-A5F9-6E07015FF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68" y="1751513"/>
            <a:ext cx="7266437" cy="533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79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E13B-817D-572A-2AAE-BB67CEAA7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4" y="318182"/>
            <a:ext cx="12144733" cy="1298279"/>
          </a:xfrm>
        </p:spPr>
        <p:txBody>
          <a:bodyPr/>
          <a:lstStyle/>
          <a:p>
            <a:r>
              <a:rPr lang="en-US" sz="2800" b="1" dirty="0"/>
              <a:t>Implementation Updates</a:t>
            </a:r>
            <a:endParaRPr lang="en-IN" sz="2800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188EF-192E-C4FA-85C3-2BE78D3C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25561" y="7799388"/>
            <a:ext cx="2491793" cy="441325"/>
          </a:xfrm>
        </p:spPr>
        <p:txBody>
          <a:bodyPr/>
          <a:lstStyle/>
          <a:p>
            <a:pPr>
              <a:defRPr/>
            </a:pPr>
            <a:r>
              <a:rPr lang="en-IN" dirty="0"/>
              <a:t>14/</a:t>
            </a:r>
            <a:r>
              <a:rPr lang="en-US" dirty="0"/>
              <a:t>10/2025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DABF1-7EBB-F76D-6D59-49D8AB6A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A1F8-4886-A263-4963-57D90163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8</a:t>
            </a:fld>
            <a:endParaRPr lang="ta-IN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1DEDAD-C1F9-D1C7-043F-665F98E5D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683" y="1721129"/>
            <a:ext cx="4861141" cy="5614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1BEBA6-6FA8-9BBB-899B-6482C11D4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254" y="1721130"/>
            <a:ext cx="4446588" cy="5510212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1ECC66C-8042-25C5-8FFC-3AB2371658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72875" y="1810208"/>
            <a:ext cx="4163530" cy="5229569"/>
          </a:xfrm>
        </p:spPr>
      </p:pic>
    </p:spTree>
    <p:extLst>
      <p:ext uri="{BB962C8B-B14F-4D97-AF65-F5344CB8AC3E}">
        <p14:creationId xmlns:p14="http://schemas.microsoft.com/office/powerpoint/2010/main" val="388842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Results and </a:t>
            </a:r>
            <a:r>
              <a:rPr lang="en-US" sz="2800" b="1" dirty="0" err="1"/>
              <a:t>Analaysis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Direct marketing initiatives such as farmers' markets and CSAs have enabled farmers to achieve net income improvements ranging from 10% to 30%, primarily by eliminating intermediaries and retaining a larger portion of the retail price.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Adoption of rural e-commerce platforms has boosted household incomes by 15-25%, while also contributing to narrowing income gaps within rural communities by providing flexible employment opportunities to marginalized groups.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Farmers engaged in F2C marketing benefit from increased profitability, with returns that are frequently 30-50% greater than those in traditional intermediary-led markets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14/10/2025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</a:t>
            </a:r>
            <a:r>
              <a:rPr lang="en-IN" dirty="0"/>
              <a:t>39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9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02839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8CD3-6271-CE90-BB15-0424C184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Evaluation Metrics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74FA-B028-4E26-1B28-718FF43B2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Income Increase Percentage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Profit Margin per Unit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Cost Reduction from Middlemen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Sales Volume Growth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Delivery Success Rate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Post-Harvest </a:t>
            </a:r>
            <a:r>
              <a:rPr lang="en-IN" dirty="0"/>
              <a:t>Loss Reduction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0A06D-3C15-6D3F-AC4C-9FDC5183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14/10/2025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BBBF3-5CAA-1C7B-603F-A074E550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</a:t>
            </a:r>
            <a:r>
              <a:rPr lang="en-IN" dirty="0"/>
              <a:t>ID:39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4D0CF-A2A9-B76B-8FC2-D2F983C2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10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4214735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5ED5-C6D7-2ADB-E7DB-BC4257192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304" y="-111152"/>
            <a:ext cx="12144733" cy="1751654"/>
          </a:xfrm>
        </p:spPr>
        <p:txBody>
          <a:bodyPr/>
          <a:lstStyle/>
          <a:p>
            <a:r>
              <a:rPr lang="en-US" sz="2800" b="1" dirty="0"/>
              <a:t>CONCLUSION</a:t>
            </a:r>
            <a:endParaRPr lang="en-IN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AD199-E652-32F2-1910-3D32FC877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477" y="2057064"/>
            <a:ext cx="14284411" cy="5325762"/>
          </a:xfrm>
        </p:spPr>
        <p:txBody>
          <a:bodyPr>
            <a:normAutofit/>
          </a:bodyPr>
          <a:lstStyle/>
          <a:p>
            <a:pPr marL="785813" lvl="2" indent="-457200">
              <a:buFont typeface="+mj-lt"/>
              <a:buAutoNum type="arabicPeriod"/>
            </a:pPr>
            <a:r>
              <a:rPr lang="en-US" dirty="0"/>
              <a:t>Middlemen significantly reduce farmer profits by capturing a large portion of the consumer price, creating an income gap in traditional agricultural marketing.</a:t>
            </a:r>
          </a:p>
          <a:p>
            <a:pPr marL="785813" lvl="2" indent="-457200">
              <a:buFont typeface="+mj-lt"/>
              <a:buAutoNum type="arabicPeriod"/>
            </a:pPr>
            <a:r>
              <a:rPr lang="en-US" dirty="0"/>
              <a:t>Direct-to-consumer (D2C) web-based solutions offer a practical way to bridge this gap, enabling farmers to sell directly, increase their earnings, and build better customer relationships.</a:t>
            </a:r>
          </a:p>
          <a:p>
            <a:pPr marL="785813" lvl="2" indent="-457200">
              <a:buFont typeface="+mj-lt"/>
              <a:buAutoNum type="arabicPeriod"/>
            </a:pPr>
            <a:r>
              <a:rPr lang="en-US" dirty="0"/>
              <a:t>By using simple digital tools—such as websites, mobile apps, and online payment systems—small and local farmers can access wider markets without relying on intermediaries.</a:t>
            </a:r>
          </a:p>
          <a:p>
            <a:pPr marL="785813" lvl="2" indent="-457200">
              <a:buFont typeface="+mj-lt"/>
              <a:buAutoNum type="arabicPeriod"/>
            </a:pPr>
            <a:r>
              <a:rPr lang="en-US" dirty="0"/>
              <a:t>The project demonstrates that a well-designed platform can improve farmer income by 10–30%, while providing consumers with fresher, more affordable produce.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344ED-4D0B-B452-7BA7-8E28F7C8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054" y="7839076"/>
            <a:ext cx="2182873" cy="401638"/>
          </a:xfrm>
        </p:spPr>
        <p:txBody>
          <a:bodyPr/>
          <a:lstStyle/>
          <a:p>
            <a:pPr>
              <a:defRPr/>
            </a:pPr>
            <a:r>
              <a:rPr lang="en-IN" dirty="0"/>
              <a:t>14</a:t>
            </a:r>
            <a:r>
              <a:rPr lang="en-US" dirty="0"/>
              <a:t>/10/2025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9C764-69B6-DAD8-A3FB-1B3329F3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</a:t>
            </a:r>
            <a:r>
              <a:rPr lang="en-IN" dirty="0"/>
              <a:t>39</a:t>
            </a:r>
            <a:r>
              <a:rPr lang="en-US" dirty="0"/>
              <a:t>                                 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C3473-92C2-76FF-8773-3703881E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ta-IN" altLang="en-US" smtClean="0"/>
              <a:pPr/>
              <a:t>11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534317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DE46-A582-4971-1566-36279D7D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390678"/>
          </a:xfrm>
        </p:spPr>
        <p:txBody>
          <a:bodyPr/>
          <a:lstStyle/>
          <a:p>
            <a:r>
              <a:rPr lang="en-US" sz="2800" b="1" dirty="0"/>
              <a:t>REFERENCES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1C228-4B9D-D58A-8148-D9AFA7264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D. S. V. Gowd, N. V. R. Reddy and K. Aravind, “Farmer To Consumer,” Conference Paper, Parul University, Mar. 2025.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P. Kushwaha, S. Mansoori, M. Patil, and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Baheti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“Transforming Agriculture: Enhancing Farmer-to-Consumer Connectivity Through Smart E-Commerce Platforms” Int. J. Sci. Res. Eng. Manag., vol. 9, no. 4, pp. 1–2, Apr. 2025.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A. S., A. S. V., M. M., and A. Jeyamurugan, “Web Based Application for Direct Market Access for Farmers,” Int. J. Creates. Thoughts, vol. 13, no. 4, pp. 192–197, Apr. 2025.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N. Anusha, P. S. Keerthi, M. R. Reddy, A. Ramesh, and M.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Ignatious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, “Farm to Home: An E-commerce Application for Farmers and Consumers,” in Advances in Computational Intelligence and its Applications, May 2024. DOI: 10.1201/9781003488682-5.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Uplaonkar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S. Biradar, “Middleman Growth in Agricultural Field and Its Impact on Farmers,” Int. J.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Creat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 Res. Thoughts, vol. 8, no. 3, pp. 3314–3317, Mar. 2020.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84046-55ED-4BE8-2F58-4A9E1BCA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14</a:t>
            </a:r>
            <a:r>
              <a:rPr lang="en-US" dirty="0"/>
              <a:t>/10/2025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6E97B-5FBE-41F7-8624-2CBCBC76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0D6D-B11E-B678-27A6-09FA733F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12</a:t>
            </a:fld>
            <a:endParaRPr lang="ta-IN" altLang="en-US"/>
          </a:p>
        </p:txBody>
      </p:sp>
    </p:spTree>
    <p:extLst>
      <p:ext uri="{BB962C8B-B14F-4D97-AF65-F5344CB8AC3E}">
        <p14:creationId xmlns:p14="http://schemas.microsoft.com/office/powerpoint/2010/main" val="2753471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4DD8D-28BC-6DDF-3846-6DD08E3C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6469" y="7839076"/>
            <a:ext cx="5284338" cy="441324"/>
          </a:xfrm>
        </p:spPr>
        <p:txBody>
          <a:bodyPr/>
          <a:lstStyle/>
          <a:p>
            <a:pPr>
              <a:defRPr/>
            </a:pPr>
            <a:r>
              <a:rPr lang="en-IN" dirty="0"/>
              <a:t>14/</a:t>
            </a:r>
            <a:r>
              <a:rPr lang="en-US" dirty="0"/>
              <a:t>10/2025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4CECA-C9E0-F228-556E-F4A54272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49" y="7799388"/>
            <a:ext cx="7030901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9214B-1A2C-4A3E-8511-57C7E70A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ta-IN" altLang="en-US" smtClean="0"/>
              <a:pPr/>
              <a:t>13</a:t>
            </a:fld>
            <a:endParaRPr lang="ta-I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45A7ED-E6E2-BB1D-F8BF-1984E8D0C781}"/>
              </a:ext>
            </a:extLst>
          </p:cNvPr>
          <p:cNvSpPr txBox="1"/>
          <p:nvPr/>
        </p:nvSpPr>
        <p:spPr>
          <a:xfrm>
            <a:off x="3679984" y="753203"/>
            <a:ext cx="7360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8000" b="1" dirty="0">
                <a:solidFill>
                  <a:schemeClr val="tx1"/>
                </a:solidFill>
              </a:rPr>
              <a:t> </a:t>
            </a:r>
          </a:p>
          <a:p>
            <a:pPr marL="641350" lvl="4" indent="0" eaLnBrk="1" hangingPunct="1">
              <a:buFont typeface="Calibri" panose="020F0502020204030204" pitchFamily="34" charset="0"/>
              <a:buNone/>
            </a:pPr>
            <a:r>
              <a:rPr lang="en-US" altLang="en-US" sz="8000" b="1" dirty="0">
                <a:solidFill>
                  <a:schemeClr val="tx1"/>
                </a:solidFill>
              </a:rPr>
              <a:t>                </a:t>
            </a:r>
            <a:r>
              <a:rPr lang="en-US" altLang="en-US" sz="8000" dirty="0">
                <a:solidFill>
                  <a:schemeClr val="tx1"/>
                </a:solidFill>
              </a:rPr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3035153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C45AC1"/>
      </a:accent1>
      <a:accent2>
        <a:srgbClr val="803677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2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4240</TotalTime>
  <Words>867</Words>
  <Application>Microsoft Office PowerPoint</Application>
  <PresentationFormat>Custom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Merriweather</vt:lpstr>
      <vt:lpstr>Times New Roman</vt:lpstr>
      <vt:lpstr>Retrospect</vt:lpstr>
      <vt:lpstr>PowerPoint Presentation</vt:lpstr>
      <vt:lpstr>CONTENT OUTLINE</vt:lpstr>
      <vt:lpstr>RECAP OF OBJECTIVES</vt:lpstr>
      <vt:lpstr>PROGRESS OVERVIEW</vt:lpstr>
      <vt:lpstr>METHODOLOGY</vt:lpstr>
      <vt:lpstr>SYSTEM ARCHITECTURE</vt:lpstr>
      <vt:lpstr>Implementation Updates</vt:lpstr>
      <vt:lpstr>Implementation Updates</vt:lpstr>
      <vt:lpstr>Results and Analaysis</vt:lpstr>
      <vt:lpstr>Evaluation Metrics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meena</dc:creator>
  <cp:lastModifiedBy>vickysubbu1603@gmail.com</cp:lastModifiedBy>
  <cp:revision>213</cp:revision>
  <dcterms:modified xsi:type="dcterms:W3CDTF">2025-10-12T10:35:28Z</dcterms:modified>
</cp:coreProperties>
</file>