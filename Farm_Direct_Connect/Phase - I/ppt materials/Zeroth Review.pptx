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4720570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</a:fld>
            <a:endParaRPr lang="en-US"/>
          </a:p>
        </p:txBody>
      </p:sp>
      <p:sp>
        <p:nvSpPr>
          <p:cNvPr id="10487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0487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en-US" altLang="en-US"/>
            </a:fld>
            <a:endParaRPr lang="en-US" altLang="en-US">
              <a:ea typeface="Latha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  <a:endParaRPr lang="en-US" altLang="en-US" sz="2800" b="1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  <a:endParaRPr lang="en-US" altLang="en-US" sz="2400"/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  <a:endParaRPr lang="en-US" altLang="en-US" sz="2400"/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  <a:endParaRPr lang="en-US" altLang="en-US" sz="2400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1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/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/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en-US" altLang="en-US"/>
            </a:fld>
            <a:endParaRPr lang="en-US" alt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8105" indent="-78105" algn="l" defTabSz="782955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9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505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8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11/07/2025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29050" y="7799388"/>
            <a:ext cx="7075170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  <a:endParaRPr lang="en-US" dirty="0"/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en-US" altLang="en-US"/>
            </a:fld>
            <a:endParaRPr lang="en-US" altLang="en-US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417513"/>
            <a:ext cx="16859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/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656863" y="5211790"/>
            <a:ext cx="5042262" cy="2030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	      SOORAJ R NAIR</a:t>
            </a:r>
            <a:r>
              <a:rPr lang="en-US" altLang="en-GB" dirty="0"/>
              <a:t>         </a:t>
            </a:r>
            <a:r>
              <a:rPr lang="en-GB" altLang="en-US" dirty="0"/>
              <a:t>- </a:t>
            </a:r>
            <a:r>
              <a:rPr lang="en-US" altLang="en-GB" dirty="0"/>
              <a:t>       </a:t>
            </a:r>
            <a:r>
              <a:rPr lang="en-GB" altLang="en-US" dirty="0"/>
              <a:t> 713822021</a:t>
            </a:r>
            <a:r>
              <a:rPr lang="en-US" altLang="en-GB" dirty="0"/>
              <a:t>52</a:t>
            </a:r>
            <a:endParaRPr lang="en-US" altLang="en-US" dirty="0"/>
          </a:p>
          <a:p>
            <a:r>
              <a:rPr lang="en-US" altLang="en-US" dirty="0"/>
              <a:t>	      SARUKESH  A            </a:t>
            </a:r>
            <a:r>
              <a:rPr lang="en-US" altLang="en-GB" dirty="0"/>
              <a:t> </a:t>
            </a:r>
            <a:r>
              <a:rPr lang="en-GB" altLang="en-US" dirty="0"/>
              <a:t>-  71382202134</a:t>
            </a:r>
            <a:endParaRPr lang="en-GB" altLang="en-US" dirty="0"/>
          </a:p>
          <a:p>
            <a:r>
              <a:rPr lang="en-US" altLang="en-GB" dirty="0"/>
              <a:t>              VIGNESHWARAN S   -  </a:t>
            </a:r>
            <a:r>
              <a:rPr lang="en-GB" altLang="en-GB" dirty="0"/>
              <a:t>713822021</a:t>
            </a:r>
            <a:r>
              <a:rPr lang="en-US" altLang="en-GB" dirty="0"/>
              <a:t>73</a:t>
            </a:r>
            <a:endParaRPr lang="en-US" altLang="en-GB" dirty="0"/>
          </a:p>
          <a:p>
            <a:r>
              <a:rPr lang="en-US" altLang="en-GB" dirty="0"/>
              <a:t>              SANJAY S                     - 71382202130</a:t>
            </a:r>
            <a:endParaRPr lang="en-IN" altLang="en-US" dirty="0"/>
          </a:p>
          <a:p>
            <a:endParaRPr lang="en-I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07563" y="5289550"/>
            <a:ext cx="395605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Guided by: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	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  <a:endParaRPr lang="en-US" spc="-5" dirty="0">
              <a:latin typeface="+mn-lt"/>
              <a:ea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2984500" y="2717135"/>
            <a:ext cx="8412163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20CS902-FYP Phase I Exam Presentation </a:t>
            </a:r>
            <a:br>
              <a:rPr lang="en-US" altLang="en-US" sz="2400" dirty="0"/>
            </a:br>
            <a:r>
              <a:rPr lang="en-US" altLang="en-US" sz="2400" dirty="0"/>
              <a:t>Zeroth Review</a:t>
            </a:r>
            <a:endParaRPr lang="en-US" altLang="en-US" sz="2400" dirty="0"/>
          </a:p>
          <a:p>
            <a:pPr algn="ctr"/>
            <a:r>
              <a:rPr lang="en-US" altLang="en-US" sz="2400" dirty="0"/>
              <a:t>BATCH NO :39</a:t>
            </a:r>
            <a:endParaRPr lang="en-US" altLang="en-US" sz="2400" dirty="0"/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1003935" y="3959860"/>
            <a:ext cx="12659360" cy="166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 panose="02020603050405020304"/>
              </a:rPr>
              <a:t>ADDRESSING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THE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INCOME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GAP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0" dirty="0">
                <a:latin typeface="Times New Roman" panose="02020603050405020304"/>
              </a:rPr>
              <a:t>CAUSED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BY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MIDDLEMEN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15" dirty="0">
                <a:latin typeface="Times New Roman" panose="02020603050405020304"/>
              </a:rPr>
              <a:t>IN </a:t>
            </a:r>
            <a:r>
              <a:rPr lang="en-US" sz="2800" b="1" dirty="0">
                <a:latin typeface="Times New Roman" panose="02020603050405020304"/>
              </a:rPr>
              <a:t>AGRICULTURAL MARKETING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THROUGH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DIRECT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-10" dirty="0">
                <a:latin typeface="Times New Roman" panose="02020603050405020304"/>
              </a:rPr>
              <a:t>FARMER-</a:t>
            </a:r>
            <a:r>
              <a:rPr lang="en-US" sz="2800" b="1" dirty="0">
                <a:latin typeface="Times New Roman" panose="02020603050405020304"/>
              </a:rPr>
              <a:t>TO-</a:t>
            </a:r>
            <a:r>
              <a:rPr lang="en-US" sz="2800" b="1" spc="60" dirty="0">
                <a:latin typeface="Times New Roman" panose="02020603050405020304"/>
              </a:rPr>
              <a:t>CONSUMER </a:t>
            </a:r>
            <a:r>
              <a:rPr lang="en-US" sz="2800" b="1" spc="65" dirty="0">
                <a:latin typeface="Times New Roman" panose="02020603050405020304"/>
              </a:rPr>
              <a:t>SOLUTIONS</a:t>
            </a:r>
            <a:endParaRPr lang="en-US" sz="2800" dirty="0">
              <a:latin typeface="Times New Roman" panose="02020603050405020304"/>
            </a:endParaRPr>
          </a:p>
          <a:p>
            <a:pPr algn="ctr"/>
            <a:endParaRPr lang="en-US" altLang="en-IN" sz="3200" b="1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275923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OUTLINE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4879" y="1915045"/>
            <a:ext cx="5961960" cy="5439912"/>
          </a:xfrm>
        </p:spPr>
        <p:txBody>
          <a:bodyPr>
            <a:noAutofit/>
          </a:bodyPr>
          <a:lstStyle/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100" dirty="0">
                <a:solidFill>
                  <a:schemeClr val="tx1"/>
                </a:solidFill>
                <a:latin typeface="+mj-lt"/>
              </a:rPr>
              <a:t> Problem Statement</a:t>
            </a:r>
            <a:endParaRPr lang="en-US" alt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Objectives</a:t>
            </a:r>
            <a:endParaRPr lang="en-GB" alt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GB" altLang="en-US" sz="2100" dirty="0">
                <a:solidFill>
                  <a:schemeClr val="tx1"/>
                </a:solidFill>
                <a:latin typeface="+mj-lt"/>
              </a:rPr>
              <a:t> Literature Review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Proposed work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Methodology 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Tools and Technologies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Project plan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Expected Results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Conclusion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tx1"/>
                </a:solidFill>
                <a:latin typeface="+mj-lt"/>
              </a:rPr>
              <a:t> References</a:t>
            </a:r>
            <a:endParaRPr lang="en-IN" sz="21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00" y="7799387"/>
            <a:ext cx="6728279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067945" y="7692974"/>
            <a:ext cx="158432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04" y="-111152"/>
            <a:ext cx="12144733" cy="1751654"/>
          </a:xfrm>
        </p:spPr>
        <p:txBody>
          <a:bodyPr/>
          <a:lstStyle/>
          <a:p>
            <a:r>
              <a:rPr lang="en-IN" sz="2800" b="1" dirty="0"/>
              <a:t>PROBLEM STATEMENT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1304" y="1828800"/>
            <a:ext cx="12868308" cy="525758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pc="90" dirty="0"/>
              <a:t>The</a:t>
            </a:r>
            <a:r>
              <a:rPr lang="en-US" spc="-50" dirty="0"/>
              <a:t> </a:t>
            </a:r>
            <a:r>
              <a:rPr lang="en-US" dirty="0"/>
              <a:t>current</a:t>
            </a:r>
            <a:r>
              <a:rPr lang="en-US" spc="-45" dirty="0"/>
              <a:t> </a:t>
            </a:r>
            <a:r>
              <a:rPr lang="en-US" dirty="0"/>
              <a:t>agricultural</a:t>
            </a:r>
            <a:r>
              <a:rPr lang="en-US" spc="-45" dirty="0"/>
              <a:t> </a:t>
            </a:r>
            <a:r>
              <a:rPr lang="en-US" dirty="0"/>
              <a:t>marketing</a:t>
            </a:r>
            <a:r>
              <a:rPr lang="en-US" spc="-50" dirty="0"/>
              <a:t> </a:t>
            </a:r>
            <a:r>
              <a:rPr lang="en-US" dirty="0"/>
              <a:t>system,</a:t>
            </a:r>
            <a:r>
              <a:rPr lang="en-US" spc="-45" dirty="0"/>
              <a:t> </a:t>
            </a:r>
            <a:r>
              <a:rPr lang="en-US" spc="-10" dirty="0"/>
              <a:t>particularly</a:t>
            </a:r>
            <a:r>
              <a:rPr lang="en-US" spc="-45" dirty="0"/>
              <a:t> </a:t>
            </a:r>
            <a:r>
              <a:rPr lang="en-US" spc="-10" dirty="0"/>
              <a:t>in</a:t>
            </a:r>
            <a:r>
              <a:rPr lang="en-US" spc="-50" dirty="0"/>
              <a:t> </a:t>
            </a:r>
            <a:r>
              <a:rPr lang="en-US" spc="80" dirty="0"/>
              <a:t>regions</a:t>
            </a:r>
            <a:r>
              <a:rPr lang="en-US" spc="-45" dirty="0"/>
              <a:t> </a:t>
            </a:r>
            <a:r>
              <a:rPr lang="en-US" spc="-10" dirty="0"/>
              <a:t>like</a:t>
            </a:r>
            <a:r>
              <a:rPr lang="en-US" spc="-45" dirty="0"/>
              <a:t> </a:t>
            </a:r>
            <a:r>
              <a:rPr lang="en-US" spc="-65" dirty="0"/>
              <a:t>India,</a:t>
            </a:r>
            <a:r>
              <a:rPr lang="en-US" spc="-45" dirty="0"/>
              <a:t> </a:t>
            </a:r>
            <a:r>
              <a:rPr lang="en-US" dirty="0"/>
              <a:t>is</a:t>
            </a:r>
            <a:r>
              <a:rPr lang="en-US" spc="-50" dirty="0"/>
              <a:t> </a:t>
            </a:r>
            <a:r>
              <a:rPr lang="en-US" dirty="0"/>
              <a:t>characterized</a:t>
            </a:r>
            <a:r>
              <a:rPr lang="en-US" spc="-45" dirty="0"/>
              <a:t> </a:t>
            </a:r>
            <a:r>
              <a:rPr lang="en-US" spc="140" dirty="0"/>
              <a:t>by</a:t>
            </a:r>
            <a:r>
              <a:rPr lang="en-US" spc="-45" dirty="0"/>
              <a:t> </a:t>
            </a:r>
            <a:r>
              <a:rPr lang="en-US" spc="-50" dirty="0"/>
              <a:t>a </a:t>
            </a:r>
            <a:r>
              <a:rPr lang="en-US" dirty="0"/>
              <a:t>multi-</a:t>
            </a:r>
            <a:r>
              <a:rPr lang="en-US" spc="50" dirty="0"/>
              <a:t>layered</a:t>
            </a:r>
            <a:r>
              <a:rPr lang="en-US" spc="-20" dirty="0"/>
              <a:t> </a:t>
            </a:r>
            <a:r>
              <a:rPr lang="en-US" dirty="0"/>
              <a:t>chain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20" dirty="0"/>
              <a:t> </a:t>
            </a:r>
            <a:r>
              <a:rPr lang="en-US" dirty="0"/>
              <a:t>intermediaries</a:t>
            </a:r>
            <a:r>
              <a:rPr lang="en-US" spc="-20" dirty="0"/>
              <a:t> </a:t>
            </a:r>
            <a:r>
              <a:rPr lang="en-US" dirty="0"/>
              <a:t>(middlemen)</a:t>
            </a:r>
            <a:r>
              <a:rPr lang="en-US" spc="-20" dirty="0"/>
              <a:t> </a:t>
            </a:r>
            <a:r>
              <a:rPr lang="en-US" spc="80" dirty="0"/>
              <a:t>between</a:t>
            </a:r>
            <a:r>
              <a:rPr lang="en-US" spc="-20" dirty="0"/>
              <a:t> </a:t>
            </a:r>
            <a:r>
              <a:rPr lang="en-US" dirty="0"/>
              <a:t>farmers</a:t>
            </a:r>
            <a:r>
              <a:rPr lang="en-US" spc="-20" dirty="0"/>
              <a:t> </a:t>
            </a:r>
            <a:r>
              <a:rPr lang="en-US" spc="100" dirty="0"/>
              <a:t>and</a:t>
            </a:r>
            <a:r>
              <a:rPr lang="en-US" spc="-20" dirty="0"/>
              <a:t> </a:t>
            </a:r>
            <a:r>
              <a:rPr lang="en-US" spc="60" dirty="0"/>
              <a:t>consumers.</a:t>
            </a:r>
            <a:r>
              <a:rPr lang="en-US" spc="-20" dirty="0"/>
              <a:t> </a:t>
            </a:r>
            <a:endParaRPr lang="en-US" spc="-20" dirty="0"/>
          </a:p>
          <a:p>
            <a:pPr>
              <a:buFont typeface="Courier New" panose="02070309020205020404" pitchFamily="49" charset="0"/>
              <a:buChar char="o"/>
            </a:pPr>
            <a:endParaRPr lang="en-US" spc="-2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pc="70" dirty="0"/>
              <a:t>Studies </a:t>
            </a:r>
            <a:r>
              <a:rPr lang="en-US" dirty="0"/>
              <a:t>indicate</a:t>
            </a:r>
            <a:r>
              <a:rPr lang="en-US" spc="-85" dirty="0"/>
              <a:t> </a:t>
            </a:r>
            <a:r>
              <a:rPr lang="en-US" spc="-50" dirty="0"/>
              <a:t>that</a:t>
            </a:r>
            <a:r>
              <a:rPr lang="en-US" spc="-85" dirty="0"/>
              <a:t> </a:t>
            </a:r>
            <a:r>
              <a:rPr lang="en-US" dirty="0"/>
              <a:t>farmers</a:t>
            </a:r>
            <a:r>
              <a:rPr lang="en-US" spc="-85" dirty="0"/>
              <a:t> </a:t>
            </a:r>
            <a:r>
              <a:rPr lang="en-US" dirty="0"/>
              <a:t>often</a:t>
            </a:r>
            <a:r>
              <a:rPr lang="en-US" spc="-85" dirty="0"/>
              <a:t> </a:t>
            </a:r>
            <a:r>
              <a:rPr lang="en-US" dirty="0"/>
              <a:t>receive</a:t>
            </a:r>
            <a:r>
              <a:rPr lang="en-US" spc="-85" dirty="0"/>
              <a:t> </a:t>
            </a:r>
            <a:r>
              <a:rPr lang="en-US" spc="120" dirty="0"/>
              <a:t>as</a:t>
            </a:r>
            <a:r>
              <a:rPr lang="en-US" spc="-80" dirty="0"/>
              <a:t> </a:t>
            </a:r>
            <a:r>
              <a:rPr lang="en-US" spc="-105" dirty="0"/>
              <a:t>little</a:t>
            </a:r>
            <a:r>
              <a:rPr lang="en-US" spc="-85" dirty="0"/>
              <a:t> </a:t>
            </a:r>
            <a:r>
              <a:rPr lang="en-US" spc="120" dirty="0"/>
              <a:t>as</a:t>
            </a:r>
            <a:r>
              <a:rPr lang="en-US" spc="-85" dirty="0"/>
              <a:t> </a:t>
            </a:r>
            <a:r>
              <a:rPr lang="en-US" spc="135" dirty="0"/>
              <a:t>30-</a:t>
            </a:r>
            <a:r>
              <a:rPr lang="en-US" spc="204" dirty="0"/>
              <a:t>50%</a:t>
            </a:r>
            <a:r>
              <a:rPr lang="en-US" spc="-85" dirty="0"/>
              <a:t> </a:t>
            </a:r>
            <a:r>
              <a:rPr lang="en-US" dirty="0"/>
              <a:t>of</a:t>
            </a:r>
            <a:r>
              <a:rPr lang="en-US" spc="-85" dirty="0"/>
              <a:t> </a:t>
            </a:r>
            <a:r>
              <a:rPr lang="en-US" dirty="0"/>
              <a:t>the</a:t>
            </a:r>
            <a:r>
              <a:rPr lang="en-US" spc="-85" dirty="0"/>
              <a:t> </a:t>
            </a:r>
            <a:r>
              <a:rPr lang="en-US" spc="114" dirty="0"/>
              <a:t>consumer</a:t>
            </a:r>
            <a:r>
              <a:rPr lang="en-US" spc="-85" dirty="0"/>
              <a:t> </a:t>
            </a:r>
            <a:r>
              <a:rPr lang="en-US" dirty="0"/>
              <a:t>rupee,</a:t>
            </a:r>
            <a:r>
              <a:rPr lang="en-US" spc="-80" dirty="0"/>
              <a:t> </a:t>
            </a:r>
            <a:r>
              <a:rPr lang="en-US" spc="-10" dirty="0"/>
              <a:t>with</a:t>
            </a:r>
            <a:r>
              <a:rPr lang="en-US" spc="-85" dirty="0"/>
              <a:t> </a:t>
            </a:r>
            <a:r>
              <a:rPr lang="en-US" dirty="0"/>
              <a:t>the</a:t>
            </a:r>
            <a:r>
              <a:rPr lang="en-US" spc="-85" dirty="0"/>
              <a:t> </a:t>
            </a:r>
            <a:r>
              <a:rPr lang="en-US" spc="-10" dirty="0"/>
              <a:t>remaining </a:t>
            </a:r>
            <a:r>
              <a:rPr lang="en-US" dirty="0"/>
              <a:t>substantial</a:t>
            </a:r>
            <a:r>
              <a:rPr lang="en-US" spc="-15" dirty="0"/>
              <a:t> </a:t>
            </a:r>
            <a:r>
              <a:rPr lang="en-US" dirty="0"/>
              <a:t>portion</a:t>
            </a:r>
            <a:r>
              <a:rPr lang="en-US" spc="-15" dirty="0"/>
              <a:t> </a:t>
            </a:r>
            <a:r>
              <a:rPr lang="en-US" spc="95" dirty="0"/>
              <a:t>being</a:t>
            </a:r>
            <a:r>
              <a:rPr lang="en-US" spc="-15" dirty="0"/>
              <a:t> </a:t>
            </a:r>
            <a:r>
              <a:rPr lang="en-US" spc="105" dirty="0"/>
              <a:t>absorbed</a:t>
            </a:r>
            <a:r>
              <a:rPr lang="en-US" spc="-15" dirty="0"/>
              <a:t> </a:t>
            </a:r>
            <a:r>
              <a:rPr lang="en-US" spc="140" dirty="0"/>
              <a:t>by</a:t>
            </a:r>
            <a:r>
              <a:rPr lang="en-US" spc="-15" dirty="0"/>
              <a:t> </a:t>
            </a:r>
            <a:r>
              <a:rPr lang="en-US" spc="100" dirty="0"/>
              <a:t>commission</a:t>
            </a:r>
            <a:r>
              <a:rPr lang="en-US" spc="-15" dirty="0"/>
              <a:t> </a:t>
            </a:r>
            <a:r>
              <a:rPr lang="en-US" dirty="0"/>
              <a:t>agents,</a:t>
            </a:r>
            <a:r>
              <a:rPr lang="en-US" spc="-15" dirty="0"/>
              <a:t> </a:t>
            </a:r>
            <a:r>
              <a:rPr lang="en-US" dirty="0"/>
              <a:t>wholesalers,</a:t>
            </a:r>
            <a:r>
              <a:rPr lang="en-US" spc="-15" dirty="0"/>
              <a:t> </a:t>
            </a:r>
            <a:r>
              <a:rPr lang="en-US" spc="100" dirty="0"/>
              <a:t>and</a:t>
            </a:r>
            <a:r>
              <a:rPr lang="en-US" spc="-15" dirty="0"/>
              <a:t> </a:t>
            </a:r>
            <a:r>
              <a:rPr lang="en-US" spc="-80" dirty="0"/>
              <a:t>retailers.</a:t>
            </a:r>
            <a:r>
              <a:rPr lang="en-US" spc="-15" dirty="0"/>
              <a:t> </a:t>
            </a:r>
            <a:endParaRPr lang="en-US" spc="-15" dirty="0"/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cs typeface="Trebuchet MS" panose="020B0603020202020204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pc="110" dirty="0">
                <a:solidFill>
                  <a:schemeClr val="tx1"/>
                </a:solidFill>
                <a:cs typeface="Trebuchet MS" panose="020B0603020202020204"/>
              </a:rPr>
              <a:t>Lack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of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direct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market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35" dirty="0">
                <a:solidFill>
                  <a:schemeClr val="tx1"/>
                </a:solidFill>
                <a:cs typeface="Trebuchet MS" panose="020B0603020202020204"/>
              </a:rPr>
              <a:t>access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for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-30" dirty="0">
                <a:solidFill>
                  <a:schemeClr val="tx1"/>
                </a:solidFill>
                <a:cs typeface="Trebuchet MS" panose="020B0603020202020204"/>
              </a:rPr>
              <a:t>farmers: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80" dirty="0">
                <a:solidFill>
                  <a:schemeClr val="tx1"/>
                </a:solidFill>
                <a:cs typeface="Trebuchet MS" panose="020B0603020202020204"/>
              </a:rPr>
              <a:t>Many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65" dirty="0">
                <a:solidFill>
                  <a:schemeClr val="tx1"/>
                </a:solidFill>
                <a:cs typeface="Trebuchet MS" panose="020B0603020202020204"/>
              </a:rPr>
              <a:t>small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00" dirty="0">
                <a:solidFill>
                  <a:schemeClr val="tx1"/>
                </a:solidFill>
                <a:cs typeface="Trebuchet MS" panose="020B0603020202020204"/>
              </a:rPr>
              <a:t>and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marginal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farmers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lack</a:t>
            </a:r>
            <a:r>
              <a:rPr lang="en-US" spc="-7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the</a:t>
            </a:r>
            <a:r>
              <a:rPr lang="en-US" spc="-6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Trebuchet MS" panose="020B0603020202020204"/>
              </a:rPr>
              <a:t>infrastructure,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logistics,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00" dirty="0">
                <a:solidFill>
                  <a:schemeClr val="tx1"/>
                </a:solidFill>
                <a:cs typeface="Trebuchet MS" panose="020B0603020202020204"/>
              </a:rPr>
              <a:t>and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market</a:t>
            </a:r>
            <a:r>
              <a:rPr lang="en-US" spc="-8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25" dirty="0">
                <a:solidFill>
                  <a:schemeClr val="tx1"/>
                </a:solidFill>
                <a:cs typeface="Trebuchet MS" panose="020B0603020202020204"/>
              </a:rPr>
              <a:t>knowledge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to</a:t>
            </a:r>
            <a:r>
              <a:rPr lang="en-US" spc="-8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directly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50" dirty="0">
                <a:solidFill>
                  <a:schemeClr val="tx1"/>
                </a:solidFill>
                <a:cs typeface="Trebuchet MS" panose="020B0603020202020204"/>
              </a:rPr>
              <a:t>reach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25" dirty="0">
                <a:solidFill>
                  <a:schemeClr val="tx1"/>
                </a:solidFill>
                <a:cs typeface="Trebuchet MS" panose="020B0603020202020204"/>
              </a:rPr>
              <a:t>consumers</a:t>
            </a:r>
            <a:r>
              <a:rPr lang="en-US" spc="-8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or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spc="100" dirty="0">
                <a:solidFill>
                  <a:schemeClr val="tx1"/>
                </a:solidFill>
                <a:cs typeface="Trebuchet MS" panose="020B0603020202020204"/>
              </a:rPr>
              <a:t>even</a:t>
            </a:r>
            <a:r>
              <a:rPr lang="en-US" spc="-85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larger</a:t>
            </a:r>
            <a:r>
              <a:rPr lang="en-US" spc="-90" dirty="0">
                <a:solidFill>
                  <a:schemeClr val="tx1"/>
                </a:solidFill>
                <a:cs typeface="Trebuchet MS" panose="020B0603020202020204"/>
              </a:rPr>
              <a:t> </a:t>
            </a:r>
            <a:r>
              <a:rPr lang="en-US" dirty="0">
                <a:solidFill>
                  <a:schemeClr val="tx1"/>
                </a:solidFill>
                <a:cs typeface="Trebuchet MS" panose="020B0603020202020204"/>
              </a:rPr>
              <a:t>buyers.</a:t>
            </a:r>
            <a:endParaRPr lang="en-US" dirty="0">
              <a:solidFill>
                <a:schemeClr val="tx1"/>
              </a:solidFill>
              <a:cs typeface="Trebuchet MS" panose="020B0603020202020204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79669" y="7799388"/>
            <a:ext cx="7759337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OBJECTIVE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400" spc="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overarching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sz="24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4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</a:t>
            </a:r>
            <a:r>
              <a:rPr lang="en-US" sz="24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farmer-to-</a:t>
            </a:r>
            <a:r>
              <a:rPr lang="en-US" sz="2400" spc="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en-US" sz="24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viable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sz="24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disparities</a:t>
            </a:r>
            <a:r>
              <a:rPr lang="en-US" sz="2400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marketing.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</a:t>
            </a:r>
            <a:r>
              <a:rPr lang="en-US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spc="150" dirty="0">
                <a:solidFill>
                  <a:schemeClr val="tx1"/>
                </a:solidFill>
                <a:cs typeface="Cambria" panose="02040503050406030204"/>
              </a:rPr>
              <a:t>To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raise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farmers'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contribution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to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the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end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retail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price</a:t>
            </a:r>
            <a:r>
              <a:rPr lang="en-US" sz="2400" spc="5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114" dirty="0">
                <a:solidFill>
                  <a:schemeClr val="tx1"/>
                </a:solidFill>
                <a:cs typeface="Cambria" panose="02040503050406030204"/>
              </a:rPr>
              <a:t>of</a:t>
            </a:r>
            <a:r>
              <a:rPr lang="en-US" sz="2400" spc="6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-10" dirty="0">
                <a:solidFill>
                  <a:schemeClr val="tx1"/>
                </a:solidFill>
                <a:cs typeface="Cambria" panose="02040503050406030204"/>
              </a:rPr>
              <a:t>agricultural </a:t>
            </a:r>
            <a:r>
              <a:rPr lang="en-US" sz="2400" spc="35" dirty="0">
                <a:solidFill>
                  <a:schemeClr val="tx1"/>
                </a:solidFill>
                <a:cs typeface="Cambria" panose="02040503050406030204"/>
              </a:rPr>
              <a:t>products.</a:t>
            </a:r>
            <a:endParaRPr lang="en-US" sz="2400" dirty="0">
              <a:solidFill>
                <a:schemeClr val="tx1"/>
              </a:solidFill>
              <a:cs typeface="Cambria" panose="02040503050406030204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spc="150" dirty="0">
                <a:solidFill>
                  <a:schemeClr val="tx1"/>
                </a:solidFill>
                <a:cs typeface="Cambria" panose="02040503050406030204"/>
              </a:rPr>
              <a:t>To</a:t>
            </a:r>
            <a:r>
              <a:rPr lang="en-US" sz="2400" spc="16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facilitate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open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65" dirty="0">
                <a:solidFill>
                  <a:schemeClr val="tx1"/>
                </a:solidFill>
                <a:cs typeface="Cambria" panose="02040503050406030204"/>
              </a:rPr>
              <a:t>and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effective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supply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60" dirty="0">
                <a:solidFill>
                  <a:schemeClr val="tx1"/>
                </a:solidFill>
                <a:cs typeface="Cambria" panose="02040503050406030204"/>
              </a:rPr>
              <a:t>chains</a:t>
            </a:r>
            <a:r>
              <a:rPr lang="en-US" sz="2400" spc="17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through</a:t>
            </a:r>
            <a:r>
              <a:rPr lang="en-US" sz="2400" spc="18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-10" dirty="0">
                <a:solidFill>
                  <a:schemeClr val="tx1"/>
                </a:solidFill>
                <a:cs typeface="Cambria" panose="02040503050406030204"/>
              </a:rPr>
              <a:t>digital </a:t>
            </a:r>
            <a:r>
              <a:rPr lang="en-US" sz="2400" spc="35" dirty="0">
                <a:solidFill>
                  <a:schemeClr val="tx1"/>
                </a:solidFill>
                <a:cs typeface="Cambria" panose="02040503050406030204"/>
              </a:rPr>
              <a:t>innovation.</a:t>
            </a:r>
            <a:endParaRPr lang="en-US" sz="2400" dirty="0">
              <a:solidFill>
                <a:schemeClr val="tx1"/>
              </a:solidFill>
              <a:cs typeface="Cambria" panose="02040503050406030204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spc="150" dirty="0">
                <a:solidFill>
                  <a:schemeClr val="tx1"/>
                </a:solidFill>
                <a:cs typeface="Cambria" panose="02040503050406030204"/>
              </a:rPr>
              <a:t>To</a:t>
            </a:r>
            <a:r>
              <a:rPr lang="en-US" sz="2400" spc="13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strengthen</a:t>
            </a:r>
            <a:r>
              <a:rPr lang="en-US" sz="2400" spc="13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85" dirty="0">
                <a:solidFill>
                  <a:schemeClr val="tx1"/>
                </a:solidFill>
                <a:cs typeface="Cambria" panose="02040503050406030204"/>
              </a:rPr>
              <a:t>food</a:t>
            </a:r>
            <a:r>
              <a:rPr lang="en-US" sz="2400" spc="13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security</a:t>
            </a:r>
            <a:r>
              <a:rPr lang="en-US" sz="2400" spc="13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65" dirty="0">
                <a:solidFill>
                  <a:schemeClr val="tx1"/>
                </a:solidFill>
                <a:cs typeface="Cambria" panose="02040503050406030204"/>
              </a:rPr>
              <a:t>and</a:t>
            </a:r>
            <a:r>
              <a:rPr lang="en-US" sz="2400" spc="13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affordability</a:t>
            </a:r>
            <a:r>
              <a:rPr lang="en-US" sz="2400" spc="13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for</a:t>
            </a:r>
            <a:r>
              <a:rPr lang="en-US" sz="2400" spc="13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consumers</a:t>
            </a:r>
            <a:r>
              <a:rPr lang="en-US" sz="2400" spc="130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-25" dirty="0">
                <a:solidFill>
                  <a:schemeClr val="tx1"/>
                </a:solidFill>
                <a:cs typeface="Cambria" panose="02040503050406030204"/>
              </a:rPr>
              <a:t>by </a:t>
            </a:r>
            <a:r>
              <a:rPr lang="en-US" sz="2400" spc="45" dirty="0">
                <a:solidFill>
                  <a:schemeClr val="tx1"/>
                </a:solidFill>
                <a:cs typeface="Cambria" panose="02040503050406030204"/>
              </a:rPr>
              <a:t>minimizing</a:t>
            </a:r>
            <a:r>
              <a:rPr lang="en-US" sz="2400" spc="2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mbria" panose="02040503050406030204"/>
              </a:rPr>
              <a:t>intermediary</a:t>
            </a:r>
            <a:r>
              <a:rPr lang="en-US" sz="2400" spc="25" dirty="0">
                <a:solidFill>
                  <a:schemeClr val="tx1"/>
                </a:solidFill>
                <a:cs typeface="Cambria" panose="02040503050406030204"/>
              </a:rPr>
              <a:t> </a:t>
            </a:r>
            <a:r>
              <a:rPr lang="en-US" sz="2400" spc="-10" dirty="0">
                <a:solidFill>
                  <a:schemeClr val="tx1"/>
                </a:solidFill>
                <a:cs typeface="Cambria" panose="02040503050406030204"/>
              </a:rPr>
              <a:t>costs</a:t>
            </a:r>
            <a:endParaRPr lang="en-US" sz="2400" dirty="0">
              <a:solidFill>
                <a:schemeClr val="tx1"/>
              </a:solidFill>
              <a:cs typeface="Cambria" panose="02040503050406030204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571500" y="254000"/>
            <a:ext cx="13658850" cy="1342294"/>
          </a:xfrm>
        </p:spPr>
        <p:txBody>
          <a:bodyPr rtlCol="0">
            <a:normAutofit/>
          </a:bodyPr>
          <a:lstStyle/>
          <a:p>
            <a:pPr defTabSz="782955" eaLnBrk="1" fontAlgn="auto" hangingPunct="1">
              <a:spcAft>
                <a:spcPts val="0"/>
              </a:spcAft>
              <a:defRPr/>
            </a:pP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  <a:endParaRPr lang="en-GB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Date Placeholder 3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 wrap="square" numCol="1" anchorCtr="0" compatLnSpc="1"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09976" y="7796213"/>
            <a:ext cx="7202804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  <a:endParaRPr lang="en-US" dirty="0"/>
          </a:p>
        </p:txBody>
      </p:sp>
      <p:sp>
        <p:nvSpPr>
          <p:cNvPr id="1331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4B5E86E-E397-495A-AE9D-4BD544D3CF08}" type="slidenum">
              <a:rPr lang="en-US" altLang="en-US"/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7773" y="1841865"/>
          <a:ext cx="14065874" cy="53743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5682"/>
                <a:gridCol w="3524147"/>
                <a:gridCol w="912970"/>
                <a:gridCol w="4016891"/>
                <a:gridCol w="4866184"/>
              </a:tblGrid>
              <a:tr h="824956">
                <a:tc>
                  <a:txBody>
                    <a:bodyPr/>
                    <a:lstStyle/>
                    <a:p>
                      <a:r>
                        <a:rPr lang="en-US" b="1" dirty="0"/>
                        <a:t>S.NO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                PAPER DETAILS</a:t>
                      </a:r>
                      <a:endParaRPr lang="en-IN" dirty="0"/>
                    </a:p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YEAR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AUTHOR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       INFERENCE</a:t>
                      </a:r>
                      <a:endParaRPr lang="en-IN" b="1" dirty="0"/>
                    </a:p>
                  </a:txBody>
                  <a:tcPr/>
                </a:tc>
              </a:tr>
              <a:tr h="1170183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Digital Platforms for Farmer Producer Organizations (FPOs): Enhancing Market Access</a:t>
                      </a:r>
                      <a:endParaRPr lang="en-US" sz="18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1" dirty="0"/>
                        <a:t>2021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R</a:t>
                      </a:r>
                      <a:r>
                        <a:rPr lang="en-IN" sz="2000" b="1" dirty="0" err="1"/>
                        <a:t>icha</a:t>
                      </a:r>
                      <a:r>
                        <a:rPr lang="en-IN" sz="2000" b="1" dirty="0"/>
                        <a:t> Sharma</a:t>
                      </a:r>
                      <a:endParaRPr lang="en-IN" sz="20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000" b="1" dirty="0"/>
                        <a:t>Anuj </a:t>
                      </a:r>
                      <a:r>
                        <a:rPr lang="en-IN" sz="2000" b="1" dirty="0" err="1"/>
                        <a:t>K.Gupta</a:t>
                      </a:r>
                      <a:endParaRPr lang="en-IN" sz="20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FPOs using digital platforms improve collective bargaining, reduce transaction costs, and enable direct selling, minimizing the role of middlemen.</a:t>
                      </a:r>
                      <a:endParaRPr lang="en-US" sz="18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dirty="0"/>
                    </a:p>
                  </a:txBody>
                  <a:tcPr/>
                </a:tc>
              </a:tr>
              <a:tr h="1526687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Role of ICT in Agricultural Marketing for Direct Farmer-to-Consumer Model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1" dirty="0"/>
                        <a:t>2020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Dr </a:t>
                      </a:r>
                      <a:r>
                        <a:rPr lang="en-US" sz="2000" b="1" dirty="0" err="1"/>
                        <a:t>S.V.Mahadik</a:t>
                      </a:r>
                      <a:endParaRPr lang="en-US" sz="20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 err="1"/>
                        <a:t>K.Patil</a:t>
                      </a:r>
                      <a:endParaRPr lang="en-IN" sz="20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ICT tools like mobile apps and web portals can eliminate intermediaries, ensuring better price realization for farmers by directly connecting them with consumers.</a:t>
                      </a:r>
                      <a:endParaRPr lang="en-IN" sz="18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b="1" dirty="0"/>
                    </a:p>
                  </a:txBody>
                  <a:tcPr/>
                </a:tc>
              </a:tr>
              <a:tr h="1559687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 Review of e-NAM and Its Role in Integrating Agricultural Markets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1" dirty="0"/>
                        <a:t>2019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S.S Rathore</a:t>
                      </a:r>
                      <a:endParaRPr lang="en-US" sz="2000" b="1" dirty="0"/>
                    </a:p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 err="1"/>
                        <a:t>V.N.Bhale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7829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/>
                        <a:t>E-NAM promotes transparency and price discovery by connecting mandis digitally, but still faces challenges in farmer adoption and direct consumer connectivity.</a:t>
                      </a:r>
                      <a:endParaRPr lang="en-US" sz="18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35080"/>
          </a:xfrm>
        </p:spPr>
        <p:txBody>
          <a:bodyPr/>
          <a:lstStyle/>
          <a:p>
            <a:r>
              <a:rPr lang="en-IN" sz="2800" b="1" dirty="0"/>
              <a:t>PROPOSED WORK</a:t>
            </a:r>
            <a:endParaRPr lang="en-IN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0538" y="1806837"/>
            <a:ext cx="14033580" cy="4994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Problem</a:t>
            </a:r>
            <a:r>
              <a:rPr lang="en-US" sz="2200" spc="-10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Definition: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 marR="143510">
              <a:lnSpc>
                <a:spcPct val="131000"/>
              </a:lnSpc>
            </a:pPr>
            <a:r>
              <a:rPr lang="en-US" sz="2200" spc="65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65" dirty="0">
                <a:latin typeface="Trebuchet MS" panose="020B0603020202020204"/>
                <a:cs typeface="Trebuchet MS" panose="020B0603020202020204"/>
              </a:rPr>
              <a:t>income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difference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60" dirty="0">
                <a:latin typeface="Trebuchet MS" panose="020B0603020202020204"/>
                <a:cs typeface="Trebuchet MS" panose="020B0603020202020204"/>
              </a:rPr>
              <a:t>between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100" dirty="0">
                <a:latin typeface="Trebuchet MS" panose="020B0603020202020204"/>
                <a:cs typeface="Trebuchet MS" panose="020B0603020202020204"/>
              </a:rPr>
              <a:t>consumers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80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farmers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45" dirty="0">
                <a:latin typeface="Trebuchet MS" panose="020B0603020202020204"/>
                <a:cs typeface="Trebuchet MS" panose="020B0603020202020204"/>
              </a:rPr>
              <a:t>increased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95" dirty="0">
                <a:latin typeface="Trebuchet MS" panose="020B0603020202020204"/>
                <a:cs typeface="Trebuchet MS" panose="020B0603020202020204"/>
              </a:rPr>
              <a:t>because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of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middlemen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20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farming </a:t>
            </a:r>
            <a:r>
              <a:rPr lang="en-US" sz="2200" spc="85" dirty="0">
                <a:latin typeface="Trebuchet MS" panose="020B0603020202020204"/>
                <a:cs typeface="Trebuchet MS" panose="020B0603020202020204"/>
              </a:rPr>
              <a:t>supply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40" dirty="0">
                <a:latin typeface="Trebuchet MS" panose="020B0603020202020204"/>
                <a:cs typeface="Trebuchet MS" panose="020B0603020202020204"/>
              </a:rPr>
              <a:t>chain.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90" dirty="0">
                <a:latin typeface="Trebuchet MS" panose="020B0603020202020204"/>
                <a:cs typeface="Trebuchet MS" panose="020B0603020202020204"/>
              </a:rPr>
              <a:t>These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middlemen</a:t>
            </a:r>
            <a:r>
              <a:rPr lang="en-US" sz="22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cut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farmers'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80" dirty="0">
                <a:latin typeface="Trebuchet MS" panose="020B0603020202020204"/>
                <a:cs typeface="Trebuchet MS" panose="020B0603020202020204"/>
              </a:rPr>
              <a:t>incomes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while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5" dirty="0">
                <a:latin typeface="Trebuchet MS" panose="020B0603020202020204"/>
                <a:cs typeface="Trebuchet MS" panose="020B0603020202020204"/>
              </a:rPr>
              <a:t>adding</a:t>
            </a:r>
            <a:r>
              <a:rPr lang="en-US" sz="22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85" dirty="0">
                <a:latin typeface="Trebuchet MS" panose="020B0603020202020204"/>
                <a:cs typeface="Trebuchet MS" panose="020B0603020202020204"/>
              </a:rPr>
              <a:t>costs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for</a:t>
            </a:r>
            <a:r>
              <a:rPr lang="en-US" sz="2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35" dirty="0">
                <a:latin typeface="Trebuchet MS" panose="020B0603020202020204"/>
                <a:cs typeface="Trebuchet MS" panose="020B0603020202020204"/>
              </a:rPr>
              <a:t>consumers.</a:t>
            </a:r>
            <a:endParaRPr lang="en-US" sz="2200" spc="35" dirty="0">
              <a:latin typeface="Trebuchet MS" panose="020B0603020202020204"/>
              <a:cs typeface="Trebuchet MS" panose="020B0603020202020204"/>
            </a:endParaRPr>
          </a:p>
          <a:p>
            <a:pPr marL="12700" marR="143510">
              <a:lnSpc>
                <a:spcPct val="131000"/>
              </a:lnSpc>
            </a:pP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Objective: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31000"/>
              </a:lnSpc>
            </a:pPr>
            <a:r>
              <a:rPr lang="en-US" sz="2200" spc="90" dirty="0">
                <a:latin typeface="Trebuchet MS" panose="020B0603020202020204"/>
                <a:cs typeface="Trebuchet MS" panose="020B0603020202020204"/>
              </a:rPr>
              <a:t>Develop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direct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farmer-</a:t>
            </a:r>
            <a:r>
              <a:rPr lang="en-US" sz="2200" spc="90" dirty="0">
                <a:latin typeface="Trebuchet MS" panose="020B0603020202020204"/>
                <a:cs typeface="Trebuchet MS" panose="020B0603020202020204"/>
              </a:rPr>
              <a:t>consumer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platform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limit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middlemen,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145" dirty="0">
                <a:latin typeface="Trebuchet MS" panose="020B0603020202020204"/>
                <a:cs typeface="Trebuchet MS" panose="020B0603020202020204"/>
              </a:rPr>
              <a:t>so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farmers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have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5" dirty="0">
                <a:latin typeface="Trebuchet MS" panose="020B0603020202020204"/>
                <a:cs typeface="Trebuchet MS" panose="020B0603020202020204"/>
              </a:rPr>
              <a:t>more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of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retail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price</a:t>
            </a:r>
            <a:r>
              <a:rPr lang="en-US" sz="2200" spc="-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55" dirty="0">
                <a:latin typeface="Trebuchet MS" panose="020B0603020202020204"/>
                <a:cs typeface="Trebuchet MS" panose="020B0603020202020204"/>
              </a:rPr>
              <a:t>and </a:t>
            </a:r>
            <a:r>
              <a:rPr lang="en-US" sz="2200" spc="95" dirty="0">
                <a:latin typeface="Trebuchet MS" panose="020B0603020202020204"/>
                <a:cs typeface="Trebuchet MS" panose="020B0603020202020204"/>
              </a:rPr>
              <a:t>consumers</a:t>
            </a:r>
            <a:r>
              <a:rPr lang="en-US" sz="22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have</a:t>
            </a:r>
            <a:r>
              <a:rPr lang="en-US" sz="22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fresher</a:t>
            </a:r>
            <a:r>
              <a:rPr lang="en-US" sz="220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60" dirty="0">
                <a:latin typeface="Trebuchet MS" panose="020B0603020202020204"/>
                <a:cs typeface="Trebuchet MS" panose="020B0603020202020204"/>
              </a:rPr>
              <a:t>products</a:t>
            </a:r>
            <a:r>
              <a:rPr lang="en-US" sz="22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45" dirty="0">
                <a:latin typeface="Trebuchet MS" panose="020B0603020202020204"/>
                <a:cs typeface="Trebuchet MS" panose="020B0603020202020204"/>
              </a:rPr>
              <a:t>at</a:t>
            </a:r>
            <a:r>
              <a:rPr lang="en-US" sz="220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competitive</a:t>
            </a:r>
            <a:r>
              <a:rPr lang="en-US" sz="22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prices.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lang="en-US" sz="2200" spc="65" dirty="0">
                <a:latin typeface="Trebuchet MS" panose="020B0603020202020204"/>
                <a:cs typeface="Trebuchet MS" panose="020B0603020202020204"/>
              </a:rPr>
              <a:t>Expected</a:t>
            </a:r>
            <a:r>
              <a:rPr lang="en-US" sz="2200" spc="-9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Outcomes: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 marR="7207885">
              <a:lnSpc>
                <a:spcPct val="131000"/>
              </a:lnSpc>
            </a:pPr>
            <a:r>
              <a:rPr lang="en-US" sz="2200" spc="55" dirty="0">
                <a:latin typeface="Trebuchet MS" panose="020B0603020202020204"/>
                <a:cs typeface="Trebuchet MS" panose="020B0603020202020204"/>
              </a:rPr>
              <a:t>Increased</a:t>
            </a:r>
            <a:r>
              <a:rPr lang="en-US" sz="22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</a:t>
            </a:r>
            <a:r>
              <a:rPr lang="en-US" sz="22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65" dirty="0">
                <a:latin typeface="Trebuchet MS" panose="020B0603020202020204"/>
                <a:cs typeface="Trebuchet MS" panose="020B0603020202020204"/>
              </a:rPr>
              <a:t>income</a:t>
            </a:r>
            <a:r>
              <a:rPr lang="en-US" sz="220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105" dirty="0">
                <a:latin typeface="Trebuchet MS" panose="020B0603020202020204"/>
                <a:cs typeface="Trebuchet MS" panose="020B0603020202020204"/>
              </a:rPr>
              <a:t>by</a:t>
            </a:r>
            <a:r>
              <a:rPr lang="en-US" sz="22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eliminating</a:t>
            </a:r>
            <a:r>
              <a:rPr lang="en-US" sz="220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middlemen. </a:t>
            </a:r>
            <a:r>
              <a:rPr lang="en-US" sz="2200" spc="80" dirty="0">
                <a:latin typeface="Trebuchet MS" panose="020B0603020202020204"/>
                <a:cs typeface="Trebuchet MS" panose="020B0603020202020204"/>
              </a:rPr>
              <a:t>Lower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90" dirty="0">
                <a:latin typeface="Trebuchet MS" panose="020B0603020202020204"/>
                <a:cs typeface="Trebuchet MS" panose="020B0603020202020204"/>
              </a:rPr>
              <a:t>consumer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prices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100" dirty="0">
                <a:latin typeface="Trebuchet MS" panose="020B0603020202020204"/>
                <a:cs typeface="Trebuchet MS" panose="020B0603020202020204"/>
              </a:rPr>
              <a:t>due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direct</a:t>
            </a:r>
            <a:r>
              <a:rPr lang="en-US" sz="22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-10" dirty="0">
                <a:latin typeface="Trebuchet MS" panose="020B0603020202020204"/>
                <a:cs typeface="Trebuchet MS" panose="020B0603020202020204"/>
              </a:rPr>
              <a:t>transactions.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lang="en-US" sz="2200" spc="70" dirty="0">
                <a:latin typeface="Trebuchet MS" panose="020B0603020202020204"/>
                <a:cs typeface="Trebuchet MS" panose="020B0603020202020204"/>
              </a:rPr>
              <a:t>Improved</a:t>
            </a:r>
            <a:r>
              <a:rPr lang="en-US" sz="2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55" dirty="0">
                <a:latin typeface="Trebuchet MS" panose="020B0603020202020204"/>
                <a:cs typeface="Trebuchet MS" panose="020B0603020202020204"/>
              </a:rPr>
              <a:t>connections</a:t>
            </a:r>
            <a:r>
              <a:rPr lang="en-US" sz="2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130" dirty="0">
                <a:latin typeface="Trebuchet MS" panose="020B0603020202020204"/>
                <a:cs typeface="Trebuchet MS" panose="020B0603020202020204"/>
              </a:rPr>
              <a:t>among</a:t>
            </a:r>
            <a:r>
              <a:rPr lang="en-US" sz="2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dirty="0">
                <a:latin typeface="Trebuchet MS" panose="020B0603020202020204"/>
                <a:cs typeface="Trebuchet MS" panose="020B0603020202020204"/>
              </a:rPr>
              <a:t>farmers</a:t>
            </a:r>
            <a:r>
              <a:rPr lang="en-US" sz="2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80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lang="en-US" sz="2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2200" spc="35" dirty="0">
                <a:latin typeface="Trebuchet MS" panose="020B0603020202020204"/>
                <a:cs typeface="Trebuchet MS" panose="020B0603020202020204"/>
              </a:rPr>
              <a:t>consumers.</a:t>
            </a:r>
            <a:endParaRPr lang="en-US" sz="220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627" y="681714"/>
            <a:ext cx="12789490" cy="88086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M</a:t>
            </a:r>
            <a:r>
              <a:rPr lang="en-IN" sz="2800" b="1" dirty="0">
                <a:solidFill>
                  <a:schemeClr val="tx1"/>
                </a:solidFill>
              </a:rPr>
              <a:t>ETHODOLOGY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91" y="1882177"/>
            <a:ext cx="13637806" cy="5406897"/>
          </a:xfrm>
        </p:spPr>
        <p:txBody>
          <a:bodyPr>
            <a:noAutofit/>
          </a:bodyPr>
          <a:lstStyle/>
          <a:p>
            <a:pPr marL="266065" indent="-2533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065" algn="l"/>
              </a:tabLst>
            </a:pP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Research: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 marR="415290">
              <a:lnSpc>
                <a:spcPct val="133000"/>
              </a:lnSpc>
            </a:pPr>
            <a:r>
              <a:rPr lang="en-US" spc="-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Surveys/Interviews: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7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Conduct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2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surveys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or</a:t>
            </a:r>
            <a:r>
              <a:rPr lang="en-US" spc="3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interviews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among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farmers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lang="en-US" spc="3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consumers</a:t>
            </a:r>
            <a:r>
              <a:rPr lang="en-US" spc="3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about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ongoing</a:t>
            </a:r>
            <a:r>
              <a:rPr lang="en-US" spc="8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market</a:t>
            </a:r>
            <a:r>
              <a:rPr lang="en-US" spc="9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problems.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Market</a:t>
            </a:r>
            <a:r>
              <a:rPr lang="en-US" spc="12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Analysis: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Determine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5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high-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demand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crops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lang="en-US" spc="12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regions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plagued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by</a:t>
            </a:r>
            <a:r>
              <a:rPr lang="en-US" spc="1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middlemen.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291465" indent="-278765">
              <a:lnSpc>
                <a:spcPct val="100000"/>
              </a:lnSpc>
              <a:buAutoNum type="arabicPeriod" startAt="2"/>
              <a:tabLst>
                <a:tab pos="291465" algn="l"/>
              </a:tabLst>
            </a:pP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Platform</a:t>
            </a:r>
            <a:r>
              <a:rPr lang="en-US" spc="34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Design: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Design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digital</a:t>
            </a:r>
            <a:r>
              <a:rPr lang="en-US" spc="8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platform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5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(app/site)</a:t>
            </a:r>
            <a:r>
              <a:rPr lang="en-US" spc="8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farmers</a:t>
            </a:r>
            <a:r>
              <a:rPr lang="en-US" spc="8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sell</a:t>
            </a:r>
            <a:r>
              <a:rPr lang="en-US" spc="8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directly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lang="en-US" spc="8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consumers.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Major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Features: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Product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catalog,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payment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system,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order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management,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logistics</a:t>
            </a:r>
            <a:r>
              <a:rPr lang="en-US" spc="14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integration</a:t>
            </a:r>
            <a:r>
              <a:rPr lang="en-US" sz="2000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.</a:t>
            </a:r>
            <a:endParaRPr lang="en-US" sz="2000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algn="just">
              <a:lnSpc>
                <a:spcPct val="100000"/>
              </a:lnSpc>
            </a:pP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54" y="346048"/>
            <a:ext cx="12855659" cy="1285044"/>
          </a:xfrm>
        </p:spPr>
        <p:txBody>
          <a:bodyPr/>
          <a:lstStyle/>
          <a:p>
            <a:r>
              <a:rPr lang="en-IN" sz="2800" b="1" dirty="0"/>
              <a:t>METHODOLOGY</a:t>
            </a:r>
            <a:endParaRPr lang="en-IN" sz="28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6926399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4879" y="2228554"/>
            <a:ext cx="11592467" cy="4857835"/>
          </a:xfrm>
        </p:spPr>
        <p:txBody>
          <a:bodyPr>
            <a:normAutofit lnSpcReduction="10000"/>
          </a:bodyPr>
          <a:lstStyle/>
          <a:p>
            <a:pPr marL="342900" indent="-330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42900" algn="l"/>
              </a:tabLst>
            </a:pP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Development: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110"/>
              </a:spcBef>
              <a:buClr>
                <a:srgbClr val="804E3B"/>
              </a:buClr>
              <a:buFont typeface="Cambria" panose="02040503050406030204"/>
              <a:buAutoNum type="arabicPeriod" startAt="3"/>
            </a:pP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 marR="443230">
              <a:lnSpc>
                <a:spcPct val="132000"/>
              </a:lnSpc>
            </a:pPr>
            <a:r>
              <a:rPr lang="en-US" spc="7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Technical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7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Build: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7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Build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platform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suitable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technologies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(React, </a:t>
            </a:r>
            <a:r>
              <a:rPr lang="en-US" spc="6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Node.js).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2000"/>
              </a:lnSpc>
            </a:pPr>
            <a:r>
              <a:rPr lang="en-US" spc="5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Pilot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Testing: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5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Pilot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test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at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small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scale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carefully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chosen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farmers</a:t>
            </a:r>
            <a:r>
              <a:rPr lang="en-US" spc="10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2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consumers.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145"/>
              </a:spcBef>
            </a:pP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353695" indent="-340995">
              <a:lnSpc>
                <a:spcPct val="100000"/>
              </a:lnSpc>
              <a:buAutoNum type="arabicPeriod" startAt="4"/>
              <a:tabLst>
                <a:tab pos="353695" algn="l"/>
              </a:tabLst>
            </a:pP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Implementation:</a:t>
            </a: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145"/>
              </a:spcBef>
            </a:pPr>
            <a:endParaRPr lang="en-US" dirty="0">
              <a:solidFill>
                <a:schemeClr val="tx1"/>
              </a:solidFill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lang="en-US" spc="8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Full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9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Launch: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9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Launch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platform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lang="en-US" spc="1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additional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farmers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5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lang="en-US" spc="105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mbria" panose="02040503050406030204"/>
                <a:cs typeface="Cambria" panose="02040503050406030204"/>
              </a:rPr>
              <a:t>products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56" y="346555"/>
            <a:ext cx="12839418" cy="1284537"/>
          </a:xfrm>
        </p:spPr>
        <p:txBody>
          <a:bodyPr/>
          <a:lstStyle/>
          <a:p>
            <a:r>
              <a:rPr lang="en-US" sz="2800" b="1" dirty="0"/>
              <a:t>TOOLS AND TECHNOLOGIES</a:t>
            </a:r>
            <a:endParaRPr lang="en-IN" sz="28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2"/>
          </p:nvPr>
        </p:nvSpPr>
        <p:spPr>
          <a:xfrm>
            <a:off x="630238" y="2228850"/>
            <a:ext cx="12839700" cy="4857750"/>
          </a:xfrm>
        </p:spPr>
        <p:txBody>
          <a:bodyPr>
            <a:normAutofit fontScale="77500" lnSpcReduction="20000"/>
          </a:bodyPr>
          <a:lstStyle/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REACT.JS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HTML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CSS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JAVASCRIPT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ANGULAR JS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DIJIKSTRAS ALGORITHM</a:t>
            </a: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lang="en-US" dirty="0">
              <a:latin typeface="Trebuchet MS" panose="020B0603020202020204"/>
              <a:cs typeface="Trebuchet MS" panose="020B0603020202020204"/>
            </a:endParaRPr>
          </a:p>
          <a:p>
            <a:pPr marL="469900" marR="5080" indent="-457200">
              <a:lnSpc>
                <a:spcPct val="132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Trebuchet MS" panose="020B0603020202020204"/>
                <a:cs typeface="Trebuchet MS" panose="020B0603020202020204"/>
              </a:rPr>
              <a:t>DYNAMIC PRICING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124" y="318182"/>
            <a:ext cx="12144733" cy="1298279"/>
          </a:xfrm>
        </p:spPr>
        <p:txBody>
          <a:bodyPr/>
          <a:lstStyle/>
          <a:p>
            <a:r>
              <a:rPr lang="en-US" sz="2800" b="1" dirty="0"/>
              <a:t>PROJECT PLAN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124" y="1952369"/>
            <a:ext cx="12876491" cy="5511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Week 1: Requirements Gathering &amp; Planning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 2: UI/UX Design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Week 3: Frontend Development(Phase 1)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Week 4: Backend Development(Phase 1)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Week 5: Frontend Development(Phase 2)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Week 6: Backend Development(Phase 2)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Week 7: Testing &amp; QA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10" y="346048"/>
            <a:ext cx="12901203" cy="1272687"/>
          </a:xfrm>
        </p:spPr>
        <p:txBody>
          <a:bodyPr/>
          <a:lstStyle/>
          <a:p>
            <a:r>
              <a:rPr lang="en-US" sz="2800" b="1" dirty="0"/>
              <a:t>EXPECTED RESULTS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410" y="1618736"/>
            <a:ext cx="13604789" cy="5993026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Direct Farmer-to-Consumer Transactions:</a:t>
            </a:r>
            <a:endParaRPr lang="en-US" dirty="0"/>
          </a:p>
          <a:p>
            <a:pPr marL="173355" lvl="1" indent="0">
              <a:buNone/>
            </a:pPr>
            <a:r>
              <a:rPr lang="en-US" dirty="0"/>
              <a:t>At least 5–10 farmers onboarded on the </a:t>
            </a:r>
            <a:r>
              <a:rPr lang="en-US" dirty="0" err="1"/>
              <a:t>platform.Direct</a:t>
            </a:r>
            <a:r>
              <a:rPr lang="en-US" dirty="0"/>
              <a:t> sales initiated with local consumers, avoiding middlemen.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Increased Farmer Revenue:</a:t>
            </a:r>
            <a:endParaRPr lang="en-US" dirty="0"/>
          </a:p>
          <a:p>
            <a:pPr marL="173355" lvl="1" indent="0">
              <a:buNone/>
            </a:pPr>
            <a:r>
              <a:rPr lang="en-US" dirty="0"/>
              <a:t>10–30% higher income per sale for farmers compared to previous market rates .Farmers retain a larger portion of the consumer’s payment by avoiding middleman cuts.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Consumer Benefits:</a:t>
            </a:r>
            <a:endParaRPr lang="en-US" dirty="0"/>
          </a:p>
          <a:p>
            <a:pPr marL="173355" lvl="1" indent="0">
              <a:buNone/>
            </a:pPr>
            <a:r>
              <a:rPr lang="en-US" dirty="0"/>
              <a:t>Lower or similar pricing for consumers compared to retail </a:t>
            </a:r>
            <a:r>
              <a:rPr lang="en-US" dirty="0" err="1"/>
              <a:t>markets.Fresher</a:t>
            </a:r>
            <a:r>
              <a:rPr lang="en-US" dirty="0"/>
              <a:t> produce and direct traceability to source. Increased trust in food source and quality.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04" y="-111152"/>
            <a:ext cx="12144733" cy="1751654"/>
          </a:xfrm>
        </p:spPr>
        <p:txBody>
          <a:bodyPr/>
          <a:lstStyle/>
          <a:p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148281" y="1902941"/>
            <a:ext cx="14284411" cy="5325762"/>
          </a:xfrm>
        </p:spPr>
        <p:txBody>
          <a:bodyPr>
            <a:normAutofit/>
          </a:bodyPr>
          <a:lstStyle/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Middlemen significantly reduce farmer profits by capturing a large portion of the consumer price, creating an income gap in traditional agricultural marketing.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Direct-to-consumer (D2C) web-based solutions offer a practical way to bridge this gap, enabling farmers to sell directly, increase their earnings, and build better customer relationships.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By using simple digital tools—such as websites, mobile apps, and online payment systems—small and local farmers can access wider markets without relying on intermediaries.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 project demonstrates that a well-designed platform can improve farmer income by 10–30%, while providing consumers with fresher, more affordable produce.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11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/>
              <a:t>REFERENCES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Acharya, S. S., &amp; Agarwal, N. L. (2004). Agricultural Marketing in India. Oxford and IBH Publishing Co.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FAO. (2015). The State of Agricultural Commodity Markets. Food and Agriculture Organization of the United Nations  .https://www.fao.org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Mittal, S. (2020). Impact of ICT on Agricultural Marketing: A Case Study of Direct Marketing Models. Indian Journal of Agricultural Economics, 75(3), 365–376.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Reddy, B. S., &amp; Reddy, M. V. (2017). Intermediaries in the Marketing of Agricultural Produce in India. Economic and Political Weekly, 52(41), 51–59.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Porter, M. E., &amp; Kramer, M. R. (2011). Creating Shared Value. Harvard Business Review, 89(1/2), 62–77.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11/07/2025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  <a:endParaRPr lang="en-US" altLang="en-US" sz="8000" b="1" dirty="0">
              <a:solidFill>
                <a:schemeClr val="tx1"/>
              </a:solidFill>
            </a:endParaRP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/>
                </a:solidFill>
              </a:rPr>
              <a:t>THANK YOU</a:t>
            </a:r>
            <a:endParaRPr lang="en-IN" sz="8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7254</Words>
  <Application>WPS Presentation</Application>
  <PresentationFormat/>
  <Paragraphs>281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Calibri</vt:lpstr>
      <vt:lpstr>Merriweather</vt:lpstr>
      <vt:lpstr>Segoe Print</vt:lpstr>
      <vt:lpstr>Latha</vt:lpstr>
      <vt:lpstr>Times New Roman</vt:lpstr>
      <vt:lpstr>Courier New</vt:lpstr>
      <vt:lpstr>Trebuchet MS</vt:lpstr>
      <vt:lpstr>Cambria</vt:lpstr>
      <vt:lpstr>Microsoft YaHei</vt:lpstr>
      <vt:lpstr>Arial Unicode MS</vt:lpstr>
      <vt:lpstr>Retrospect</vt:lpstr>
      <vt:lpstr>PowerPoint 演示文稿</vt:lpstr>
      <vt:lpstr>CONTENT OUTLINE</vt:lpstr>
      <vt:lpstr>PROBLEM STATEMENT</vt:lpstr>
      <vt:lpstr>OBJECTIVE</vt:lpstr>
      <vt:lpstr>LITERATURE REVIEW</vt:lpstr>
      <vt:lpstr>PROPOSED WORK</vt:lpstr>
      <vt:lpstr>METHODOLOGY</vt:lpstr>
      <vt:lpstr>METHODOLOGY</vt:lpstr>
      <vt:lpstr>TOOLS AND TECHNOLOGIES</vt:lpstr>
      <vt:lpstr>PROJECT PLAN</vt:lpstr>
      <vt:lpstr>EXPECTED RESULTS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Sooraj R Nair</cp:lastModifiedBy>
  <cp:revision>1</cp:revision>
  <dcterms:created xsi:type="dcterms:W3CDTF">2026-02-12T05:07:13Z</dcterms:created>
  <dcterms:modified xsi:type="dcterms:W3CDTF">2026-02-12T05:07:13Z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0D1D9AF52DDE4F2387B758A9B737B965_13</vt:lpwstr>
  </property>
  <property fmtid="{D5CDD505-2E9C-101B-9397-08002B2CF9AE}" pid="3" name="KSOProductBuildVer">
    <vt:lpwstr>1033-12.2.0.23196</vt:lpwstr>
  </property>
</Properties>
</file>